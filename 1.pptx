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</p:sldIdLst>
  <p:sldSz cx="18288000" cy="10287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Calibri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4" d="100"/>
          <a:sy n="54" d="100"/>
        </p:scale>
        <p:origin x="75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<Relationships xmlns="http://schemas.openxmlformats.org/package/2006/relationships"><Relationship Id="rId26" Type="http://schemas.openxmlformats.org/officeDocument/2006/relationships/slide" Target="slides/slide25.xml" /><Relationship Id="rId21" Type="http://schemas.openxmlformats.org/officeDocument/2006/relationships/slide" Target="slides/slide20.xml" /><Relationship Id="rId42" Type="http://schemas.openxmlformats.org/officeDocument/2006/relationships/slide" Target="slides/slide41.xml" /><Relationship Id="rId47" Type="http://schemas.openxmlformats.org/officeDocument/2006/relationships/slide" Target="slides/slide46.xml" /><Relationship Id="rId63" Type="http://schemas.openxmlformats.org/officeDocument/2006/relationships/slide" Target="slides/slide62.xml" /><Relationship Id="rId68" Type="http://schemas.openxmlformats.org/officeDocument/2006/relationships/slide" Target="slides/slide67.xml" /><Relationship Id="rId84" Type="http://schemas.openxmlformats.org/officeDocument/2006/relationships/slide" Target="slides/slide83.xml" /><Relationship Id="rId89" Type="http://schemas.openxmlformats.org/officeDocument/2006/relationships/slide" Target="slides/slide88.xml" /><Relationship Id="rId16" Type="http://schemas.openxmlformats.org/officeDocument/2006/relationships/slide" Target="slides/slide15.xml" /><Relationship Id="rId11" Type="http://schemas.openxmlformats.org/officeDocument/2006/relationships/slide" Target="slides/slide10.xml" /><Relationship Id="rId32" Type="http://schemas.openxmlformats.org/officeDocument/2006/relationships/slide" Target="slides/slide31.xml" /><Relationship Id="rId37" Type="http://schemas.openxmlformats.org/officeDocument/2006/relationships/slide" Target="slides/slide36.xml" /><Relationship Id="rId53" Type="http://schemas.openxmlformats.org/officeDocument/2006/relationships/slide" Target="slides/slide52.xml" /><Relationship Id="rId58" Type="http://schemas.openxmlformats.org/officeDocument/2006/relationships/slide" Target="slides/slide57.xml" /><Relationship Id="rId79" Type="http://schemas.openxmlformats.org/officeDocument/2006/relationships/slide" Target="slides/slide78.xml" /><Relationship Id="rId102" Type="http://schemas.openxmlformats.org/officeDocument/2006/relationships/notesMaster" Target="notesMasters/notesMaster1.xml" /><Relationship Id="rId5" Type="http://schemas.openxmlformats.org/officeDocument/2006/relationships/slide" Target="slides/slide4.xml" /><Relationship Id="rId90" Type="http://schemas.openxmlformats.org/officeDocument/2006/relationships/slide" Target="slides/slide89.xml" /><Relationship Id="rId95" Type="http://schemas.openxmlformats.org/officeDocument/2006/relationships/slide" Target="slides/slide94.xml" /><Relationship Id="rId22" Type="http://schemas.openxmlformats.org/officeDocument/2006/relationships/slide" Target="slides/slide21.xml" /><Relationship Id="rId27" Type="http://schemas.openxmlformats.org/officeDocument/2006/relationships/slide" Target="slides/slide26.xml" /><Relationship Id="rId43" Type="http://schemas.openxmlformats.org/officeDocument/2006/relationships/slide" Target="slides/slide42.xml" /><Relationship Id="rId48" Type="http://schemas.openxmlformats.org/officeDocument/2006/relationships/slide" Target="slides/slide47.xml" /><Relationship Id="rId64" Type="http://schemas.openxmlformats.org/officeDocument/2006/relationships/slide" Target="slides/slide63.xml" /><Relationship Id="rId69" Type="http://schemas.openxmlformats.org/officeDocument/2006/relationships/slide" Target="slides/slide68.xml" /><Relationship Id="rId80" Type="http://schemas.openxmlformats.org/officeDocument/2006/relationships/slide" Target="slides/slide79.xml" /><Relationship Id="rId85" Type="http://schemas.openxmlformats.org/officeDocument/2006/relationships/slide" Target="slides/slide84.xml" /><Relationship Id="rId12" Type="http://schemas.openxmlformats.org/officeDocument/2006/relationships/slide" Target="slides/slide11.xml" /><Relationship Id="rId17" Type="http://schemas.openxmlformats.org/officeDocument/2006/relationships/slide" Target="slides/slide16.xml" /><Relationship Id="rId33" Type="http://schemas.openxmlformats.org/officeDocument/2006/relationships/slide" Target="slides/slide32.xml" /><Relationship Id="rId38" Type="http://schemas.openxmlformats.org/officeDocument/2006/relationships/slide" Target="slides/slide37.xml" /><Relationship Id="rId59" Type="http://schemas.openxmlformats.org/officeDocument/2006/relationships/slide" Target="slides/slide58.xml" /><Relationship Id="rId103" Type="http://schemas.openxmlformats.org/officeDocument/2006/relationships/presProps" Target="presProps.xml" /><Relationship Id="rId20" Type="http://schemas.openxmlformats.org/officeDocument/2006/relationships/slide" Target="slides/slide19.xml" /><Relationship Id="rId41" Type="http://schemas.openxmlformats.org/officeDocument/2006/relationships/slide" Target="slides/slide40.xml" /><Relationship Id="rId54" Type="http://schemas.openxmlformats.org/officeDocument/2006/relationships/slide" Target="slides/slide53.xml" /><Relationship Id="rId62" Type="http://schemas.openxmlformats.org/officeDocument/2006/relationships/slide" Target="slides/slide61.xml" /><Relationship Id="rId70" Type="http://schemas.openxmlformats.org/officeDocument/2006/relationships/slide" Target="slides/slide69.xml" /><Relationship Id="rId75" Type="http://schemas.openxmlformats.org/officeDocument/2006/relationships/slide" Target="slides/slide74.xml" /><Relationship Id="rId83" Type="http://schemas.openxmlformats.org/officeDocument/2006/relationships/slide" Target="slides/slide82.xml" /><Relationship Id="rId88" Type="http://schemas.openxmlformats.org/officeDocument/2006/relationships/slide" Target="slides/slide87.xml" /><Relationship Id="rId91" Type="http://schemas.openxmlformats.org/officeDocument/2006/relationships/slide" Target="slides/slide90.xml" /><Relationship Id="rId96" Type="http://schemas.openxmlformats.org/officeDocument/2006/relationships/slide" Target="slides/slide95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5" Type="http://schemas.openxmlformats.org/officeDocument/2006/relationships/slide" Target="slides/slide14.xml" /><Relationship Id="rId23" Type="http://schemas.openxmlformats.org/officeDocument/2006/relationships/slide" Target="slides/slide22.xml" /><Relationship Id="rId28" Type="http://schemas.openxmlformats.org/officeDocument/2006/relationships/slide" Target="slides/slide27.xml" /><Relationship Id="rId36" Type="http://schemas.openxmlformats.org/officeDocument/2006/relationships/slide" Target="slides/slide35.xml" /><Relationship Id="rId49" Type="http://schemas.openxmlformats.org/officeDocument/2006/relationships/slide" Target="slides/slide48.xml" /><Relationship Id="rId57" Type="http://schemas.openxmlformats.org/officeDocument/2006/relationships/slide" Target="slides/slide56.xml" /><Relationship Id="rId106" Type="http://schemas.openxmlformats.org/officeDocument/2006/relationships/tableStyles" Target="tableStyles.xml" /><Relationship Id="rId10" Type="http://schemas.openxmlformats.org/officeDocument/2006/relationships/slide" Target="slides/slide9.xml" /><Relationship Id="rId31" Type="http://schemas.openxmlformats.org/officeDocument/2006/relationships/slide" Target="slides/slide30.xml" /><Relationship Id="rId44" Type="http://schemas.openxmlformats.org/officeDocument/2006/relationships/slide" Target="slides/slide43.xml" /><Relationship Id="rId52" Type="http://schemas.openxmlformats.org/officeDocument/2006/relationships/slide" Target="slides/slide51.xml" /><Relationship Id="rId60" Type="http://schemas.openxmlformats.org/officeDocument/2006/relationships/slide" Target="slides/slide59.xml" /><Relationship Id="rId65" Type="http://schemas.openxmlformats.org/officeDocument/2006/relationships/slide" Target="slides/slide64.xml" /><Relationship Id="rId73" Type="http://schemas.openxmlformats.org/officeDocument/2006/relationships/slide" Target="slides/slide72.xml" /><Relationship Id="rId78" Type="http://schemas.openxmlformats.org/officeDocument/2006/relationships/slide" Target="slides/slide77.xml" /><Relationship Id="rId81" Type="http://schemas.openxmlformats.org/officeDocument/2006/relationships/slide" Target="slides/slide80.xml" /><Relationship Id="rId86" Type="http://schemas.openxmlformats.org/officeDocument/2006/relationships/slide" Target="slides/slide85.xml" /><Relationship Id="rId94" Type="http://schemas.openxmlformats.org/officeDocument/2006/relationships/slide" Target="slides/slide93.xml" /><Relationship Id="rId99" Type="http://schemas.openxmlformats.org/officeDocument/2006/relationships/slide" Target="slides/slide98.xml" /><Relationship Id="rId101" Type="http://schemas.openxmlformats.org/officeDocument/2006/relationships/slide" Target="slides/slide100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3" Type="http://schemas.openxmlformats.org/officeDocument/2006/relationships/slide" Target="slides/slide12.xml" /><Relationship Id="rId18" Type="http://schemas.openxmlformats.org/officeDocument/2006/relationships/slide" Target="slides/slide17.xml" /><Relationship Id="rId39" Type="http://schemas.openxmlformats.org/officeDocument/2006/relationships/slide" Target="slides/slide38.xml" /><Relationship Id="rId34" Type="http://schemas.openxmlformats.org/officeDocument/2006/relationships/slide" Target="slides/slide33.xml" /><Relationship Id="rId50" Type="http://schemas.openxmlformats.org/officeDocument/2006/relationships/slide" Target="slides/slide49.xml" /><Relationship Id="rId55" Type="http://schemas.openxmlformats.org/officeDocument/2006/relationships/slide" Target="slides/slide54.xml" /><Relationship Id="rId76" Type="http://schemas.openxmlformats.org/officeDocument/2006/relationships/slide" Target="slides/slide75.xml" /><Relationship Id="rId97" Type="http://schemas.openxmlformats.org/officeDocument/2006/relationships/slide" Target="slides/slide96.xml" /><Relationship Id="rId104" Type="http://schemas.openxmlformats.org/officeDocument/2006/relationships/viewProps" Target="viewProps.xml" /><Relationship Id="rId7" Type="http://schemas.openxmlformats.org/officeDocument/2006/relationships/slide" Target="slides/slide6.xml" /><Relationship Id="rId71" Type="http://schemas.openxmlformats.org/officeDocument/2006/relationships/slide" Target="slides/slide70.xml" /><Relationship Id="rId92" Type="http://schemas.openxmlformats.org/officeDocument/2006/relationships/slide" Target="slides/slide91.xml" /><Relationship Id="rId2" Type="http://schemas.openxmlformats.org/officeDocument/2006/relationships/slide" Target="slides/slide1.xml" /><Relationship Id="rId29" Type="http://schemas.openxmlformats.org/officeDocument/2006/relationships/slide" Target="slides/slide28.xml" /><Relationship Id="rId24" Type="http://schemas.openxmlformats.org/officeDocument/2006/relationships/slide" Target="slides/slide23.xml" /><Relationship Id="rId40" Type="http://schemas.openxmlformats.org/officeDocument/2006/relationships/slide" Target="slides/slide39.xml" /><Relationship Id="rId45" Type="http://schemas.openxmlformats.org/officeDocument/2006/relationships/slide" Target="slides/slide44.xml" /><Relationship Id="rId66" Type="http://schemas.openxmlformats.org/officeDocument/2006/relationships/slide" Target="slides/slide65.xml" /><Relationship Id="rId87" Type="http://schemas.openxmlformats.org/officeDocument/2006/relationships/slide" Target="slides/slide86.xml" /><Relationship Id="rId61" Type="http://schemas.openxmlformats.org/officeDocument/2006/relationships/slide" Target="slides/slide60.xml" /><Relationship Id="rId82" Type="http://schemas.openxmlformats.org/officeDocument/2006/relationships/slide" Target="slides/slide81.xml" /><Relationship Id="rId19" Type="http://schemas.openxmlformats.org/officeDocument/2006/relationships/slide" Target="slides/slide18.xml" /><Relationship Id="rId14" Type="http://schemas.openxmlformats.org/officeDocument/2006/relationships/slide" Target="slides/slide13.xml" /><Relationship Id="rId30" Type="http://schemas.openxmlformats.org/officeDocument/2006/relationships/slide" Target="slides/slide29.xml" /><Relationship Id="rId35" Type="http://schemas.openxmlformats.org/officeDocument/2006/relationships/slide" Target="slides/slide34.xml" /><Relationship Id="rId56" Type="http://schemas.openxmlformats.org/officeDocument/2006/relationships/slide" Target="slides/slide55.xml" /><Relationship Id="rId77" Type="http://schemas.openxmlformats.org/officeDocument/2006/relationships/slide" Target="slides/slide76.xml" /><Relationship Id="rId100" Type="http://schemas.openxmlformats.org/officeDocument/2006/relationships/slide" Target="slides/slide99.xml" /><Relationship Id="rId105" Type="http://schemas.openxmlformats.org/officeDocument/2006/relationships/theme" Target="theme/theme1.xml" /><Relationship Id="rId8" Type="http://schemas.openxmlformats.org/officeDocument/2006/relationships/slide" Target="slides/slide7.xml" /><Relationship Id="rId51" Type="http://schemas.openxmlformats.org/officeDocument/2006/relationships/slide" Target="slides/slide50.xml" /><Relationship Id="rId72" Type="http://schemas.openxmlformats.org/officeDocument/2006/relationships/slide" Target="slides/slide71.xml" /><Relationship Id="rId93" Type="http://schemas.openxmlformats.org/officeDocument/2006/relationships/slide" Target="slides/slide92.xml" /><Relationship Id="rId98" Type="http://schemas.openxmlformats.org/officeDocument/2006/relationships/slide" Target="slides/slide97.xml" /><Relationship Id="rId3" Type="http://schemas.openxmlformats.org/officeDocument/2006/relationships/slide" Target="slides/slide2.xml" /><Relationship Id="rId25" Type="http://schemas.openxmlformats.org/officeDocument/2006/relationships/slide" Target="slides/slide24.xml" /><Relationship Id="rId46" Type="http://schemas.openxmlformats.org/officeDocument/2006/relationships/slide" Target="slides/slide45.xml" /><Relationship Id="rId67" Type="http://schemas.openxmlformats.org/officeDocument/2006/relationships/slide" Target="slides/slide66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8" name="Shape 18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Номер слайда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заголовка"/>
          <p:cNvSpPr txBox="1">
            <a:spLocks noGrp="1"/>
          </p:cNvSpPr>
          <p:nvPr>
            <p:ph type="title"/>
          </p:nvPr>
        </p:nvSpPr>
        <p:spPr>
          <a:xfrm>
            <a:off x="914400" y="138112"/>
            <a:ext cx="16459200" cy="22621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/>
          <a:lstStyle/>
          <a:p>
            <a:r>
              <a:t>Текст заголовка</a:t>
            </a:r>
          </a:p>
        </p:txBody>
      </p:sp>
      <p:sp>
        <p:nvSpPr>
          <p:cNvPr id="3" name="Уровень текста 1…"/>
          <p:cNvSpPr txBox="1">
            <a:spLocks noGrp="1"/>
          </p:cNvSpPr>
          <p:nvPr>
            <p:ph type="body" idx="1"/>
          </p:nvPr>
        </p:nvSpPr>
        <p:spPr>
          <a:xfrm>
            <a:off x="914400" y="2400300"/>
            <a:ext cx="16459200" cy="7886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/>
          <a:lstStyle/>
          <a:p>
            <a:r>
              <a:t>Уровень текста 1</a:t>
            </a:r>
          </a:p>
          <a:p>
            <a:pPr lvl="1"/>
            <a:r>
              <a:t>Уровень текста 2</a:t>
            </a:r>
          </a:p>
          <a:p>
            <a:pPr lvl="2"/>
            <a:r>
              <a:t>Уровень текста 3</a:t>
            </a:r>
          </a:p>
          <a:p>
            <a:pPr lvl="3"/>
            <a:r>
              <a:t>Уровень текста 4</a:t>
            </a:r>
          </a:p>
          <a:p>
            <a:pPr lvl="4"/>
            <a:r>
              <a:t>Уровень текста 5</a:t>
            </a:r>
          </a:p>
        </p:txBody>
      </p:sp>
      <p:sp>
        <p:nvSpPr>
          <p:cNvPr id="4" name="Номер слайда"/>
          <p:cNvSpPr txBox="1">
            <a:spLocks noGrp="1"/>
          </p:cNvSpPr>
          <p:nvPr>
            <p:ph type="sldNum" sz="quarter" idx="2"/>
          </p:nvPr>
        </p:nvSpPr>
        <p:spPr>
          <a:xfrm>
            <a:off x="8839200" y="9260681"/>
            <a:ext cx="4267200" cy="547688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0"/>
          <p:cNvSpPr txBox="1"/>
          <p:nvPr/>
        </p:nvSpPr>
        <p:spPr>
          <a:xfrm>
            <a:off x="1143000" y="1149190"/>
            <a:ext cx="2234247" cy="320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68680">
              <a:defRPr sz="1710" b="1" spc="475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R E S O N A</a:t>
            </a:r>
          </a:p>
        </p:txBody>
      </p:sp>
      <p:sp>
        <p:nvSpPr>
          <p:cNvPr id="21" name="Text 1"/>
          <p:cNvSpPr txBox="1"/>
          <p:nvPr/>
        </p:nvSpPr>
        <p:spPr>
          <a:xfrm>
            <a:off x="13172281" y="1143000"/>
            <a:ext cx="4091900" cy="346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defRPr sz="1881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SUB-01 · USER MANUAL · RU</a:t>
            </a:r>
          </a:p>
        </p:txBody>
      </p:sp>
      <p:sp>
        <p:nvSpPr>
          <p:cNvPr id="22" name="Text 2"/>
          <p:cNvSpPr txBox="1"/>
          <p:nvPr/>
        </p:nvSpPr>
        <p:spPr>
          <a:xfrm>
            <a:off x="1143000" y="2841625"/>
            <a:ext cx="16482061" cy="346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defRPr sz="1881" spc="197">
                <a:solidFill>
                  <a:srgbClr val="F4F2EE">
                    <a:alpha val="60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ИНСТРУКЦИЯ ПО ЭКСПЛУАТАЦИИ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1143000" y="3517899"/>
            <a:ext cx="16482061" cy="25025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86384">
              <a:lnSpc>
                <a:spcPct val="98005"/>
              </a:lnSpc>
              <a:defRPr sz="8514" spc="-344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dirty="0" err="1"/>
              <a:t>Познакомьтесь</a:t>
            </a:r>
            <a:r>
              <a:rPr dirty="0"/>
              <a:t> с RESONA SUB-01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1143000" y="6439534"/>
            <a:ext cx="11772900" cy="1043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20000"/>
              </a:lnSpc>
              <a:defRPr sz="2970" spc="-90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Полное руководство по распаковке, установке, настройке и обслуживанию четырёх моделей: Home, Car, PA, Studio.</a:t>
            </a:r>
          </a:p>
        </p:txBody>
      </p:sp>
      <p:sp>
        <p:nvSpPr>
          <p:cNvPr id="25" name="Text 5"/>
          <p:cNvSpPr txBox="1"/>
          <p:nvPr/>
        </p:nvSpPr>
        <p:spPr>
          <a:xfrm>
            <a:off x="1142999" y="8848725"/>
            <a:ext cx="2957616" cy="346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defRPr sz="1881" spc="98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ВЕРСИЯ 3.2 · 2026</a:t>
            </a:r>
          </a:p>
        </p:txBody>
      </p:sp>
      <p:sp>
        <p:nvSpPr>
          <p:cNvPr id="26" name="Text 6"/>
          <p:cNvSpPr txBox="1"/>
          <p:nvPr/>
        </p:nvSpPr>
        <p:spPr>
          <a:xfrm>
            <a:off x="15286989" y="8848725"/>
            <a:ext cx="1934211" cy="346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defRPr sz="1881" spc="98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100 СТРАНИЦ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 0"/>
          <p:cNvSpPr txBox="1"/>
          <p:nvPr/>
        </p:nvSpPr>
        <p:spPr>
          <a:xfrm>
            <a:off x="571499" y="380999"/>
            <a:ext cx="23599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002 ВВЕДЕНИЕ</a:t>
            </a:r>
          </a:p>
        </p:txBody>
      </p:sp>
      <p:sp>
        <p:nvSpPr>
          <p:cNvPr id="29" name="Text 1"/>
          <p:cNvSpPr txBox="1"/>
          <p:nvPr/>
        </p:nvSpPr>
        <p:spPr>
          <a:xfrm>
            <a:off x="15689898" y="380999"/>
            <a:ext cx="2102803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RESONA SUB-01</a:t>
            </a:r>
          </a:p>
        </p:txBody>
      </p:sp>
      <p:sp>
        <p:nvSpPr>
          <p:cNvPr id="30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ПРЕЖДЕ ЧЕМ НАЧАТЬ</a:t>
            </a:r>
          </a:p>
        </p:txBody>
      </p:sp>
      <p:sp>
        <p:nvSpPr>
          <p:cNvPr id="31" name="Text 3"/>
          <p:cNvSpPr txBox="1"/>
          <p:nvPr/>
        </p:nvSpPr>
        <p:spPr>
          <a:xfrm>
            <a:off x="1143000" y="1490663"/>
            <a:ext cx="14716125" cy="1748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68680">
              <a:lnSpc>
                <a:spcPct val="102008"/>
              </a:lnSpc>
              <a:defRPr sz="6270" spc="-19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Прочитайте инструкцию до подключения</a:t>
            </a:r>
          </a:p>
        </p:txBody>
      </p:sp>
      <p:sp>
        <p:nvSpPr>
          <p:cNvPr id="32" name="Text 4"/>
          <p:cNvSpPr txBox="1"/>
          <p:nvPr/>
        </p:nvSpPr>
        <p:spPr>
          <a:xfrm>
            <a:off x="1143000" y="3810316"/>
            <a:ext cx="7848600" cy="41471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z="25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Неправильное подключение может повредить усилитель или драйвер. Потратьте десять минут — сэкономьте пять лет.</a:t>
            </a:r>
          </a:p>
        </p:txBody>
      </p:sp>
      <p:sp>
        <p:nvSpPr>
          <p:cNvPr id="33" name="Shape 5"/>
          <p:cNvSpPr/>
          <p:nvPr/>
        </p:nvSpPr>
        <p:spPr>
          <a:xfrm>
            <a:off x="9525000" y="380872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4" name="Text 6"/>
          <p:cNvSpPr txBox="1"/>
          <p:nvPr/>
        </p:nvSpPr>
        <p:spPr>
          <a:xfrm>
            <a:off x="9525000" y="4091780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35" name="Text 7"/>
          <p:cNvSpPr txBox="1"/>
          <p:nvPr/>
        </p:nvSpPr>
        <p:spPr>
          <a:xfrm>
            <a:off x="10668000" y="4029392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Осмотрите саб и комплектующие</a:t>
            </a:r>
          </a:p>
        </p:txBody>
      </p:sp>
      <p:sp>
        <p:nvSpPr>
          <p:cNvPr id="36" name="Shape 8"/>
          <p:cNvSpPr/>
          <p:nvPr/>
        </p:nvSpPr>
        <p:spPr>
          <a:xfrm>
            <a:off x="9525000" y="490029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" name="Text 9"/>
          <p:cNvSpPr txBox="1"/>
          <p:nvPr/>
        </p:nvSpPr>
        <p:spPr>
          <a:xfrm>
            <a:off x="9525000" y="5183346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38" name="Text 10"/>
          <p:cNvSpPr txBox="1"/>
          <p:nvPr/>
        </p:nvSpPr>
        <p:spPr>
          <a:xfrm>
            <a:off x="10668000" y="5120957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Выключите источник сигнала</a:t>
            </a:r>
          </a:p>
        </p:txBody>
      </p:sp>
      <p:sp>
        <p:nvSpPr>
          <p:cNvPr id="39" name="Shape 11"/>
          <p:cNvSpPr/>
          <p:nvPr/>
        </p:nvSpPr>
        <p:spPr>
          <a:xfrm>
            <a:off x="9525000" y="5991860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" name="Text 12"/>
          <p:cNvSpPr txBox="1"/>
          <p:nvPr/>
        </p:nvSpPr>
        <p:spPr>
          <a:xfrm>
            <a:off x="9525000" y="6274911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41" name="Text 13"/>
          <p:cNvSpPr txBox="1"/>
          <p:nvPr/>
        </p:nvSpPr>
        <p:spPr>
          <a:xfrm>
            <a:off x="10668000" y="6212523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Подключите сначала сигнал, потом питание</a:t>
            </a:r>
          </a:p>
        </p:txBody>
      </p:sp>
      <p:sp>
        <p:nvSpPr>
          <p:cNvPr id="42" name="Shape 14"/>
          <p:cNvSpPr/>
          <p:nvPr/>
        </p:nvSpPr>
        <p:spPr>
          <a:xfrm>
            <a:off x="9525000" y="790828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" name="Shape 15"/>
          <p:cNvSpPr/>
          <p:nvPr/>
        </p:nvSpPr>
        <p:spPr>
          <a:xfrm>
            <a:off x="9525000" y="708342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" name="Text 16"/>
          <p:cNvSpPr txBox="1"/>
          <p:nvPr/>
        </p:nvSpPr>
        <p:spPr>
          <a:xfrm>
            <a:off x="9525000" y="7366475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45" name="Text 17"/>
          <p:cNvSpPr txBox="1"/>
          <p:nvPr/>
        </p:nvSpPr>
        <p:spPr>
          <a:xfrm>
            <a:off x="10668000" y="7304086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Поднимайте громкость постепенно</a:t>
            </a:r>
          </a:p>
        </p:txBody>
      </p:sp>
      <p:sp>
        <p:nvSpPr>
          <p:cNvPr id="46" name="Text 1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002 / 100</a:t>
            </a:r>
          </a:p>
        </p:txBody>
      </p:sp>
      <p:sp>
        <p:nvSpPr>
          <p:cNvPr id="47" name="Text 19"/>
          <p:cNvSpPr txBox="1"/>
          <p:nvPr/>
        </p:nvSpPr>
        <p:spPr>
          <a:xfrm>
            <a:off x="16469360" y="9672638"/>
            <a:ext cx="132334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defRPr sz="1692" spc="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ВВЕДЕНИЕ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Text 0"/>
          <p:cNvSpPr txBox="1"/>
          <p:nvPr/>
        </p:nvSpPr>
        <p:spPr>
          <a:xfrm>
            <a:off x="571499" y="380999"/>
            <a:ext cx="23599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003 ВВЕДЕНИЕ</a:t>
            </a:r>
          </a:p>
        </p:txBody>
      </p:sp>
      <p:sp>
        <p:nvSpPr>
          <p:cNvPr id="50" name="Text 1"/>
          <p:cNvSpPr txBox="1"/>
          <p:nvPr/>
        </p:nvSpPr>
        <p:spPr>
          <a:xfrm>
            <a:off x="16781144" y="380999"/>
            <a:ext cx="1011556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4 ТИПА</a:t>
            </a:r>
          </a:p>
        </p:txBody>
      </p:sp>
      <p:sp>
        <p:nvSpPr>
          <p:cNvPr id="51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ЛИНЕЙКА SUB-01</a:t>
            </a:r>
          </a:p>
        </p:txBody>
      </p:sp>
      <p:sp>
        <p:nvSpPr>
          <p:cNvPr id="52" name="Text 3"/>
          <p:cNvSpPr txBox="1"/>
          <p:nvPr/>
        </p:nvSpPr>
        <p:spPr>
          <a:xfrm>
            <a:off x="1143000" y="1490662"/>
            <a:ext cx="14716125" cy="1428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22959">
              <a:lnSpc>
                <a:spcPct val="114010"/>
              </a:lnSpc>
              <a:defRPr sz="4319" spc="-9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Узнайте, о каких четырёх типах сабвуферов мы расскажем</a:t>
            </a:r>
          </a:p>
        </p:txBody>
      </p:sp>
      <p:sp>
        <p:nvSpPr>
          <p:cNvPr id="53" name="Shape 4"/>
          <p:cNvSpPr/>
          <p:nvPr/>
        </p:nvSpPr>
        <p:spPr>
          <a:xfrm>
            <a:off x="1143000" y="3718878"/>
            <a:ext cx="3714750" cy="3900488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4" name="Text 5"/>
          <p:cNvSpPr txBox="1"/>
          <p:nvPr/>
        </p:nvSpPr>
        <p:spPr>
          <a:xfrm>
            <a:off x="1381124" y="3918903"/>
            <a:ext cx="699772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13816">
              <a:defRPr sz="1602" spc="89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HOME</a:t>
            </a:r>
          </a:p>
        </p:txBody>
      </p:sp>
      <p:pic>
        <p:nvPicPr>
          <p:cNvPr id="5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4057" y="4601686"/>
            <a:ext cx="2032637" cy="2134712"/>
          </a:xfrm>
          <a:prstGeom prst="rect">
            <a:avLst/>
          </a:prstGeom>
          <a:ln w="12700">
            <a:miter lim="400000"/>
          </a:ln>
        </p:spPr>
      </p:pic>
      <p:sp>
        <p:nvSpPr>
          <p:cNvPr id="56" name="Text 6"/>
          <p:cNvSpPr txBox="1"/>
          <p:nvPr/>
        </p:nvSpPr>
        <p:spPr>
          <a:xfrm>
            <a:off x="1142999" y="7809865"/>
            <a:ext cx="3826194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 · HOME</a:t>
            </a:r>
          </a:p>
        </p:txBody>
      </p:sp>
      <p:sp>
        <p:nvSpPr>
          <p:cNvPr id="57" name="Text 7"/>
          <p:cNvSpPr txBox="1"/>
          <p:nvPr/>
        </p:nvSpPr>
        <p:spPr>
          <a:xfrm>
            <a:off x="1142999" y="8271827"/>
            <a:ext cx="3826194" cy="372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19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Домашний театр и Hi-Fi стерео</a:t>
            </a:r>
          </a:p>
        </p:txBody>
      </p:sp>
      <p:sp>
        <p:nvSpPr>
          <p:cNvPr id="58" name="Shape 8"/>
          <p:cNvSpPr/>
          <p:nvPr/>
        </p:nvSpPr>
        <p:spPr>
          <a:xfrm>
            <a:off x="5238750" y="3718878"/>
            <a:ext cx="3714750" cy="3900488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" name="Text 9"/>
          <p:cNvSpPr txBox="1"/>
          <p:nvPr/>
        </p:nvSpPr>
        <p:spPr>
          <a:xfrm>
            <a:off x="5476875" y="3918903"/>
            <a:ext cx="543878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CAR</a:t>
            </a:r>
          </a:p>
        </p:txBody>
      </p:sp>
      <p:pic>
        <p:nvPicPr>
          <p:cNvPr id="60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79807" y="4601686"/>
            <a:ext cx="2032636" cy="2134712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ext 10"/>
          <p:cNvSpPr txBox="1"/>
          <p:nvPr/>
        </p:nvSpPr>
        <p:spPr>
          <a:xfrm>
            <a:off x="5238749" y="7809865"/>
            <a:ext cx="3826194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 · CAR</a:t>
            </a:r>
          </a:p>
        </p:txBody>
      </p:sp>
      <p:sp>
        <p:nvSpPr>
          <p:cNvPr id="62" name="Text 11"/>
          <p:cNvSpPr txBox="1"/>
          <p:nvPr/>
        </p:nvSpPr>
        <p:spPr>
          <a:xfrm>
            <a:off x="5238749" y="8271827"/>
            <a:ext cx="3826194" cy="372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19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Автомобильная система</a:t>
            </a:r>
          </a:p>
        </p:txBody>
      </p:sp>
      <p:sp>
        <p:nvSpPr>
          <p:cNvPr id="63" name="Shape 12"/>
          <p:cNvSpPr/>
          <p:nvPr/>
        </p:nvSpPr>
        <p:spPr>
          <a:xfrm>
            <a:off x="9334500" y="3718878"/>
            <a:ext cx="3714750" cy="3900488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" name="Text 13"/>
          <p:cNvSpPr txBox="1"/>
          <p:nvPr/>
        </p:nvSpPr>
        <p:spPr>
          <a:xfrm>
            <a:off x="9572624" y="3918903"/>
            <a:ext cx="38798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PA</a:t>
            </a:r>
          </a:p>
        </p:txBody>
      </p:sp>
      <p:pic>
        <p:nvPicPr>
          <p:cNvPr id="65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75557" y="4601686"/>
            <a:ext cx="2032637" cy="2134712"/>
          </a:xfrm>
          <a:prstGeom prst="rect">
            <a:avLst/>
          </a:prstGeom>
          <a:ln w="12700">
            <a:miter lim="400000"/>
          </a:ln>
        </p:spPr>
      </p:pic>
      <p:sp>
        <p:nvSpPr>
          <p:cNvPr id="66" name="Text 14"/>
          <p:cNvSpPr txBox="1"/>
          <p:nvPr/>
        </p:nvSpPr>
        <p:spPr>
          <a:xfrm>
            <a:off x="9334499" y="7809865"/>
            <a:ext cx="3826194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 · PA</a:t>
            </a:r>
          </a:p>
        </p:txBody>
      </p:sp>
      <p:sp>
        <p:nvSpPr>
          <p:cNvPr id="67" name="Text 15"/>
          <p:cNvSpPr txBox="1"/>
          <p:nvPr/>
        </p:nvSpPr>
        <p:spPr>
          <a:xfrm>
            <a:off x="9334499" y="8271827"/>
            <a:ext cx="3826194" cy="372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19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Концертный звук и ивенты</a:t>
            </a:r>
          </a:p>
        </p:txBody>
      </p:sp>
      <p:sp>
        <p:nvSpPr>
          <p:cNvPr id="68" name="Shape 16"/>
          <p:cNvSpPr/>
          <p:nvPr/>
        </p:nvSpPr>
        <p:spPr>
          <a:xfrm>
            <a:off x="13430250" y="3718878"/>
            <a:ext cx="3714750" cy="3900488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" name="Text 17"/>
          <p:cNvSpPr txBox="1"/>
          <p:nvPr/>
        </p:nvSpPr>
        <p:spPr>
          <a:xfrm>
            <a:off x="13668374" y="3918903"/>
            <a:ext cx="101155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STUDIO</a:t>
            </a:r>
          </a:p>
        </p:txBody>
      </p:sp>
      <p:pic>
        <p:nvPicPr>
          <p:cNvPr id="70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271308" y="4601686"/>
            <a:ext cx="2032636" cy="2134712"/>
          </a:xfrm>
          <a:prstGeom prst="rect">
            <a:avLst/>
          </a:prstGeom>
          <a:ln w="12700">
            <a:miter lim="400000"/>
          </a:ln>
        </p:spPr>
      </p:pic>
      <p:sp>
        <p:nvSpPr>
          <p:cNvPr id="71" name="Text 18"/>
          <p:cNvSpPr txBox="1"/>
          <p:nvPr/>
        </p:nvSpPr>
        <p:spPr>
          <a:xfrm>
            <a:off x="13430249" y="7809865"/>
            <a:ext cx="3826194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 · STUDIO</a:t>
            </a:r>
          </a:p>
        </p:txBody>
      </p:sp>
      <p:sp>
        <p:nvSpPr>
          <p:cNvPr id="72" name="Text 19"/>
          <p:cNvSpPr txBox="1"/>
          <p:nvPr/>
        </p:nvSpPr>
        <p:spPr>
          <a:xfrm>
            <a:off x="13430249" y="8271827"/>
            <a:ext cx="3826194" cy="372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19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Звукозапись и мониторинг</a:t>
            </a:r>
          </a:p>
        </p:txBody>
      </p:sp>
      <p:sp>
        <p:nvSpPr>
          <p:cNvPr id="73" name="Text 20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003 / 100</a:t>
            </a:r>
          </a:p>
        </p:txBody>
      </p:sp>
      <p:sp>
        <p:nvSpPr>
          <p:cNvPr id="74" name="Text 21"/>
          <p:cNvSpPr txBox="1"/>
          <p:nvPr/>
        </p:nvSpPr>
        <p:spPr>
          <a:xfrm>
            <a:off x="16469360" y="9672638"/>
            <a:ext cx="132334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defRPr sz="1692" spc="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ВВЕДЕНИЕ</a:t>
            </a:r>
          </a:p>
        </p:txBody>
      </p:sp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Text 0"/>
          <p:cNvSpPr txBox="1"/>
          <p:nvPr/>
        </p:nvSpPr>
        <p:spPr>
          <a:xfrm>
            <a:off x="571499" y="380999"/>
            <a:ext cx="23599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004 ВВЕДЕНИЕ</a:t>
            </a:r>
          </a:p>
        </p:txBody>
      </p:sp>
      <p:sp>
        <p:nvSpPr>
          <p:cNvPr id="77" name="Text 1"/>
          <p:cNvSpPr txBox="1"/>
          <p:nvPr/>
        </p:nvSpPr>
        <p:spPr>
          <a:xfrm>
            <a:off x="16157575" y="380999"/>
            <a:ext cx="1635125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defRPr sz="1584" spc="88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СОДЕРЖАНИЕ</a:t>
            </a:r>
          </a:p>
        </p:txBody>
      </p:sp>
      <p:sp>
        <p:nvSpPr>
          <p:cNvPr id="78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СОДЕРЖАНИЕ</a:t>
            </a:r>
          </a:p>
        </p:txBody>
      </p:sp>
      <p:sp>
        <p:nvSpPr>
          <p:cNvPr id="79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Следуйте плану из тринадцати разделов</a:t>
            </a:r>
          </a:p>
        </p:txBody>
      </p:sp>
      <p:sp>
        <p:nvSpPr>
          <p:cNvPr id="80" name="Shape 4"/>
          <p:cNvSpPr/>
          <p:nvPr/>
        </p:nvSpPr>
        <p:spPr>
          <a:xfrm>
            <a:off x="1143000" y="279368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1" name="Text 5"/>
          <p:cNvSpPr txBox="1"/>
          <p:nvPr/>
        </p:nvSpPr>
        <p:spPr>
          <a:xfrm>
            <a:off x="1143000" y="2936874"/>
            <a:ext cx="60960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82" name="Text 6"/>
          <p:cNvSpPr txBox="1"/>
          <p:nvPr/>
        </p:nvSpPr>
        <p:spPr>
          <a:xfrm>
            <a:off x="1676400" y="2909570"/>
            <a:ext cx="14755368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Безопасность</a:t>
            </a:r>
          </a:p>
        </p:txBody>
      </p:sp>
      <p:sp>
        <p:nvSpPr>
          <p:cNvPr id="83" name="Text 7"/>
          <p:cNvSpPr txBox="1"/>
          <p:nvPr/>
        </p:nvSpPr>
        <p:spPr>
          <a:xfrm>
            <a:off x="15925800" y="2936874"/>
            <a:ext cx="121920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r"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005—009</a:t>
            </a:r>
          </a:p>
        </p:txBody>
      </p:sp>
      <p:sp>
        <p:nvSpPr>
          <p:cNvPr id="84" name="Shape 8"/>
          <p:cNvSpPr/>
          <p:nvPr/>
        </p:nvSpPr>
        <p:spPr>
          <a:xfrm>
            <a:off x="1143000" y="331501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" name="Text 9"/>
          <p:cNvSpPr txBox="1"/>
          <p:nvPr/>
        </p:nvSpPr>
        <p:spPr>
          <a:xfrm>
            <a:off x="1143000" y="3458209"/>
            <a:ext cx="609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86" name="Text 10"/>
          <p:cNvSpPr txBox="1"/>
          <p:nvPr/>
        </p:nvSpPr>
        <p:spPr>
          <a:xfrm>
            <a:off x="1676400" y="3430904"/>
            <a:ext cx="14755368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Распаковка</a:t>
            </a:r>
          </a:p>
        </p:txBody>
      </p:sp>
      <p:sp>
        <p:nvSpPr>
          <p:cNvPr id="87" name="Text 11"/>
          <p:cNvSpPr txBox="1"/>
          <p:nvPr/>
        </p:nvSpPr>
        <p:spPr>
          <a:xfrm>
            <a:off x="15925800" y="3458209"/>
            <a:ext cx="12192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r"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010—014</a:t>
            </a:r>
          </a:p>
        </p:txBody>
      </p:sp>
      <p:sp>
        <p:nvSpPr>
          <p:cNvPr id="88" name="Shape 12"/>
          <p:cNvSpPr/>
          <p:nvPr/>
        </p:nvSpPr>
        <p:spPr>
          <a:xfrm>
            <a:off x="1143000" y="383635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" name="Text 13"/>
          <p:cNvSpPr txBox="1"/>
          <p:nvPr/>
        </p:nvSpPr>
        <p:spPr>
          <a:xfrm>
            <a:off x="1143000" y="3979545"/>
            <a:ext cx="609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90" name="Text 14"/>
          <p:cNvSpPr txBox="1"/>
          <p:nvPr/>
        </p:nvSpPr>
        <p:spPr>
          <a:xfrm>
            <a:off x="1676400" y="3952240"/>
            <a:ext cx="14755368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Компоненты и схема</a:t>
            </a:r>
          </a:p>
        </p:txBody>
      </p:sp>
      <p:sp>
        <p:nvSpPr>
          <p:cNvPr id="91" name="Text 15"/>
          <p:cNvSpPr txBox="1"/>
          <p:nvPr/>
        </p:nvSpPr>
        <p:spPr>
          <a:xfrm>
            <a:off x="15925800" y="3979545"/>
            <a:ext cx="12192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r"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015—023</a:t>
            </a:r>
          </a:p>
        </p:txBody>
      </p:sp>
      <p:sp>
        <p:nvSpPr>
          <p:cNvPr id="92" name="Shape 16"/>
          <p:cNvSpPr/>
          <p:nvPr/>
        </p:nvSpPr>
        <p:spPr>
          <a:xfrm>
            <a:off x="1143000" y="435768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3" name="Text 17"/>
          <p:cNvSpPr txBox="1"/>
          <p:nvPr/>
        </p:nvSpPr>
        <p:spPr>
          <a:xfrm>
            <a:off x="1143000" y="4500879"/>
            <a:ext cx="609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94" name="Text 18"/>
          <p:cNvSpPr txBox="1"/>
          <p:nvPr/>
        </p:nvSpPr>
        <p:spPr>
          <a:xfrm>
            <a:off x="1676400" y="4473574"/>
            <a:ext cx="14755368" cy="340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Типы сабвуферов</a:t>
            </a:r>
          </a:p>
        </p:txBody>
      </p:sp>
      <p:sp>
        <p:nvSpPr>
          <p:cNvPr id="95" name="Text 19"/>
          <p:cNvSpPr txBox="1"/>
          <p:nvPr/>
        </p:nvSpPr>
        <p:spPr>
          <a:xfrm>
            <a:off x="15925800" y="4500879"/>
            <a:ext cx="12192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r"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024—029</a:t>
            </a:r>
          </a:p>
        </p:txBody>
      </p:sp>
      <p:sp>
        <p:nvSpPr>
          <p:cNvPr id="96" name="Shape 20"/>
          <p:cNvSpPr/>
          <p:nvPr/>
        </p:nvSpPr>
        <p:spPr>
          <a:xfrm>
            <a:off x="1143000" y="487902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7" name="Text 21"/>
          <p:cNvSpPr txBox="1"/>
          <p:nvPr/>
        </p:nvSpPr>
        <p:spPr>
          <a:xfrm>
            <a:off x="1143000" y="5022215"/>
            <a:ext cx="609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</a:t>
            </a:r>
          </a:p>
        </p:txBody>
      </p:sp>
      <p:sp>
        <p:nvSpPr>
          <p:cNvPr id="98" name="Text 22"/>
          <p:cNvSpPr txBox="1"/>
          <p:nvPr/>
        </p:nvSpPr>
        <p:spPr>
          <a:xfrm>
            <a:off x="1676400" y="4994909"/>
            <a:ext cx="14755368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Размещение</a:t>
            </a:r>
          </a:p>
        </p:txBody>
      </p:sp>
      <p:sp>
        <p:nvSpPr>
          <p:cNvPr id="99" name="Text 23"/>
          <p:cNvSpPr txBox="1"/>
          <p:nvPr/>
        </p:nvSpPr>
        <p:spPr>
          <a:xfrm>
            <a:off x="15925800" y="5022215"/>
            <a:ext cx="12192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r"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030—03</a:t>
            </a:r>
            <a:r>
              <a:rPr lang="ru-RU" dirty="0"/>
              <a:t>6</a:t>
            </a:r>
            <a:endParaRPr dirty="0"/>
          </a:p>
        </p:txBody>
      </p:sp>
      <p:sp>
        <p:nvSpPr>
          <p:cNvPr id="100" name="Shape 24"/>
          <p:cNvSpPr/>
          <p:nvPr/>
        </p:nvSpPr>
        <p:spPr>
          <a:xfrm>
            <a:off x="1143000" y="540035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" name="Text 25"/>
          <p:cNvSpPr txBox="1"/>
          <p:nvPr/>
        </p:nvSpPr>
        <p:spPr>
          <a:xfrm>
            <a:off x="1143000" y="5543549"/>
            <a:ext cx="60960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06</a:t>
            </a:r>
          </a:p>
        </p:txBody>
      </p:sp>
      <p:sp>
        <p:nvSpPr>
          <p:cNvPr id="102" name="Text 26"/>
          <p:cNvSpPr txBox="1"/>
          <p:nvPr/>
        </p:nvSpPr>
        <p:spPr>
          <a:xfrm>
            <a:off x="1676400" y="5516245"/>
            <a:ext cx="14755368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Подключение</a:t>
            </a:r>
          </a:p>
        </p:txBody>
      </p:sp>
      <p:sp>
        <p:nvSpPr>
          <p:cNvPr id="103" name="Text 27"/>
          <p:cNvSpPr txBox="1"/>
          <p:nvPr/>
        </p:nvSpPr>
        <p:spPr>
          <a:xfrm>
            <a:off x="15925800" y="5543549"/>
            <a:ext cx="121920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r"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03</a:t>
            </a:r>
            <a:r>
              <a:rPr lang="ru-RU" dirty="0"/>
              <a:t>7</a:t>
            </a:r>
            <a:r>
              <a:rPr dirty="0"/>
              <a:t>—04</a:t>
            </a:r>
            <a:r>
              <a:rPr lang="ru-RU" dirty="0"/>
              <a:t>5</a:t>
            </a:r>
            <a:endParaRPr dirty="0"/>
          </a:p>
        </p:txBody>
      </p:sp>
      <p:sp>
        <p:nvSpPr>
          <p:cNvPr id="104" name="Shape 28"/>
          <p:cNvSpPr/>
          <p:nvPr/>
        </p:nvSpPr>
        <p:spPr>
          <a:xfrm>
            <a:off x="1143000" y="592169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" name="Text 29"/>
          <p:cNvSpPr txBox="1"/>
          <p:nvPr/>
        </p:nvSpPr>
        <p:spPr>
          <a:xfrm>
            <a:off x="1143000" y="6064884"/>
            <a:ext cx="609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</a:t>
            </a:r>
          </a:p>
        </p:txBody>
      </p:sp>
      <p:sp>
        <p:nvSpPr>
          <p:cNvPr id="106" name="Text 30"/>
          <p:cNvSpPr txBox="1"/>
          <p:nvPr/>
        </p:nvSpPr>
        <p:spPr>
          <a:xfrm>
            <a:off x="1676400" y="6037579"/>
            <a:ext cx="14755368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Настройка</a:t>
            </a:r>
          </a:p>
        </p:txBody>
      </p:sp>
      <p:sp>
        <p:nvSpPr>
          <p:cNvPr id="107" name="Text 31"/>
          <p:cNvSpPr txBox="1"/>
          <p:nvPr/>
        </p:nvSpPr>
        <p:spPr>
          <a:xfrm>
            <a:off x="15925800" y="6064884"/>
            <a:ext cx="12192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r"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6</a:t>
            </a:r>
            <a:r>
              <a:rPr dirty="0"/>
              <a:t>—05</a:t>
            </a:r>
            <a:r>
              <a:rPr lang="ru-RU" dirty="0"/>
              <a:t>3</a:t>
            </a:r>
            <a:endParaRPr dirty="0"/>
          </a:p>
        </p:txBody>
      </p:sp>
      <p:sp>
        <p:nvSpPr>
          <p:cNvPr id="108" name="Shape 32"/>
          <p:cNvSpPr/>
          <p:nvPr/>
        </p:nvSpPr>
        <p:spPr>
          <a:xfrm>
            <a:off x="1143000" y="644302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" name="Text 33"/>
          <p:cNvSpPr txBox="1"/>
          <p:nvPr/>
        </p:nvSpPr>
        <p:spPr>
          <a:xfrm>
            <a:off x="1143000" y="6586219"/>
            <a:ext cx="609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</a:t>
            </a:r>
          </a:p>
        </p:txBody>
      </p:sp>
      <p:sp>
        <p:nvSpPr>
          <p:cNvPr id="110" name="Text 34"/>
          <p:cNvSpPr txBox="1"/>
          <p:nvPr/>
        </p:nvSpPr>
        <p:spPr>
          <a:xfrm>
            <a:off x="1676400" y="6558915"/>
            <a:ext cx="14755368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Калибровка</a:t>
            </a:r>
          </a:p>
        </p:txBody>
      </p:sp>
      <p:sp>
        <p:nvSpPr>
          <p:cNvPr id="111" name="Text 35"/>
          <p:cNvSpPr txBox="1"/>
          <p:nvPr/>
        </p:nvSpPr>
        <p:spPr>
          <a:xfrm>
            <a:off x="15925800" y="6586219"/>
            <a:ext cx="12192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r"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4</a:t>
            </a:r>
            <a:r>
              <a:rPr dirty="0"/>
              <a:t>—06</a:t>
            </a:r>
            <a:r>
              <a:rPr lang="ru-RU" dirty="0"/>
              <a:t>1</a:t>
            </a:r>
            <a:endParaRPr dirty="0"/>
          </a:p>
        </p:txBody>
      </p:sp>
      <p:sp>
        <p:nvSpPr>
          <p:cNvPr id="112" name="Shape 36"/>
          <p:cNvSpPr/>
          <p:nvPr/>
        </p:nvSpPr>
        <p:spPr>
          <a:xfrm>
            <a:off x="1143000" y="696436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" name="Text 37"/>
          <p:cNvSpPr txBox="1"/>
          <p:nvPr/>
        </p:nvSpPr>
        <p:spPr>
          <a:xfrm>
            <a:off x="1143000" y="7107555"/>
            <a:ext cx="609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</a:t>
            </a:r>
          </a:p>
        </p:txBody>
      </p:sp>
      <p:sp>
        <p:nvSpPr>
          <p:cNvPr id="114" name="Text 38"/>
          <p:cNvSpPr txBox="1"/>
          <p:nvPr/>
        </p:nvSpPr>
        <p:spPr>
          <a:xfrm>
            <a:off x="1676400" y="7080249"/>
            <a:ext cx="14755368" cy="340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Использование</a:t>
            </a:r>
          </a:p>
        </p:txBody>
      </p:sp>
      <p:sp>
        <p:nvSpPr>
          <p:cNvPr id="115" name="Text 39"/>
          <p:cNvSpPr txBox="1"/>
          <p:nvPr/>
        </p:nvSpPr>
        <p:spPr>
          <a:xfrm>
            <a:off x="15925800" y="7107555"/>
            <a:ext cx="12192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r"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2</a:t>
            </a:r>
            <a:r>
              <a:rPr dirty="0"/>
              <a:t>—07</a:t>
            </a:r>
            <a:r>
              <a:rPr lang="ru-RU" dirty="0"/>
              <a:t>1</a:t>
            </a:r>
            <a:endParaRPr dirty="0"/>
          </a:p>
        </p:txBody>
      </p:sp>
      <p:sp>
        <p:nvSpPr>
          <p:cNvPr id="116" name="Shape 40"/>
          <p:cNvSpPr/>
          <p:nvPr/>
        </p:nvSpPr>
        <p:spPr>
          <a:xfrm>
            <a:off x="1143000" y="748569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" name="Text 41"/>
          <p:cNvSpPr txBox="1"/>
          <p:nvPr/>
        </p:nvSpPr>
        <p:spPr>
          <a:xfrm>
            <a:off x="1143000" y="7628890"/>
            <a:ext cx="609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10</a:t>
            </a:r>
          </a:p>
        </p:txBody>
      </p:sp>
      <p:sp>
        <p:nvSpPr>
          <p:cNvPr id="118" name="Text 42"/>
          <p:cNvSpPr txBox="1"/>
          <p:nvPr/>
        </p:nvSpPr>
        <p:spPr>
          <a:xfrm>
            <a:off x="1676400" y="7601584"/>
            <a:ext cx="14755368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Troubleshooting</a:t>
            </a:r>
          </a:p>
        </p:txBody>
      </p:sp>
      <p:sp>
        <p:nvSpPr>
          <p:cNvPr id="119" name="Text 43"/>
          <p:cNvSpPr txBox="1"/>
          <p:nvPr/>
        </p:nvSpPr>
        <p:spPr>
          <a:xfrm>
            <a:off x="15925800" y="7628890"/>
            <a:ext cx="12192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r"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07</a:t>
            </a:r>
            <a:r>
              <a:rPr lang="ru-RU" dirty="0"/>
              <a:t>2</a:t>
            </a:r>
            <a:r>
              <a:rPr dirty="0"/>
              <a:t>—08</a:t>
            </a:r>
            <a:r>
              <a:rPr lang="ru-RU" dirty="0"/>
              <a:t>2</a:t>
            </a:r>
            <a:endParaRPr dirty="0"/>
          </a:p>
        </p:txBody>
      </p:sp>
      <p:sp>
        <p:nvSpPr>
          <p:cNvPr id="120" name="Shape 44"/>
          <p:cNvSpPr/>
          <p:nvPr/>
        </p:nvSpPr>
        <p:spPr>
          <a:xfrm>
            <a:off x="1143000" y="800703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1" name="Text 45"/>
          <p:cNvSpPr txBox="1"/>
          <p:nvPr/>
        </p:nvSpPr>
        <p:spPr>
          <a:xfrm>
            <a:off x="1143000" y="8150224"/>
            <a:ext cx="60960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11</a:t>
            </a:r>
          </a:p>
        </p:txBody>
      </p:sp>
      <p:sp>
        <p:nvSpPr>
          <p:cNvPr id="122" name="Text 46"/>
          <p:cNvSpPr txBox="1"/>
          <p:nvPr/>
        </p:nvSpPr>
        <p:spPr>
          <a:xfrm>
            <a:off x="1676400" y="8122919"/>
            <a:ext cx="14755368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Уход и обслуживание</a:t>
            </a:r>
          </a:p>
        </p:txBody>
      </p:sp>
      <p:sp>
        <p:nvSpPr>
          <p:cNvPr id="123" name="Text 47"/>
          <p:cNvSpPr txBox="1"/>
          <p:nvPr/>
        </p:nvSpPr>
        <p:spPr>
          <a:xfrm>
            <a:off x="15925800" y="8150224"/>
            <a:ext cx="121920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r"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083—088</a:t>
            </a:r>
          </a:p>
        </p:txBody>
      </p:sp>
      <p:sp>
        <p:nvSpPr>
          <p:cNvPr id="124" name="Shape 48"/>
          <p:cNvSpPr/>
          <p:nvPr/>
        </p:nvSpPr>
        <p:spPr>
          <a:xfrm>
            <a:off x="1143000" y="852836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5" name="Text 49"/>
          <p:cNvSpPr txBox="1"/>
          <p:nvPr/>
        </p:nvSpPr>
        <p:spPr>
          <a:xfrm>
            <a:off x="1143000" y="8671559"/>
            <a:ext cx="609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12</a:t>
            </a:r>
          </a:p>
        </p:txBody>
      </p:sp>
      <p:sp>
        <p:nvSpPr>
          <p:cNvPr id="126" name="Text 50"/>
          <p:cNvSpPr txBox="1"/>
          <p:nvPr/>
        </p:nvSpPr>
        <p:spPr>
          <a:xfrm>
            <a:off x="1676400" y="8644255"/>
            <a:ext cx="14755368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Спецификации</a:t>
            </a:r>
          </a:p>
        </p:txBody>
      </p:sp>
      <p:sp>
        <p:nvSpPr>
          <p:cNvPr id="127" name="Text 51"/>
          <p:cNvSpPr txBox="1"/>
          <p:nvPr/>
        </p:nvSpPr>
        <p:spPr>
          <a:xfrm>
            <a:off x="15925800" y="8671559"/>
            <a:ext cx="12192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r"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089—095</a:t>
            </a:r>
          </a:p>
        </p:txBody>
      </p:sp>
      <p:sp>
        <p:nvSpPr>
          <p:cNvPr id="128" name="Shape 52"/>
          <p:cNvSpPr/>
          <p:nvPr/>
        </p:nvSpPr>
        <p:spPr>
          <a:xfrm>
            <a:off x="1143000" y="957103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9" name="Shape 53"/>
          <p:cNvSpPr/>
          <p:nvPr/>
        </p:nvSpPr>
        <p:spPr>
          <a:xfrm>
            <a:off x="1143000" y="904970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0" name="Text 54"/>
          <p:cNvSpPr txBox="1"/>
          <p:nvPr/>
        </p:nvSpPr>
        <p:spPr>
          <a:xfrm>
            <a:off x="1143000" y="9192894"/>
            <a:ext cx="609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13</a:t>
            </a:r>
          </a:p>
        </p:txBody>
      </p:sp>
      <p:sp>
        <p:nvSpPr>
          <p:cNvPr id="131" name="Text 55"/>
          <p:cNvSpPr txBox="1"/>
          <p:nvPr/>
        </p:nvSpPr>
        <p:spPr>
          <a:xfrm>
            <a:off x="1676400" y="9165590"/>
            <a:ext cx="14755368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Гарантия и поддержка</a:t>
            </a:r>
          </a:p>
        </p:txBody>
      </p:sp>
      <p:sp>
        <p:nvSpPr>
          <p:cNvPr id="132" name="Text 56"/>
          <p:cNvSpPr txBox="1"/>
          <p:nvPr/>
        </p:nvSpPr>
        <p:spPr>
          <a:xfrm>
            <a:off x="15925800" y="9192894"/>
            <a:ext cx="12192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algn="r"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096—100</a:t>
            </a:r>
          </a:p>
        </p:txBody>
      </p:sp>
      <p:sp>
        <p:nvSpPr>
          <p:cNvPr id="133" name="Text 57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004 / 100</a:t>
            </a:r>
          </a:p>
        </p:txBody>
      </p:sp>
      <p:sp>
        <p:nvSpPr>
          <p:cNvPr id="134" name="Text 58"/>
          <p:cNvSpPr txBox="1"/>
          <p:nvPr/>
        </p:nvSpPr>
        <p:spPr>
          <a:xfrm>
            <a:off x="16469360" y="9672638"/>
            <a:ext cx="132334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defRPr sz="1692" spc="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ВВЕДЕНИЕ</a:t>
            </a:r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ext 0"/>
          <p:cNvSpPr txBox="1"/>
          <p:nvPr/>
        </p:nvSpPr>
        <p:spPr>
          <a:xfrm>
            <a:off x="1143000" y="5169217"/>
            <a:ext cx="667131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РАЗДЕЛ 01</a:t>
            </a:r>
          </a:p>
        </p:txBody>
      </p:sp>
      <p:sp>
        <p:nvSpPr>
          <p:cNvPr id="137" name="Text 1"/>
          <p:cNvSpPr txBox="1"/>
          <p:nvPr/>
        </p:nvSpPr>
        <p:spPr>
          <a:xfrm>
            <a:off x="1143000" y="5707379"/>
            <a:ext cx="6671310" cy="347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40079">
              <a:lnSpc>
                <a:spcPct val="82000"/>
              </a:lnSpc>
              <a:defRPr sz="23100" spc="-133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01</a:t>
            </a:r>
          </a:p>
        </p:txBody>
      </p:sp>
      <p:sp>
        <p:nvSpPr>
          <p:cNvPr id="138" name="Text 2"/>
          <p:cNvSpPr txBox="1"/>
          <p:nvPr/>
        </p:nvSpPr>
        <p:spPr>
          <a:xfrm>
            <a:off x="8381999" y="3883024"/>
            <a:ext cx="9025892" cy="758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04999"/>
              </a:lnSpc>
              <a:defRPr sz="4860" spc="-18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Безопасность</a:t>
            </a:r>
          </a:p>
        </p:txBody>
      </p:sp>
      <p:sp>
        <p:nvSpPr>
          <p:cNvPr id="139" name="Text 3"/>
          <p:cNvSpPr txBox="1"/>
          <p:nvPr/>
        </p:nvSpPr>
        <p:spPr>
          <a:xfrm>
            <a:off x="8382000" y="4907915"/>
            <a:ext cx="6867525" cy="1684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135000"/>
              </a:lnSpc>
              <a:defRPr sz="2376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Сабвуфер — это мощный усилитель и большой движущийся драйвер. Четыре правила защитят оборудование, помещение и ваш слух.</a:t>
            </a:r>
          </a:p>
        </p:txBody>
      </p:sp>
      <p:sp>
        <p:nvSpPr>
          <p:cNvPr id="140" name="Shape 4"/>
          <p:cNvSpPr/>
          <p:nvPr/>
        </p:nvSpPr>
        <p:spPr>
          <a:xfrm>
            <a:off x="8382000" y="681894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" name="Text 5"/>
          <p:cNvSpPr txBox="1"/>
          <p:nvPr/>
        </p:nvSpPr>
        <p:spPr>
          <a:xfrm>
            <a:off x="8382000" y="6990715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006</a:t>
            </a:r>
          </a:p>
        </p:txBody>
      </p:sp>
      <p:sp>
        <p:nvSpPr>
          <p:cNvPr id="142" name="Text 6"/>
          <p:cNvSpPr txBox="1"/>
          <p:nvPr/>
        </p:nvSpPr>
        <p:spPr>
          <a:xfrm>
            <a:off x="9239249" y="6963409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Не открывайте корпус под напряжением</a:t>
            </a:r>
          </a:p>
        </p:txBody>
      </p:sp>
      <p:sp>
        <p:nvSpPr>
          <p:cNvPr id="143" name="Shape 7"/>
          <p:cNvSpPr/>
          <p:nvPr/>
        </p:nvSpPr>
        <p:spPr>
          <a:xfrm>
            <a:off x="8382000" y="739743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" name="Text 8"/>
          <p:cNvSpPr txBox="1"/>
          <p:nvPr/>
        </p:nvSpPr>
        <p:spPr>
          <a:xfrm>
            <a:off x="8382000" y="7569199"/>
            <a:ext cx="93345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007</a:t>
            </a:r>
          </a:p>
        </p:txBody>
      </p:sp>
      <p:sp>
        <p:nvSpPr>
          <p:cNvPr id="145" name="Text 9"/>
          <p:cNvSpPr txBox="1"/>
          <p:nvPr/>
        </p:nvSpPr>
        <p:spPr>
          <a:xfrm>
            <a:off x="9239249" y="754189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Держите саб вдали от влаги</a:t>
            </a:r>
          </a:p>
        </p:txBody>
      </p:sp>
      <p:sp>
        <p:nvSpPr>
          <p:cNvPr id="146" name="Shape 10"/>
          <p:cNvSpPr/>
          <p:nvPr/>
        </p:nvSpPr>
        <p:spPr>
          <a:xfrm>
            <a:off x="8382000" y="797591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7" name="Text 11"/>
          <p:cNvSpPr txBox="1"/>
          <p:nvPr/>
        </p:nvSpPr>
        <p:spPr>
          <a:xfrm>
            <a:off x="8382000" y="8147684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008</a:t>
            </a:r>
          </a:p>
        </p:txBody>
      </p:sp>
      <p:sp>
        <p:nvSpPr>
          <p:cNvPr id="148" name="Text 12"/>
          <p:cNvSpPr txBox="1"/>
          <p:nvPr/>
        </p:nvSpPr>
        <p:spPr>
          <a:xfrm>
            <a:off x="9239249" y="812038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Оставьте вентиляцию</a:t>
            </a:r>
          </a:p>
        </p:txBody>
      </p:sp>
      <p:sp>
        <p:nvSpPr>
          <p:cNvPr id="149" name="Shape 13"/>
          <p:cNvSpPr/>
          <p:nvPr/>
        </p:nvSpPr>
        <p:spPr>
          <a:xfrm>
            <a:off x="8382000" y="913288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0" name="Shape 14"/>
          <p:cNvSpPr/>
          <p:nvPr/>
        </p:nvSpPr>
        <p:spPr>
          <a:xfrm>
            <a:off x="8382000" y="855440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1" name="Text 15"/>
          <p:cNvSpPr txBox="1"/>
          <p:nvPr/>
        </p:nvSpPr>
        <p:spPr>
          <a:xfrm>
            <a:off x="8382000" y="872616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009</a:t>
            </a:r>
          </a:p>
        </p:txBody>
      </p:sp>
      <p:sp>
        <p:nvSpPr>
          <p:cNvPr id="152" name="Text 16"/>
          <p:cNvSpPr txBox="1"/>
          <p:nvPr/>
        </p:nvSpPr>
        <p:spPr>
          <a:xfrm>
            <a:off x="9239249" y="8698865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Берегите слух</a:t>
            </a:r>
          </a:p>
        </p:txBody>
      </p:sp>
      <p:sp>
        <p:nvSpPr>
          <p:cNvPr id="153" name="Text 17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005 / 100</a:t>
            </a:r>
          </a:p>
        </p:txBody>
      </p:sp>
      <p:sp>
        <p:nvSpPr>
          <p:cNvPr id="154" name="Text 18"/>
          <p:cNvSpPr txBox="1"/>
          <p:nvPr/>
        </p:nvSpPr>
        <p:spPr>
          <a:xfrm>
            <a:off x="15222219" y="9672638"/>
            <a:ext cx="257048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§01 БЕЗОПАСНОСТЬ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 0"/>
          <p:cNvSpPr txBox="1"/>
          <p:nvPr/>
        </p:nvSpPr>
        <p:spPr>
          <a:xfrm>
            <a:off x="571499" y="380999"/>
            <a:ext cx="363684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006 §01 БЕЗОПАСНОСТЬ</a:t>
            </a:r>
          </a:p>
        </p:txBody>
      </p:sp>
      <p:sp>
        <p:nvSpPr>
          <p:cNvPr id="157" name="Text 1"/>
          <p:cNvSpPr txBox="1"/>
          <p:nvPr/>
        </p:nvSpPr>
        <p:spPr>
          <a:xfrm>
            <a:off x="15689898" y="380999"/>
            <a:ext cx="2102803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defRPr sz="1692" spc="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ЭЛЕКТРИЧЕСТВО</a:t>
            </a:r>
          </a:p>
        </p:txBody>
      </p:sp>
      <p:sp>
        <p:nvSpPr>
          <p:cNvPr id="158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ПРАВИЛО 01</a:t>
            </a:r>
          </a:p>
        </p:txBody>
      </p:sp>
      <p:sp>
        <p:nvSpPr>
          <p:cNvPr id="159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Не открывайте корпус под напряжением</a:t>
            </a:r>
          </a:p>
        </p:txBody>
      </p:sp>
      <p:sp>
        <p:nvSpPr>
          <p:cNvPr id="160" name="Text 4"/>
          <p:cNvSpPr txBox="1"/>
          <p:nvPr/>
        </p:nvSpPr>
        <p:spPr>
          <a:xfrm>
            <a:off x="1143000" y="5247640"/>
            <a:ext cx="7848600" cy="1786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22959">
              <a:lnSpc>
                <a:spcPct val="135000"/>
              </a:lnSpc>
              <a:defRPr sz="2250" spc="-9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dirty="0" err="1"/>
              <a:t>Внутри</a:t>
            </a:r>
            <a:r>
              <a:rPr dirty="0"/>
              <a:t> </a:t>
            </a:r>
            <a:r>
              <a:rPr dirty="0" err="1"/>
              <a:t>корпуса</a:t>
            </a:r>
            <a:r>
              <a:rPr dirty="0"/>
              <a:t> — </a:t>
            </a:r>
            <a:r>
              <a:rPr dirty="0" err="1"/>
              <a:t>конденсаторы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сохраняют</a:t>
            </a:r>
            <a:r>
              <a:rPr dirty="0"/>
              <a:t> </a:t>
            </a:r>
            <a:r>
              <a:rPr dirty="0" err="1"/>
              <a:t>заряд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400 В </a:t>
            </a:r>
            <a:r>
              <a:rPr dirty="0" err="1"/>
              <a:t>в</a:t>
            </a:r>
            <a:r>
              <a:rPr dirty="0"/>
              <a:t> </a:t>
            </a:r>
            <a:r>
              <a:rPr dirty="0" err="1"/>
              <a:t>течение</a:t>
            </a:r>
            <a:r>
              <a:rPr dirty="0"/>
              <a:t> </a:t>
            </a:r>
            <a:r>
              <a:rPr dirty="0" err="1"/>
              <a:t>нескольких</a:t>
            </a:r>
            <a:r>
              <a:rPr dirty="0"/>
              <a:t> </a:t>
            </a:r>
            <a:r>
              <a:rPr dirty="0" err="1"/>
              <a:t>минут</a:t>
            </a:r>
            <a:r>
              <a:rPr dirty="0"/>
              <a:t> </a:t>
            </a:r>
            <a:r>
              <a:rPr dirty="0" err="1"/>
              <a:t>после</a:t>
            </a:r>
            <a:r>
              <a:rPr dirty="0"/>
              <a:t> </a:t>
            </a:r>
            <a:r>
              <a:rPr dirty="0" err="1"/>
              <a:t>отключения</a:t>
            </a:r>
            <a:r>
              <a:rPr dirty="0"/>
              <a:t>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сети</a:t>
            </a:r>
            <a:r>
              <a:rPr dirty="0"/>
              <a:t>. </a:t>
            </a:r>
            <a:r>
              <a:rPr dirty="0" err="1"/>
              <a:t>Любой</a:t>
            </a:r>
            <a:r>
              <a:rPr dirty="0"/>
              <a:t> </a:t>
            </a:r>
            <a:r>
              <a:rPr dirty="0" err="1"/>
              <a:t>сервис</a:t>
            </a:r>
            <a:r>
              <a:rPr dirty="0"/>
              <a:t> — </a:t>
            </a:r>
            <a:r>
              <a:rPr dirty="0" err="1"/>
              <a:t>только</a:t>
            </a:r>
            <a:r>
              <a:rPr dirty="0"/>
              <a:t> в </a:t>
            </a:r>
            <a:r>
              <a:rPr dirty="0" err="1"/>
              <a:t>авторизованном</a:t>
            </a:r>
            <a:r>
              <a:rPr dirty="0"/>
              <a:t> </a:t>
            </a:r>
            <a:r>
              <a:rPr dirty="0" err="1"/>
              <a:t>центре</a:t>
            </a:r>
            <a:r>
              <a:rPr dirty="0"/>
              <a:t> RESONA.</a:t>
            </a:r>
          </a:p>
        </p:txBody>
      </p:sp>
      <p:sp>
        <p:nvSpPr>
          <p:cNvPr id="161" name="Shape 5"/>
          <p:cNvSpPr/>
          <p:nvPr/>
        </p:nvSpPr>
        <p:spPr>
          <a:xfrm>
            <a:off x="9525000" y="3264534"/>
            <a:ext cx="7620000" cy="57150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74667" y="4128453"/>
            <a:ext cx="5320666" cy="3987166"/>
          </a:xfrm>
          <a:prstGeom prst="rect">
            <a:avLst/>
          </a:prstGeom>
          <a:ln w="12700">
            <a:miter lim="400000"/>
          </a:ln>
        </p:spPr>
      </p:pic>
      <p:sp>
        <p:nvSpPr>
          <p:cNvPr id="163" name="Text 6"/>
          <p:cNvSpPr txBox="1"/>
          <p:nvPr/>
        </p:nvSpPr>
        <p:spPr>
          <a:xfrm>
            <a:off x="9763125" y="3464559"/>
            <a:ext cx="417480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WARNING · OPENED ENCLOSURE</a:t>
            </a:r>
          </a:p>
        </p:txBody>
      </p:sp>
      <p:sp>
        <p:nvSpPr>
          <p:cNvPr id="164" name="Text 7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006 / 100</a:t>
            </a:r>
          </a:p>
        </p:txBody>
      </p:sp>
      <p:sp>
        <p:nvSpPr>
          <p:cNvPr id="165" name="Text 8"/>
          <p:cNvSpPr txBox="1"/>
          <p:nvPr/>
        </p:nvSpPr>
        <p:spPr>
          <a:xfrm>
            <a:off x="15222219" y="9672638"/>
            <a:ext cx="257048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§01 БЕЗОПАСНОСТЬ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Text 0"/>
          <p:cNvSpPr txBox="1"/>
          <p:nvPr/>
        </p:nvSpPr>
        <p:spPr>
          <a:xfrm>
            <a:off x="571499" y="380999"/>
            <a:ext cx="363684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007 §01 БЕЗОПАСНОСТЬ</a:t>
            </a:r>
          </a:p>
        </p:txBody>
      </p:sp>
      <p:sp>
        <p:nvSpPr>
          <p:cNvPr id="168" name="Text 1"/>
          <p:cNvSpPr txBox="1"/>
          <p:nvPr/>
        </p:nvSpPr>
        <p:spPr>
          <a:xfrm>
            <a:off x="16937037" y="380999"/>
            <a:ext cx="855663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ВЛАГА</a:t>
            </a:r>
          </a:p>
        </p:txBody>
      </p:sp>
      <p:sp>
        <p:nvSpPr>
          <p:cNvPr id="169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ПРАВИЛО 02</a:t>
            </a:r>
          </a:p>
        </p:txBody>
      </p:sp>
      <p:sp>
        <p:nvSpPr>
          <p:cNvPr id="170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Держите саб вдали от влаги</a:t>
            </a:r>
          </a:p>
        </p:txBody>
      </p:sp>
      <p:sp>
        <p:nvSpPr>
          <p:cNvPr id="171" name="Text 4"/>
          <p:cNvSpPr txBox="1"/>
          <p:nvPr/>
        </p:nvSpPr>
        <p:spPr>
          <a:xfrm>
            <a:off x="1143000" y="2719070"/>
            <a:ext cx="7848600" cy="1349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z="25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Все модели SUB-01 имеют класс защиты IPX0, кроме PA-Outdoor и Car Marine. Не устанавливайте саб:</a:t>
            </a:r>
          </a:p>
        </p:txBody>
      </p:sp>
      <p:sp>
        <p:nvSpPr>
          <p:cNvPr id="172" name="Text 5"/>
          <p:cNvSpPr txBox="1"/>
          <p:nvPr/>
        </p:nvSpPr>
        <p:spPr>
          <a:xfrm>
            <a:off x="1209675" y="4259262"/>
            <a:ext cx="7629525" cy="175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marL="186023" indent="-186023" defTabSz="850391">
              <a:lnSpc>
                <a:spcPct val="150000"/>
              </a:lnSpc>
              <a:buSzPct val="100000"/>
              <a:buChar char="•"/>
              <a:tabLst>
                <a:tab pos="165100" algn="l"/>
              </a:tabLst>
              <a:defRPr sz="2046" spc="-93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рядом с окнами и радиаторами</a:t>
            </a:r>
          </a:p>
          <a:p>
            <a:pPr marL="186023" indent="-186023" defTabSz="850391">
              <a:lnSpc>
                <a:spcPct val="150000"/>
              </a:lnSpc>
              <a:buSzPct val="100000"/>
              <a:buChar char="•"/>
              <a:tabLst>
                <a:tab pos="165100" algn="l"/>
              </a:tabLst>
              <a:defRPr sz="2046" spc="-93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в ванной или на кухне у плиты</a:t>
            </a:r>
          </a:p>
          <a:p>
            <a:pPr marL="186023" indent="-186023" defTabSz="850391">
              <a:lnSpc>
                <a:spcPct val="150000"/>
              </a:lnSpc>
              <a:buSzPct val="100000"/>
              <a:buChar char="•"/>
              <a:tabLst>
                <a:tab pos="165100" algn="l"/>
              </a:tabLst>
              <a:defRPr sz="2046" spc="-93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на улице без защитного кожуха</a:t>
            </a:r>
          </a:p>
          <a:p>
            <a:pPr marL="186023" indent="-186023" defTabSz="850391">
              <a:lnSpc>
                <a:spcPct val="150000"/>
              </a:lnSpc>
              <a:buSzPct val="100000"/>
              <a:buChar char="•"/>
              <a:tabLst>
                <a:tab pos="165100" algn="l"/>
              </a:tabLst>
              <a:defRPr sz="2046" spc="-93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под кондиционером с конденсатом</a:t>
            </a:r>
          </a:p>
        </p:txBody>
      </p:sp>
      <p:sp>
        <p:nvSpPr>
          <p:cNvPr id="173" name="Text 6"/>
          <p:cNvSpPr txBox="1"/>
          <p:nvPr/>
        </p:nvSpPr>
        <p:spPr>
          <a:xfrm>
            <a:off x="9525000" y="2719070"/>
            <a:ext cx="7848600" cy="108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04087">
              <a:lnSpc>
                <a:spcPct val="92000"/>
              </a:lnSpc>
              <a:defRPr sz="6929" spc="-308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IPX0</a:t>
            </a:r>
          </a:p>
        </p:txBody>
      </p:sp>
      <p:sp>
        <p:nvSpPr>
          <p:cNvPr id="174" name="Text 7"/>
          <p:cNvSpPr txBox="1"/>
          <p:nvPr/>
        </p:nvSpPr>
        <p:spPr>
          <a:xfrm>
            <a:off x="9525000" y="3884929"/>
            <a:ext cx="7848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HOME · STUDIO</a:t>
            </a:r>
          </a:p>
        </p:txBody>
      </p:sp>
      <p:sp>
        <p:nvSpPr>
          <p:cNvPr id="175" name="Shape 8"/>
          <p:cNvSpPr/>
          <p:nvPr/>
        </p:nvSpPr>
        <p:spPr>
          <a:xfrm>
            <a:off x="9525000" y="461200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6" name="Text 9"/>
          <p:cNvSpPr txBox="1"/>
          <p:nvPr/>
        </p:nvSpPr>
        <p:spPr>
          <a:xfrm>
            <a:off x="9525000" y="5080317"/>
            <a:ext cx="7848600" cy="108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04087">
              <a:lnSpc>
                <a:spcPct val="92000"/>
              </a:lnSpc>
              <a:defRPr sz="6929" spc="-308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IP54</a:t>
            </a:r>
          </a:p>
        </p:txBody>
      </p:sp>
      <p:sp>
        <p:nvSpPr>
          <p:cNvPr id="177" name="Text 10"/>
          <p:cNvSpPr txBox="1"/>
          <p:nvPr/>
        </p:nvSpPr>
        <p:spPr>
          <a:xfrm>
            <a:off x="9525000" y="6246176"/>
            <a:ext cx="7848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PA-OUTDOOR</a:t>
            </a:r>
          </a:p>
        </p:txBody>
      </p:sp>
      <p:sp>
        <p:nvSpPr>
          <p:cNvPr id="178" name="Shape 11"/>
          <p:cNvSpPr/>
          <p:nvPr/>
        </p:nvSpPr>
        <p:spPr>
          <a:xfrm>
            <a:off x="9525000" y="6973252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" name="Text 12"/>
          <p:cNvSpPr txBox="1"/>
          <p:nvPr/>
        </p:nvSpPr>
        <p:spPr>
          <a:xfrm>
            <a:off x="9525000" y="7441565"/>
            <a:ext cx="7848600" cy="10896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04087">
              <a:lnSpc>
                <a:spcPct val="92000"/>
              </a:lnSpc>
              <a:defRPr sz="6929" spc="-308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IP65</a:t>
            </a:r>
          </a:p>
        </p:txBody>
      </p:sp>
      <p:sp>
        <p:nvSpPr>
          <p:cNvPr id="180" name="Text 13"/>
          <p:cNvSpPr txBox="1"/>
          <p:nvPr/>
        </p:nvSpPr>
        <p:spPr>
          <a:xfrm>
            <a:off x="9525000" y="8607424"/>
            <a:ext cx="784860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CAR MARINE</a:t>
            </a:r>
          </a:p>
        </p:txBody>
      </p:sp>
      <p:sp>
        <p:nvSpPr>
          <p:cNvPr id="181" name="Text 14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007 / 100</a:t>
            </a:r>
          </a:p>
        </p:txBody>
      </p:sp>
      <p:sp>
        <p:nvSpPr>
          <p:cNvPr id="182" name="Text 15"/>
          <p:cNvSpPr txBox="1"/>
          <p:nvPr/>
        </p:nvSpPr>
        <p:spPr>
          <a:xfrm>
            <a:off x="15222219" y="9672638"/>
            <a:ext cx="257048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§01 БЕЗОПАСНОСТЬ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Text 0"/>
          <p:cNvSpPr txBox="1"/>
          <p:nvPr/>
        </p:nvSpPr>
        <p:spPr>
          <a:xfrm>
            <a:off x="571499" y="380999"/>
            <a:ext cx="363684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008 §01 БЕЗОПАСНОСТЬ</a:t>
            </a:r>
          </a:p>
        </p:txBody>
      </p:sp>
      <p:sp>
        <p:nvSpPr>
          <p:cNvPr id="185" name="Text 1"/>
          <p:cNvSpPr txBox="1"/>
          <p:nvPr/>
        </p:nvSpPr>
        <p:spPr>
          <a:xfrm>
            <a:off x="16157575" y="380999"/>
            <a:ext cx="1635125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41247">
              <a:defRPr sz="1656" spc="91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ВЕНТИЛЯЦИЯ</a:t>
            </a:r>
          </a:p>
        </p:txBody>
      </p:sp>
      <p:sp>
        <p:nvSpPr>
          <p:cNvPr id="186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ПРАВИЛО 03</a:t>
            </a:r>
          </a:p>
        </p:txBody>
      </p:sp>
      <p:sp>
        <p:nvSpPr>
          <p:cNvPr id="187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Оставьте вентиляцию вокруг корпуса</a:t>
            </a:r>
          </a:p>
        </p:txBody>
      </p:sp>
      <p:sp>
        <p:nvSpPr>
          <p:cNvPr id="188" name="Shape 4"/>
          <p:cNvSpPr/>
          <p:nvPr/>
        </p:nvSpPr>
        <p:spPr>
          <a:xfrm>
            <a:off x="1143000" y="3264534"/>
            <a:ext cx="7620000" cy="57150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9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571" y="3558857"/>
            <a:ext cx="6840857" cy="5126356"/>
          </a:xfrm>
          <a:prstGeom prst="rect">
            <a:avLst/>
          </a:prstGeom>
          <a:ln w="12700">
            <a:miter lim="400000"/>
          </a:ln>
        </p:spPr>
      </p:pic>
      <p:sp>
        <p:nvSpPr>
          <p:cNvPr id="190" name="Text 5"/>
          <p:cNvSpPr txBox="1"/>
          <p:nvPr/>
        </p:nvSpPr>
        <p:spPr>
          <a:xfrm>
            <a:off x="1381125" y="3464559"/>
            <a:ext cx="321138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CLEARANCE · SEE SPEC</a:t>
            </a:r>
          </a:p>
        </p:txBody>
      </p:sp>
      <p:sp>
        <p:nvSpPr>
          <p:cNvPr id="191" name="Text 6"/>
          <p:cNvSpPr txBox="1"/>
          <p:nvPr/>
        </p:nvSpPr>
        <p:spPr>
          <a:xfrm>
            <a:off x="9525000" y="3623469"/>
            <a:ext cx="7848600" cy="1349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z="25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Усилитель класса D выделяет тепло через радиатор на задней панели. Соблюдайте минимальные зазоры:</a:t>
            </a:r>
          </a:p>
        </p:txBody>
      </p:sp>
      <p:sp>
        <p:nvSpPr>
          <p:cNvPr id="192" name="Shape 7"/>
          <p:cNvSpPr/>
          <p:nvPr/>
        </p:nvSpPr>
        <p:spPr>
          <a:xfrm>
            <a:off x="9525000" y="524303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3" name="Text 8"/>
          <p:cNvSpPr txBox="1"/>
          <p:nvPr/>
        </p:nvSpPr>
        <p:spPr>
          <a:xfrm>
            <a:off x="9525000" y="541607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СЗАДИ</a:t>
            </a:r>
          </a:p>
        </p:txBody>
      </p:sp>
      <p:sp>
        <p:nvSpPr>
          <p:cNvPr id="194" name="Text 9"/>
          <p:cNvSpPr txBox="1"/>
          <p:nvPr/>
        </p:nvSpPr>
        <p:spPr>
          <a:xfrm>
            <a:off x="12725399" y="541607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≥ 20 см</a:t>
            </a:r>
          </a:p>
        </p:txBody>
      </p:sp>
      <p:sp>
        <p:nvSpPr>
          <p:cNvPr id="195" name="Shape 10"/>
          <p:cNvSpPr/>
          <p:nvPr/>
        </p:nvSpPr>
        <p:spPr>
          <a:xfrm>
            <a:off x="9525000" y="591724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6" name="Text 11"/>
          <p:cNvSpPr txBox="1"/>
          <p:nvPr/>
        </p:nvSpPr>
        <p:spPr>
          <a:xfrm>
            <a:off x="9525000" y="609028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ПО БОКАМ</a:t>
            </a:r>
          </a:p>
        </p:txBody>
      </p:sp>
      <p:sp>
        <p:nvSpPr>
          <p:cNvPr id="197" name="Text 12"/>
          <p:cNvSpPr txBox="1"/>
          <p:nvPr/>
        </p:nvSpPr>
        <p:spPr>
          <a:xfrm>
            <a:off x="12725399" y="609028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≥ 50 см</a:t>
            </a:r>
          </a:p>
        </p:txBody>
      </p:sp>
      <p:sp>
        <p:nvSpPr>
          <p:cNvPr id="198" name="Shape 13"/>
          <p:cNvSpPr/>
          <p:nvPr/>
        </p:nvSpPr>
        <p:spPr>
          <a:xfrm>
            <a:off x="9525000" y="659145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9" name="Text 14"/>
          <p:cNvSpPr txBox="1"/>
          <p:nvPr/>
        </p:nvSpPr>
        <p:spPr>
          <a:xfrm>
            <a:off x="9525000" y="6764495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СВЕРХУ</a:t>
            </a:r>
          </a:p>
        </p:txBody>
      </p:sp>
      <p:sp>
        <p:nvSpPr>
          <p:cNvPr id="200" name="Text 15"/>
          <p:cNvSpPr txBox="1"/>
          <p:nvPr/>
        </p:nvSpPr>
        <p:spPr>
          <a:xfrm>
            <a:off x="12725399" y="6764495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не накрывать</a:t>
            </a:r>
          </a:p>
        </p:txBody>
      </p:sp>
      <p:sp>
        <p:nvSpPr>
          <p:cNvPr id="201" name="Shape 16"/>
          <p:cNvSpPr/>
          <p:nvPr/>
        </p:nvSpPr>
        <p:spPr>
          <a:xfrm>
            <a:off x="9525000" y="7265670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2" name="Text 17"/>
          <p:cNvSpPr txBox="1"/>
          <p:nvPr/>
        </p:nvSpPr>
        <p:spPr>
          <a:xfrm>
            <a:off x="9525000" y="7438707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ТЕМПЕРАТУРА СРЕДЫ</a:t>
            </a:r>
          </a:p>
        </p:txBody>
      </p:sp>
      <p:sp>
        <p:nvSpPr>
          <p:cNvPr id="203" name="Text 18"/>
          <p:cNvSpPr txBox="1"/>
          <p:nvPr/>
        </p:nvSpPr>
        <p:spPr>
          <a:xfrm>
            <a:off x="12725399" y="7438707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+5…+35 °C</a:t>
            </a:r>
          </a:p>
        </p:txBody>
      </p:sp>
      <p:sp>
        <p:nvSpPr>
          <p:cNvPr id="204" name="Shape 19"/>
          <p:cNvSpPr/>
          <p:nvPr/>
        </p:nvSpPr>
        <p:spPr>
          <a:xfrm>
            <a:off x="9525000" y="860456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5" name="Shape 20"/>
          <p:cNvSpPr/>
          <p:nvPr/>
        </p:nvSpPr>
        <p:spPr>
          <a:xfrm>
            <a:off x="9525000" y="793988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6" name="Text 21"/>
          <p:cNvSpPr txBox="1"/>
          <p:nvPr/>
        </p:nvSpPr>
        <p:spPr>
          <a:xfrm>
            <a:off x="9525000" y="8112918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ВЛАЖНОСТЬ</a:t>
            </a:r>
          </a:p>
        </p:txBody>
      </p:sp>
      <p:sp>
        <p:nvSpPr>
          <p:cNvPr id="207" name="Text 22"/>
          <p:cNvSpPr txBox="1"/>
          <p:nvPr/>
        </p:nvSpPr>
        <p:spPr>
          <a:xfrm>
            <a:off x="12725399" y="8112918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20—80 % RH</a:t>
            </a:r>
          </a:p>
        </p:txBody>
      </p:sp>
      <p:sp>
        <p:nvSpPr>
          <p:cNvPr id="208" name="Text 23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008 / 100</a:t>
            </a:r>
          </a:p>
        </p:txBody>
      </p:sp>
      <p:sp>
        <p:nvSpPr>
          <p:cNvPr id="209" name="Text 24"/>
          <p:cNvSpPr txBox="1"/>
          <p:nvPr/>
        </p:nvSpPr>
        <p:spPr>
          <a:xfrm>
            <a:off x="15222219" y="9672638"/>
            <a:ext cx="257048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§01 БЕЗОПАСНОСТЬ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0"/>
          <p:cNvSpPr txBox="1"/>
          <p:nvPr/>
        </p:nvSpPr>
        <p:spPr>
          <a:xfrm>
            <a:off x="571499" y="380999"/>
            <a:ext cx="363684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009 §01 БЕЗОПАСНОСТЬ</a:t>
            </a:r>
          </a:p>
        </p:txBody>
      </p:sp>
      <p:sp>
        <p:nvSpPr>
          <p:cNvPr id="212" name="Text 1"/>
          <p:cNvSpPr txBox="1"/>
          <p:nvPr/>
        </p:nvSpPr>
        <p:spPr>
          <a:xfrm>
            <a:off x="17092930" y="380999"/>
            <a:ext cx="69977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СЛУХ</a:t>
            </a:r>
          </a:p>
        </p:txBody>
      </p:sp>
      <p:sp>
        <p:nvSpPr>
          <p:cNvPr id="213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60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ПРАВИЛО 04</a:t>
            </a:r>
          </a:p>
        </p:txBody>
      </p:sp>
      <p:sp>
        <p:nvSpPr>
          <p:cNvPr id="214" name="Text 3"/>
          <p:cNvSpPr txBox="1"/>
          <p:nvPr/>
        </p:nvSpPr>
        <p:spPr>
          <a:xfrm>
            <a:off x="1143000" y="1490662"/>
            <a:ext cx="14716125" cy="8931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77240">
              <a:lnSpc>
                <a:spcPct val="102008"/>
              </a:lnSpc>
              <a:defRPr sz="5610" spc="-17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Берегите слух при прослушивании</a:t>
            </a:r>
          </a:p>
        </p:txBody>
      </p:sp>
      <p:sp>
        <p:nvSpPr>
          <p:cNvPr id="215" name="Text 4"/>
          <p:cNvSpPr txBox="1"/>
          <p:nvPr/>
        </p:nvSpPr>
        <p:spPr>
          <a:xfrm>
            <a:off x="1143000" y="3978433"/>
            <a:ext cx="7848600" cy="179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713231">
              <a:lnSpc>
                <a:spcPct val="92000"/>
              </a:lnSpc>
              <a:defRPr sz="11699" spc="-467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85</a:t>
            </a:r>
            <a:r>
              <a:rPr sz="4680">
                <a:solidFill>
                  <a:srgbClr val="8A8A8C"/>
                </a:solidFill>
              </a:rPr>
              <a:t>дБ</a:t>
            </a:r>
          </a:p>
        </p:txBody>
      </p:sp>
      <p:sp>
        <p:nvSpPr>
          <p:cNvPr id="216" name="Text 5"/>
          <p:cNvSpPr txBox="1"/>
          <p:nvPr/>
        </p:nvSpPr>
        <p:spPr>
          <a:xfrm>
            <a:off x="1142999" y="5845333"/>
            <a:ext cx="3728086" cy="1078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0000"/>
              </a:lnSpc>
              <a:defRPr sz="2100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Безопасный уровень длительного прослушивания</a:t>
            </a:r>
          </a:p>
        </p:txBody>
      </p:sp>
      <p:sp>
        <p:nvSpPr>
          <p:cNvPr id="217" name="Text 6"/>
          <p:cNvSpPr txBox="1"/>
          <p:nvPr/>
        </p:nvSpPr>
        <p:spPr>
          <a:xfrm>
            <a:off x="1143000" y="7342662"/>
            <a:ext cx="7848600" cy="1349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35000"/>
              </a:lnSpc>
              <a:defRPr sz="2250" spc="-90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Каждые +3 дБ удваивают акустическую энергию. Длительное прослушивание выше 100 дБ вызывает необратимые повреждения слуха.</a:t>
            </a:r>
          </a:p>
        </p:txBody>
      </p:sp>
      <p:sp>
        <p:nvSpPr>
          <p:cNvPr id="218" name="Shape 7"/>
          <p:cNvSpPr/>
          <p:nvPr/>
        </p:nvSpPr>
        <p:spPr>
          <a:xfrm>
            <a:off x="9525000" y="4292123"/>
            <a:ext cx="7620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9" name="Text 8"/>
          <p:cNvSpPr txBox="1"/>
          <p:nvPr/>
        </p:nvSpPr>
        <p:spPr>
          <a:xfrm>
            <a:off x="9525000" y="4465161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85 ДБ</a:t>
            </a:r>
          </a:p>
        </p:txBody>
      </p:sp>
      <p:sp>
        <p:nvSpPr>
          <p:cNvPr id="220" name="Text 9"/>
          <p:cNvSpPr txBox="1"/>
          <p:nvPr/>
        </p:nvSpPr>
        <p:spPr>
          <a:xfrm>
            <a:off x="12725399" y="4465161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8 часов / день</a:t>
            </a:r>
          </a:p>
        </p:txBody>
      </p:sp>
      <p:sp>
        <p:nvSpPr>
          <p:cNvPr id="221" name="Shape 10"/>
          <p:cNvSpPr/>
          <p:nvPr/>
        </p:nvSpPr>
        <p:spPr>
          <a:xfrm>
            <a:off x="9525000" y="4966334"/>
            <a:ext cx="7620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2" name="Text 11"/>
          <p:cNvSpPr txBox="1"/>
          <p:nvPr/>
        </p:nvSpPr>
        <p:spPr>
          <a:xfrm>
            <a:off x="9525000" y="5139371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90 ДБ</a:t>
            </a:r>
          </a:p>
        </p:txBody>
      </p:sp>
      <p:sp>
        <p:nvSpPr>
          <p:cNvPr id="223" name="Text 12"/>
          <p:cNvSpPr txBox="1"/>
          <p:nvPr/>
        </p:nvSpPr>
        <p:spPr>
          <a:xfrm>
            <a:off x="12725399" y="5139371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 часа</a:t>
            </a:r>
          </a:p>
        </p:txBody>
      </p:sp>
      <p:sp>
        <p:nvSpPr>
          <p:cNvPr id="224" name="Shape 13"/>
          <p:cNvSpPr/>
          <p:nvPr/>
        </p:nvSpPr>
        <p:spPr>
          <a:xfrm>
            <a:off x="9525000" y="5640546"/>
            <a:ext cx="7620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5" name="Text 14"/>
          <p:cNvSpPr txBox="1"/>
          <p:nvPr/>
        </p:nvSpPr>
        <p:spPr>
          <a:xfrm>
            <a:off x="9525000" y="5813583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95 ДБ</a:t>
            </a:r>
          </a:p>
        </p:txBody>
      </p:sp>
      <p:sp>
        <p:nvSpPr>
          <p:cNvPr id="226" name="Text 15"/>
          <p:cNvSpPr txBox="1"/>
          <p:nvPr/>
        </p:nvSpPr>
        <p:spPr>
          <a:xfrm>
            <a:off x="12725399" y="5813583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 час</a:t>
            </a:r>
          </a:p>
        </p:txBody>
      </p:sp>
      <p:sp>
        <p:nvSpPr>
          <p:cNvPr id="227" name="Shape 16"/>
          <p:cNvSpPr/>
          <p:nvPr/>
        </p:nvSpPr>
        <p:spPr>
          <a:xfrm>
            <a:off x="9525000" y="6314757"/>
            <a:ext cx="7620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8" name="Text 17"/>
          <p:cNvSpPr txBox="1"/>
          <p:nvPr/>
        </p:nvSpPr>
        <p:spPr>
          <a:xfrm>
            <a:off x="9525000" y="6487795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100 ДБ</a:t>
            </a:r>
          </a:p>
        </p:txBody>
      </p:sp>
      <p:sp>
        <p:nvSpPr>
          <p:cNvPr id="229" name="Text 18"/>
          <p:cNvSpPr txBox="1"/>
          <p:nvPr/>
        </p:nvSpPr>
        <p:spPr>
          <a:xfrm>
            <a:off x="12725399" y="6487795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15 минут</a:t>
            </a:r>
          </a:p>
        </p:txBody>
      </p:sp>
      <p:sp>
        <p:nvSpPr>
          <p:cNvPr id="230" name="Shape 19"/>
          <p:cNvSpPr/>
          <p:nvPr/>
        </p:nvSpPr>
        <p:spPr>
          <a:xfrm>
            <a:off x="9525000" y="6988968"/>
            <a:ext cx="7620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1" name="Text 20"/>
          <p:cNvSpPr txBox="1"/>
          <p:nvPr/>
        </p:nvSpPr>
        <p:spPr>
          <a:xfrm>
            <a:off x="9525000" y="7162006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110 ДБ</a:t>
            </a:r>
          </a:p>
        </p:txBody>
      </p:sp>
      <p:sp>
        <p:nvSpPr>
          <p:cNvPr id="232" name="Text 21"/>
          <p:cNvSpPr txBox="1"/>
          <p:nvPr/>
        </p:nvSpPr>
        <p:spPr>
          <a:xfrm>
            <a:off x="12725399" y="7162006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 минуты</a:t>
            </a:r>
          </a:p>
        </p:txBody>
      </p:sp>
      <p:sp>
        <p:nvSpPr>
          <p:cNvPr id="233" name="Shape 22"/>
          <p:cNvSpPr/>
          <p:nvPr/>
        </p:nvSpPr>
        <p:spPr>
          <a:xfrm>
            <a:off x="9525000" y="8327866"/>
            <a:ext cx="7620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4" name="Shape 23"/>
          <p:cNvSpPr/>
          <p:nvPr/>
        </p:nvSpPr>
        <p:spPr>
          <a:xfrm>
            <a:off x="9525000" y="7663180"/>
            <a:ext cx="7620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35" name="Text 24"/>
          <p:cNvSpPr txBox="1"/>
          <p:nvPr/>
        </p:nvSpPr>
        <p:spPr>
          <a:xfrm>
            <a:off x="9525000" y="7836217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120 ДБ</a:t>
            </a:r>
          </a:p>
        </p:txBody>
      </p:sp>
      <p:sp>
        <p:nvSpPr>
          <p:cNvPr id="236" name="Text 25"/>
          <p:cNvSpPr txBox="1"/>
          <p:nvPr/>
        </p:nvSpPr>
        <p:spPr>
          <a:xfrm>
            <a:off x="12725399" y="7836217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порог боли</a:t>
            </a:r>
          </a:p>
        </p:txBody>
      </p:sp>
      <p:sp>
        <p:nvSpPr>
          <p:cNvPr id="237" name="Text 26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009 / 100</a:t>
            </a:r>
          </a:p>
        </p:txBody>
      </p:sp>
      <p:sp>
        <p:nvSpPr>
          <p:cNvPr id="238" name="Text 27"/>
          <p:cNvSpPr txBox="1"/>
          <p:nvPr/>
        </p:nvSpPr>
        <p:spPr>
          <a:xfrm>
            <a:off x="15222219" y="9672638"/>
            <a:ext cx="257048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§01 БЕЗОПАСНОСТЬ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Text 0"/>
          <p:cNvSpPr txBox="1"/>
          <p:nvPr/>
        </p:nvSpPr>
        <p:spPr>
          <a:xfrm>
            <a:off x="1143000" y="5169217"/>
            <a:ext cx="667131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РАЗДЕЛ 02</a:t>
            </a:r>
          </a:p>
        </p:txBody>
      </p:sp>
      <p:sp>
        <p:nvSpPr>
          <p:cNvPr id="241" name="Text 1"/>
          <p:cNvSpPr txBox="1"/>
          <p:nvPr/>
        </p:nvSpPr>
        <p:spPr>
          <a:xfrm>
            <a:off x="1143000" y="5707379"/>
            <a:ext cx="6671310" cy="347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40079">
              <a:lnSpc>
                <a:spcPct val="82000"/>
              </a:lnSpc>
              <a:defRPr sz="23100" spc="-133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02</a:t>
            </a:r>
          </a:p>
        </p:txBody>
      </p:sp>
      <p:sp>
        <p:nvSpPr>
          <p:cNvPr id="242" name="Text 2"/>
          <p:cNvSpPr txBox="1"/>
          <p:nvPr/>
        </p:nvSpPr>
        <p:spPr>
          <a:xfrm>
            <a:off x="8381999" y="3883024"/>
            <a:ext cx="9025892" cy="758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04999"/>
              </a:lnSpc>
              <a:defRPr sz="4860" spc="-18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Распаковка</a:t>
            </a:r>
          </a:p>
        </p:txBody>
      </p:sp>
      <p:sp>
        <p:nvSpPr>
          <p:cNvPr id="243" name="Text 3"/>
          <p:cNvSpPr txBox="1"/>
          <p:nvPr/>
        </p:nvSpPr>
        <p:spPr>
          <a:xfrm>
            <a:off x="8382000" y="4907915"/>
            <a:ext cx="6867525" cy="16840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135000"/>
              </a:lnSpc>
              <a:defRPr sz="2352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Пять минут внимания сейчас — страховка от проблем на годы. Проверьте комплект, состояние корпуса и подготовьте инструменты.</a:t>
            </a:r>
          </a:p>
        </p:txBody>
      </p:sp>
      <p:sp>
        <p:nvSpPr>
          <p:cNvPr id="244" name="Shape 4"/>
          <p:cNvSpPr/>
          <p:nvPr/>
        </p:nvSpPr>
        <p:spPr>
          <a:xfrm>
            <a:off x="8382000" y="681894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5" name="Text 5"/>
          <p:cNvSpPr txBox="1"/>
          <p:nvPr/>
        </p:nvSpPr>
        <p:spPr>
          <a:xfrm>
            <a:off x="8382000" y="6990715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011</a:t>
            </a:r>
          </a:p>
        </p:txBody>
      </p:sp>
      <p:sp>
        <p:nvSpPr>
          <p:cNvPr id="246" name="Text 6"/>
          <p:cNvSpPr txBox="1"/>
          <p:nvPr/>
        </p:nvSpPr>
        <p:spPr>
          <a:xfrm>
            <a:off x="9239249" y="6963409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Проверьте комплект</a:t>
            </a:r>
          </a:p>
        </p:txBody>
      </p:sp>
      <p:sp>
        <p:nvSpPr>
          <p:cNvPr id="247" name="Shape 7"/>
          <p:cNvSpPr/>
          <p:nvPr/>
        </p:nvSpPr>
        <p:spPr>
          <a:xfrm>
            <a:off x="8382000" y="739743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48" name="Text 8"/>
          <p:cNvSpPr txBox="1"/>
          <p:nvPr/>
        </p:nvSpPr>
        <p:spPr>
          <a:xfrm>
            <a:off x="8382000" y="7569199"/>
            <a:ext cx="93345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012</a:t>
            </a:r>
          </a:p>
        </p:txBody>
      </p:sp>
      <p:sp>
        <p:nvSpPr>
          <p:cNvPr id="249" name="Text 9"/>
          <p:cNvSpPr txBox="1"/>
          <p:nvPr/>
        </p:nvSpPr>
        <p:spPr>
          <a:xfrm>
            <a:off x="9239249" y="754189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Сохраните упаковку</a:t>
            </a:r>
          </a:p>
        </p:txBody>
      </p:sp>
      <p:sp>
        <p:nvSpPr>
          <p:cNvPr id="250" name="Shape 10"/>
          <p:cNvSpPr/>
          <p:nvPr/>
        </p:nvSpPr>
        <p:spPr>
          <a:xfrm>
            <a:off x="8382000" y="797591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1" name="Text 11"/>
          <p:cNvSpPr txBox="1"/>
          <p:nvPr/>
        </p:nvSpPr>
        <p:spPr>
          <a:xfrm>
            <a:off x="8382000" y="8147684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013</a:t>
            </a:r>
          </a:p>
        </p:txBody>
      </p:sp>
      <p:sp>
        <p:nvSpPr>
          <p:cNvPr id="252" name="Text 12"/>
          <p:cNvSpPr txBox="1"/>
          <p:nvPr/>
        </p:nvSpPr>
        <p:spPr>
          <a:xfrm>
            <a:off x="9239249" y="812038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Осмотрите корпус</a:t>
            </a:r>
          </a:p>
        </p:txBody>
      </p:sp>
      <p:sp>
        <p:nvSpPr>
          <p:cNvPr id="253" name="Shape 13"/>
          <p:cNvSpPr/>
          <p:nvPr/>
        </p:nvSpPr>
        <p:spPr>
          <a:xfrm>
            <a:off x="8382000" y="913288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4" name="Shape 14"/>
          <p:cNvSpPr/>
          <p:nvPr/>
        </p:nvSpPr>
        <p:spPr>
          <a:xfrm>
            <a:off x="8382000" y="855440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55" name="Text 15"/>
          <p:cNvSpPr txBox="1"/>
          <p:nvPr/>
        </p:nvSpPr>
        <p:spPr>
          <a:xfrm>
            <a:off x="8382000" y="872616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014</a:t>
            </a:r>
          </a:p>
        </p:txBody>
      </p:sp>
      <p:sp>
        <p:nvSpPr>
          <p:cNvPr id="256" name="Text 16"/>
          <p:cNvSpPr txBox="1"/>
          <p:nvPr/>
        </p:nvSpPr>
        <p:spPr>
          <a:xfrm>
            <a:off x="9239249" y="8698865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Подготовьте инструменты</a:t>
            </a:r>
          </a:p>
        </p:txBody>
      </p:sp>
      <p:sp>
        <p:nvSpPr>
          <p:cNvPr id="257" name="Text 17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010 / 100</a:t>
            </a:r>
          </a:p>
        </p:txBody>
      </p:sp>
      <p:sp>
        <p:nvSpPr>
          <p:cNvPr id="258" name="Text 18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§02 РАСПАКОВКА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011 §02 РАСПАКОВКА</a:t>
            </a:r>
          </a:p>
        </p:txBody>
      </p:sp>
      <p:sp>
        <p:nvSpPr>
          <p:cNvPr id="261" name="Text 1"/>
          <p:cNvSpPr txBox="1"/>
          <p:nvPr/>
        </p:nvSpPr>
        <p:spPr>
          <a:xfrm>
            <a:off x="16469360" y="380999"/>
            <a:ext cx="132334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41247">
              <a:defRPr sz="1656" spc="91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КОМПЛЕКТ</a:t>
            </a:r>
          </a:p>
        </p:txBody>
      </p:sp>
      <p:sp>
        <p:nvSpPr>
          <p:cNvPr id="262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ЧТО В КОРОБКЕ</a:t>
            </a:r>
          </a:p>
        </p:txBody>
      </p:sp>
      <p:sp>
        <p:nvSpPr>
          <p:cNvPr id="263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Проверьте комплект поставки</a:t>
            </a:r>
          </a:p>
        </p:txBody>
      </p:sp>
      <p:sp>
        <p:nvSpPr>
          <p:cNvPr id="264" name="Shape 4"/>
          <p:cNvSpPr/>
          <p:nvPr/>
        </p:nvSpPr>
        <p:spPr>
          <a:xfrm>
            <a:off x="1143000" y="2795270"/>
            <a:ext cx="4978400" cy="298704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5" name="Text 5"/>
          <p:cNvSpPr txBox="1"/>
          <p:nvPr/>
        </p:nvSpPr>
        <p:spPr>
          <a:xfrm>
            <a:off x="1381124" y="2995295"/>
            <a:ext cx="38798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pic>
        <p:nvPicPr>
          <p:cNvPr id="26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0329" y="3695224"/>
            <a:ext cx="1983741" cy="1187133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Text 6"/>
          <p:cNvSpPr txBox="1"/>
          <p:nvPr/>
        </p:nvSpPr>
        <p:spPr>
          <a:xfrm>
            <a:off x="1142999" y="5972809"/>
            <a:ext cx="5127754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 · САБ SUB-01</a:t>
            </a:r>
          </a:p>
        </p:txBody>
      </p:sp>
      <p:sp>
        <p:nvSpPr>
          <p:cNvPr id="268" name="Shape 7"/>
          <p:cNvSpPr/>
          <p:nvPr/>
        </p:nvSpPr>
        <p:spPr>
          <a:xfrm>
            <a:off x="6654800" y="2795270"/>
            <a:ext cx="4978400" cy="298704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69" name="Text 8"/>
          <p:cNvSpPr txBox="1"/>
          <p:nvPr/>
        </p:nvSpPr>
        <p:spPr>
          <a:xfrm>
            <a:off x="6892924" y="2995295"/>
            <a:ext cx="38798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pic>
        <p:nvPicPr>
          <p:cNvPr id="270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0179" y="3472655"/>
            <a:ext cx="2727644" cy="1632269"/>
          </a:xfrm>
          <a:prstGeom prst="rect">
            <a:avLst/>
          </a:prstGeom>
          <a:ln w="12700">
            <a:miter lim="400000"/>
          </a:ln>
        </p:spPr>
      </p:pic>
      <p:sp>
        <p:nvSpPr>
          <p:cNvPr id="271" name="Text 9"/>
          <p:cNvSpPr txBox="1"/>
          <p:nvPr/>
        </p:nvSpPr>
        <p:spPr>
          <a:xfrm>
            <a:off x="6654799" y="5972809"/>
            <a:ext cx="5127754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 · КАБЕЛЬ ПИТАНИЯ</a:t>
            </a:r>
          </a:p>
        </p:txBody>
      </p:sp>
      <p:sp>
        <p:nvSpPr>
          <p:cNvPr id="272" name="Shape 10"/>
          <p:cNvSpPr/>
          <p:nvPr/>
        </p:nvSpPr>
        <p:spPr>
          <a:xfrm>
            <a:off x="12166600" y="2795270"/>
            <a:ext cx="4978400" cy="298704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3" name="Text 11"/>
          <p:cNvSpPr txBox="1"/>
          <p:nvPr/>
        </p:nvSpPr>
        <p:spPr>
          <a:xfrm>
            <a:off x="12404724" y="2995295"/>
            <a:ext cx="38798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pic>
        <p:nvPicPr>
          <p:cNvPr id="274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91979" y="3472655"/>
            <a:ext cx="2727644" cy="1632269"/>
          </a:xfrm>
          <a:prstGeom prst="rect">
            <a:avLst/>
          </a:prstGeom>
          <a:ln w="12700">
            <a:miter lim="400000"/>
          </a:ln>
        </p:spPr>
      </p:pic>
      <p:sp>
        <p:nvSpPr>
          <p:cNvPr id="275" name="Text 12"/>
          <p:cNvSpPr txBox="1"/>
          <p:nvPr/>
        </p:nvSpPr>
        <p:spPr>
          <a:xfrm>
            <a:off x="12166599" y="5972809"/>
            <a:ext cx="5127754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 · RCA 3 М</a:t>
            </a:r>
          </a:p>
        </p:txBody>
      </p:sp>
      <p:sp>
        <p:nvSpPr>
          <p:cNvPr id="276" name="Shape 13"/>
          <p:cNvSpPr/>
          <p:nvPr/>
        </p:nvSpPr>
        <p:spPr>
          <a:xfrm>
            <a:off x="1143000" y="6777672"/>
            <a:ext cx="4978400" cy="298704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77" name="Text 14"/>
          <p:cNvSpPr txBox="1"/>
          <p:nvPr/>
        </p:nvSpPr>
        <p:spPr>
          <a:xfrm>
            <a:off x="1381124" y="6977697"/>
            <a:ext cx="38798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pic>
        <p:nvPicPr>
          <p:cNvPr id="278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68378" y="7455058"/>
            <a:ext cx="2727644" cy="1632269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Text 15"/>
          <p:cNvSpPr txBox="1"/>
          <p:nvPr/>
        </p:nvSpPr>
        <p:spPr>
          <a:xfrm>
            <a:off x="1142999" y="9955211"/>
            <a:ext cx="5127754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 · ПУЛЬТ ДУ</a:t>
            </a:r>
          </a:p>
        </p:txBody>
      </p:sp>
      <p:sp>
        <p:nvSpPr>
          <p:cNvPr id="280" name="Shape 16"/>
          <p:cNvSpPr/>
          <p:nvPr/>
        </p:nvSpPr>
        <p:spPr>
          <a:xfrm>
            <a:off x="6654800" y="6777672"/>
            <a:ext cx="4978400" cy="298704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1" name="Text 17"/>
          <p:cNvSpPr txBox="1"/>
          <p:nvPr/>
        </p:nvSpPr>
        <p:spPr>
          <a:xfrm>
            <a:off x="6892924" y="6977697"/>
            <a:ext cx="38798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</a:t>
            </a:r>
          </a:p>
        </p:txBody>
      </p:sp>
      <p:pic>
        <p:nvPicPr>
          <p:cNvPr id="282" name="Image 4" descr="Image 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80179" y="7455058"/>
            <a:ext cx="2727644" cy="1632269"/>
          </a:xfrm>
          <a:prstGeom prst="rect">
            <a:avLst/>
          </a:prstGeom>
          <a:ln w="12700">
            <a:miter lim="400000"/>
          </a:ln>
        </p:spPr>
      </p:pic>
      <p:sp>
        <p:nvSpPr>
          <p:cNvPr id="283" name="Text 18"/>
          <p:cNvSpPr txBox="1"/>
          <p:nvPr/>
        </p:nvSpPr>
        <p:spPr>
          <a:xfrm>
            <a:off x="6654799" y="9955211"/>
            <a:ext cx="5127754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 · КАЛИБ. МИКРОФОН</a:t>
            </a:r>
          </a:p>
        </p:txBody>
      </p:sp>
      <p:sp>
        <p:nvSpPr>
          <p:cNvPr id="284" name="Shape 19"/>
          <p:cNvSpPr/>
          <p:nvPr/>
        </p:nvSpPr>
        <p:spPr>
          <a:xfrm>
            <a:off x="12166600" y="6777672"/>
            <a:ext cx="4978400" cy="298704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85" name="Text 20"/>
          <p:cNvSpPr txBox="1"/>
          <p:nvPr/>
        </p:nvSpPr>
        <p:spPr>
          <a:xfrm>
            <a:off x="12404724" y="6977697"/>
            <a:ext cx="38798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06</a:t>
            </a:r>
          </a:p>
        </p:txBody>
      </p:sp>
      <p:pic>
        <p:nvPicPr>
          <p:cNvPr id="286" name="Image 5" descr="Image 5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291979" y="7455058"/>
            <a:ext cx="2727644" cy="1632269"/>
          </a:xfrm>
          <a:prstGeom prst="rect">
            <a:avLst/>
          </a:prstGeom>
          <a:ln w="12700">
            <a:miter lim="400000"/>
          </a:ln>
        </p:spPr>
      </p:pic>
      <p:sp>
        <p:nvSpPr>
          <p:cNvPr id="287" name="Text 21"/>
          <p:cNvSpPr txBox="1"/>
          <p:nvPr/>
        </p:nvSpPr>
        <p:spPr>
          <a:xfrm>
            <a:off x="12166599" y="9955211"/>
            <a:ext cx="5127754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06 · ЭТА ИНСТРУКЦИЯ</a:t>
            </a:r>
          </a:p>
        </p:txBody>
      </p:sp>
      <p:sp>
        <p:nvSpPr>
          <p:cNvPr id="288" name="Text 22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011 / 100</a:t>
            </a:r>
          </a:p>
        </p:txBody>
      </p:sp>
      <p:sp>
        <p:nvSpPr>
          <p:cNvPr id="289" name="Text 23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§02 РАСПАКОВКА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012 §02 РАСПАКОВКА</a:t>
            </a:r>
          </a:p>
        </p:txBody>
      </p:sp>
      <p:sp>
        <p:nvSpPr>
          <p:cNvPr id="292" name="Text 1"/>
          <p:cNvSpPr txBox="1"/>
          <p:nvPr/>
        </p:nvSpPr>
        <p:spPr>
          <a:xfrm>
            <a:off x="16469360" y="380999"/>
            <a:ext cx="132334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defRPr sz="1692" spc="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УПАКОВКА</a:t>
            </a:r>
          </a:p>
        </p:txBody>
      </p:sp>
      <p:sp>
        <p:nvSpPr>
          <p:cNvPr id="293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СОВЕТ</a:t>
            </a:r>
          </a:p>
        </p:txBody>
      </p:sp>
      <p:sp>
        <p:nvSpPr>
          <p:cNvPr id="294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Сохраните оригинальную упаковку</a:t>
            </a:r>
          </a:p>
        </p:txBody>
      </p:sp>
      <p:sp>
        <p:nvSpPr>
          <p:cNvPr id="295" name="Text 4"/>
          <p:cNvSpPr txBox="1"/>
          <p:nvPr/>
        </p:nvSpPr>
        <p:spPr>
          <a:xfrm>
            <a:off x="1143000" y="4551045"/>
            <a:ext cx="7848600" cy="1786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135000"/>
              </a:lnSpc>
              <a:defRPr sz="2475" spc="-98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Транспортировка без фирменного пенопласта — частая причина повреждений драйвера и фазоинвертора. Сохраните коробку хотя бы на первые 30 дней для:</a:t>
            </a:r>
          </a:p>
        </p:txBody>
      </p:sp>
      <p:sp>
        <p:nvSpPr>
          <p:cNvPr id="296" name="Text 5"/>
          <p:cNvSpPr txBox="1"/>
          <p:nvPr/>
        </p:nvSpPr>
        <p:spPr>
          <a:xfrm>
            <a:off x="1209675" y="6528434"/>
            <a:ext cx="7629525" cy="1323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marL="192023" indent="-192023" defTabSz="877823">
              <a:lnSpc>
                <a:spcPct val="150000"/>
              </a:lnSpc>
              <a:buSzPct val="100000"/>
              <a:buChar char="•"/>
              <a:tabLst>
                <a:tab pos="177800" algn="l"/>
              </a:tabLst>
              <a:defRPr sz="2112" spc="-96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возврата по гарантии</a:t>
            </a:r>
          </a:p>
          <a:p>
            <a:pPr marL="192023" indent="-192023" defTabSz="877823">
              <a:lnSpc>
                <a:spcPct val="150000"/>
              </a:lnSpc>
              <a:buSzPct val="100000"/>
              <a:buChar char="•"/>
              <a:tabLst>
                <a:tab pos="177800" algn="l"/>
              </a:tabLst>
              <a:defRPr sz="2112" spc="-96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сервисного обслуживания</a:t>
            </a:r>
          </a:p>
          <a:p>
            <a:pPr marL="192023" indent="-192023" defTabSz="877823">
              <a:lnSpc>
                <a:spcPct val="150000"/>
              </a:lnSpc>
              <a:buSzPct val="100000"/>
              <a:buChar char="•"/>
              <a:tabLst>
                <a:tab pos="177800" algn="l"/>
              </a:tabLst>
              <a:defRPr sz="2112" spc="-96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переезда и перевозки</a:t>
            </a:r>
          </a:p>
        </p:txBody>
      </p:sp>
      <p:sp>
        <p:nvSpPr>
          <p:cNvPr id="297" name="Shape 6"/>
          <p:cNvSpPr/>
          <p:nvPr/>
        </p:nvSpPr>
        <p:spPr>
          <a:xfrm>
            <a:off x="9525000" y="2719069"/>
            <a:ext cx="7620000" cy="6927217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9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643" y="3592036"/>
            <a:ext cx="5700714" cy="5181125"/>
          </a:xfrm>
          <a:prstGeom prst="rect">
            <a:avLst/>
          </a:prstGeom>
          <a:ln w="12700">
            <a:miter lim="400000"/>
          </a:ln>
        </p:spPr>
      </p:pic>
      <p:sp>
        <p:nvSpPr>
          <p:cNvPr id="299" name="Text 7"/>
          <p:cNvSpPr txBox="1"/>
          <p:nvPr/>
        </p:nvSpPr>
        <p:spPr>
          <a:xfrm>
            <a:off x="9763124" y="2919095"/>
            <a:ext cx="289024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ORIGINAL PACKAGING</a:t>
            </a:r>
          </a:p>
        </p:txBody>
      </p:sp>
      <p:sp>
        <p:nvSpPr>
          <p:cNvPr id="300" name="Text 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012 / 100</a:t>
            </a:r>
          </a:p>
        </p:txBody>
      </p:sp>
      <p:sp>
        <p:nvSpPr>
          <p:cNvPr id="301" name="Text 9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§02 РАСПАКОВКА</a:t>
            </a:r>
          </a:p>
        </p:txBody>
      </p:sp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013 §02 РАСПАКОВКА</a:t>
            </a:r>
          </a:p>
        </p:txBody>
      </p:sp>
      <p:sp>
        <p:nvSpPr>
          <p:cNvPr id="304" name="Text 1"/>
          <p:cNvSpPr txBox="1"/>
          <p:nvPr/>
        </p:nvSpPr>
        <p:spPr>
          <a:xfrm>
            <a:off x="16781144" y="380999"/>
            <a:ext cx="1011556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22959">
              <a:defRPr sz="1619" spc="89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ОСМОТР</a:t>
            </a:r>
          </a:p>
        </p:txBody>
      </p:sp>
      <p:sp>
        <p:nvSpPr>
          <p:cNvPr id="305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ЧТО ПРОВЕРИТЬ</a:t>
            </a:r>
          </a:p>
        </p:txBody>
      </p:sp>
      <p:sp>
        <p:nvSpPr>
          <p:cNvPr id="306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Осмотрите корпус до установки</a:t>
            </a:r>
          </a:p>
        </p:txBody>
      </p:sp>
      <p:sp>
        <p:nvSpPr>
          <p:cNvPr id="307" name="Shape 4"/>
          <p:cNvSpPr/>
          <p:nvPr/>
        </p:nvSpPr>
        <p:spPr>
          <a:xfrm>
            <a:off x="1143000" y="279368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08" name="Text 5"/>
          <p:cNvSpPr txBox="1"/>
          <p:nvPr/>
        </p:nvSpPr>
        <p:spPr>
          <a:xfrm>
            <a:off x="1143000" y="307673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309" name="Text 6"/>
          <p:cNvSpPr txBox="1"/>
          <p:nvPr/>
        </p:nvSpPr>
        <p:spPr>
          <a:xfrm>
            <a:off x="2285999" y="3033871"/>
            <a:ext cx="7517326" cy="39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fontScale="925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Ищите сколы шпона или вмятины на углах корпуса</a:t>
            </a:r>
          </a:p>
        </p:txBody>
      </p:sp>
      <p:sp>
        <p:nvSpPr>
          <p:cNvPr id="310" name="Text 7"/>
          <p:cNvSpPr txBox="1"/>
          <p:nvPr/>
        </p:nvSpPr>
        <p:spPr>
          <a:xfrm>
            <a:off x="2286000" y="3486784"/>
            <a:ext cx="15304770" cy="372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1900" spc="-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Транспортные повреждения видно сразу — не выбрасывайте упаковку до осмотра</a:t>
            </a:r>
          </a:p>
        </p:txBody>
      </p:sp>
      <p:sp>
        <p:nvSpPr>
          <p:cNvPr id="311" name="Shape 8"/>
          <p:cNvSpPr/>
          <p:nvPr/>
        </p:nvSpPr>
        <p:spPr>
          <a:xfrm>
            <a:off x="1143000" y="4295775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2" name="Text 9"/>
          <p:cNvSpPr txBox="1"/>
          <p:nvPr/>
        </p:nvSpPr>
        <p:spPr>
          <a:xfrm>
            <a:off x="1143000" y="4578825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313" name="Text 10"/>
          <p:cNvSpPr txBox="1"/>
          <p:nvPr/>
        </p:nvSpPr>
        <p:spPr>
          <a:xfrm>
            <a:off x="2285999" y="4535963"/>
            <a:ext cx="6476405" cy="39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fontScale="925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Проверьте диффузор на разрывы и заломы</a:t>
            </a:r>
          </a:p>
        </p:txBody>
      </p:sp>
      <p:sp>
        <p:nvSpPr>
          <p:cNvPr id="314" name="Text 11"/>
          <p:cNvSpPr txBox="1"/>
          <p:nvPr/>
        </p:nvSpPr>
        <p:spPr>
          <a:xfrm>
            <a:off x="2286000" y="4988876"/>
            <a:ext cx="15304770" cy="372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1900" spc="-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Нажмите пальцем в центре — движение должно быть ровным, без щелчков</a:t>
            </a:r>
          </a:p>
        </p:txBody>
      </p:sp>
      <p:sp>
        <p:nvSpPr>
          <p:cNvPr id="315" name="Shape 12"/>
          <p:cNvSpPr/>
          <p:nvPr/>
        </p:nvSpPr>
        <p:spPr>
          <a:xfrm>
            <a:off x="1143000" y="579786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16" name="Text 13"/>
          <p:cNvSpPr txBox="1"/>
          <p:nvPr/>
        </p:nvSpPr>
        <p:spPr>
          <a:xfrm>
            <a:off x="1143000" y="6080919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317" name="Text 14"/>
          <p:cNvSpPr txBox="1"/>
          <p:nvPr/>
        </p:nvSpPr>
        <p:spPr>
          <a:xfrm>
            <a:off x="2286000" y="6038055"/>
            <a:ext cx="6729194" cy="39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fontScale="925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Осмотрите клеммы и разъёмы задней панели</a:t>
            </a:r>
          </a:p>
        </p:txBody>
      </p:sp>
      <p:sp>
        <p:nvSpPr>
          <p:cNvPr id="318" name="Text 15"/>
          <p:cNvSpPr txBox="1"/>
          <p:nvPr/>
        </p:nvSpPr>
        <p:spPr>
          <a:xfrm>
            <a:off x="2286000" y="6490970"/>
            <a:ext cx="15304770" cy="372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1900" spc="-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Все контакты должны быть чистыми, без следов окисления или деформации</a:t>
            </a:r>
          </a:p>
        </p:txBody>
      </p:sp>
      <p:sp>
        <p:nvSpPr>
          <p:cNvPr id="319" name="Shape 16"/>
          <p:cNvSpPr/>
          <p:nvPr/>
        </p:nvSpPr>
        <p:spPr>
          <a:xfrm>
            <a:off x="1143000" y="853535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0" name="Shape 17"/>
          <p:cNvSpPr/>
          <p:nvPr/>
        </p:nvSpPr>
        <p:spPr>
          <a:xfrm>
            <a:off x="1143000" y="7299959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21" name="Text 18"/>
          <p:cNvSpPr txBox="1"/>
          <p:nvPr/>
        </p:nvSpPr>
        <p:spPr>
          <a:xfrm>
            <a:off x="1143000" y="7583012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322" name="Text 19"/>
          <p:cNvSpPr txBox="1"/>
          <p:nvPr/>
        </p:nvSpPr>
        <p:spPr>
          <a:xfrm>
            <a:off x="2286000" y="7540149"/>
            <a:ext cx="8063946" cy="39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fontScale="925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Убедитесь, что серийный номер совпадает с коробкой</a:t>
            </a:r>
          </a:p>
        </p:txBody>
      </p:sp>
      <p:sp>
        <p:nvSpPr>
          <p:cNvPr id="323" name="Text 20"/>
          <p:cNvSpPr txBox="1"/>
          <p:nvPr/>
        </p:nvSpPr>
        <p:spPr>
          <a:xfrm>
            <a:off x="2286000" y="7993063"/>
            <a:ext cx="15304770" cy="372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1900" spc="-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Он понадобится для регистрации гарантии в ближайшие 30 дней</a:t>
            </a:r>
          </a:p>
        </p:txBody>
      </p:sp>
      <p:sp>
        <p:nvSpPr>
          <p:cNvPr id="324" name="Text 21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013 / 100</a:t>
            </a:r>
          </a:p>
        </p:txBody>
      </p:sp>
      <p:sp>
        <p:nvSpPr>
          <p:cNvPr id="325" name="Text 22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§02 РАСПАКОВКА</a:t>
            </a:r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014 §02 РАСПАКОВКА</a:t>
            </a:r>
          </a:p>
        </p:txBody>
      </p:sp>
      <p:sp>
        <p:nvSpPr>
          <p:cNvPr id="328" name="Text 1"/>
          <p:cNvSpPr txBox="1"/>
          <p:nvPr/>
        </p:nvSpPr>
        <p:spPr>
          <a:xfrm>
            <a:off x="16001683" y="380999"/>
            <a:ext cx="179101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22959">
              <a:defRPr sz="1619" spc="89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ИНСТРУМЕНТЫ</a:t>
            </a:r>
          </a:p>
        </p:txBody>
      </p:sp>
      <p:sp>
        <p:nvSpPr>
          <p:cNvPr id="329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ЧТО ПОНАДОБИТСЯ</a:t>
            </a:r>
          </a:p>
        </p:txBody>
      </p:sp>
      <p:sp>
        <p:nvSpPr>
          <p:cNvPr id="330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Подготовьте инструменты</a:t>
            </a:r>
          </a:p>
        </p:txBody>
      </p:sp>
      <p:sp>
        <p:nvSpPr>
          <p:cNvPr id="331" name="Shape 4"/>
          <p:cNvSpPr/>
          <p:nvPr/>
        </p:nvSpPr>
        <p:spPr>
          <a:xfrm>
            <a:off x="1143000" y="2871470"/>
            <a:ext cx="3657600" cy="36576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3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199" y="3699669"/>
            <a:ext cx="2001204" cy="2001203"/>
          </a:xfrm>
          <a:prstGeom prst="rect">
            <a:avLst/>
          </a:prstGeom>
          <a:ln w="12700">
            <a:miter lim="400000"/>
          </a:ln>
        </p:spPr>
      </p:pic>
      <p:sp>
        <p:nvSpPr>
          <p:cNvPr id="333" name="Text 5"/>
          <p:cNvSpPr txBox="1"/>
          <p:nvPr/>
        </p:nvSpPr>
        <p:spPr>
          <a:xfrm>
            <a:off x="1381124" y="3071495"/>
            <a:ext cx="38798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334" name="Text 6"/>
          <p:cNvSpPr txBox="1"/>
          <p:nvPr/>
        </p:nvSpPr>
        <p:spPr>
          <a:xfrm>
            <a:off x="1142999" y="6719569"/>
            <a:ext cx="376733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ОТВЁРТКА PH1</a:t>
            </a:r>
          </a:p>
        </p:txBody>
      </p:sp>
      <p:sp>
        <p:nvSpPr>
          <p:cNvPr id="335" name="Text 7"/>
          <p:cNvSpPr txBox="1"/>
          <p:nvPr/>
        </p:nvSpPr>
        <p:spPr>
          <a:xfrm>
            <a:off x="1142999" y="7181532"/>
            <a:ext cx="3767330" cy="398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2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Для клемм high-level</a:t>
            </a:r>
          </a:p>
        </p:txBody>
      </p:sp>
      <p:sp>
        <p:nvSpPr>
          <p:cNvPr id="336" name="Shape 8"/>
          <p:cNvSpPr/>
          <p:nvPr/>
        </p:nvSpPr>
        <p:spPr>
          <a:xfrm>
            <a:off x="5257800" y="2871470"/>
            <a:ext cx="3657600" cy="36576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37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5999" y="3699669"/>
            <a:ext cx="2001204" cy="2001203"/>
          </a:xfrm>
          <a:prstGeom prst="rect">
            <a:avLst/>
          </a:prstGeom>
          <a:ln w="12700">
            <a:miter lim="400000"/>
          </a:ln>
        </p:spPr>
      </p:pic>
      <p:sp>
        <p:nvSpPr>
          <p:cNvPr id="338" name="Text 9"/>
          <p:cNvSpPr txBox="1"/>
          <p:nvPr/>
        </p:nvSpPr>
        <p:spPr>
          <a:xfrm>
            <a:off x="5495924" y="3071495"/>
            <a:ext cx="38798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339" name="Text 10"/>
          <p:cNvSpPr txBox="1"/>
          <p:nvPr/>
        </p:nvSpPr>
        <p:spPr>
          <a:xfrm>
            <a:off x="5257799" y="6719569"/>
            <a:ext cx="376733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РУЛЕТКА</a:t>
            </a:r>
          </a:p>
        </p:txBody>
      </p:sp>
      <p:sp>
        <p:nvSpPr>
          <p:cNvPr id="340" name="Text 11"/>
          <p:cNvSpPr txBox="1"/>
          <p:nvPr/>
        </p:nvSpPr>
        <p:spPr>
          <a:xfrm>
            <a:off x="5257799" y="7181532"/>
            <a:ext cx="3767330" cy="398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2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Для расчёта позиции</a:t>
            </a:r>
          </a:p>
        </p:txBody>
      </p:sp>
      <p:sp>
        <p:nvSpPr>
          <p:cNvPr id="341" name="Shape 12"/>
          <p:cNvSpPr/>
          <p:nvPr/>
        </p:nvSpPr>
        <p:spPr>
          <a:xfrm>
            <a:off x="9372600" y="2871470"/>
            <a:ext cx="3657600" cy="36576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42" name="Image 2" descr="Imag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0798" y="3699669"/>
            <a:ext cx="2001204" cy="2001203"/>
          </a:xfrm>
          <a:prstGeom prst="rect">
            <a:avLst/>
          </a:prstGeom>
          <a:ln w="12700">
            <a:miter lim="400000"/>
          </a:ln>
        </p:spPr>
      </p:pic>
      <p:sp>
        <p:nvSpPr>
          <p:cNvPr id="343" name="Text 13"/>
          <p:cNvSpPr txBox="1"/>
          <p:nvPr/>
        </p:nvSpPr>
        <p:spPr>
          <a:xfrm>
            <a:off x="9610724" y="3071495"/>
            <a:ext cx="38798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344" name="Text 14"/>
          <p:cNvSpPr txBox="1"/>
          <p:nvPr/>
        </p:nvSpPr>
        <p:spPr>
          <a:xfrm>
            <a:off x="9372599" y="6719569"/>
            <a:ext cx="376733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СМАРТФОН + SPL-APP</a:t>
            </a:r>
          </a:p>
        </p:txBody>
      </p:sp>
      <p:sp>
        <p:nvSpPr>
          <p:cNvPr id="345" name="Text 15"/>
          <p:cNvSpPr txBox="1"/>
          <p:nvPr/>
        </p:nvSpPr>
        <p:spPr>
          <a:xfrm>
            <a:off x="9372599" y="7181532"/>
            <a:ext cx="3767330" cy="398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2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Для базовых замеров</a:t>
            </a:r>
          </a:p>
        </p:txBody>
      </p:sp>
      <p:sp>
        <p:nvSpPr>
          <p:cNvPr id="346" name="Shape 16"/>
          <p:cNvSpPr/>
          <p:nvPr/>
        </p:nvSpPr>
        <p:spPr>
          <a:xfrm>
            <a:off x="13487400" y="2871470"/>
            <a:ext cx="3657600" cy="36576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47" name="Image 3" descr="Image 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315597" y="3699669"/>
            <a:ext cx="2001204" cy="2001203"/>
          </a:xfrm>
          <a:prstGeom prst="rect">
            <a:avLst/>
          </a:prstGeom>
          <a:ln w="12700">
            <a:miter lim="400000"/>
          </a:ln>
        </p:spPr>
      </p:pic>
      <p:sp>
        <p:nvSpPr>
          <p:cNvPr id="348" name="Text 17"/>
          <p:cNvSpPr txBox="1"/>
          <p:nvPr/>
        </p:nvSpPr>
        <p:spPr>
          <a:xfrm>
            <a:off x="13725524" y="3071495"/>
            <a:ext cx="38798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349" name="Text 18"/>
          <p:cNvSpPr txBox="1"/>
          <p:nvPr/>
        </p:nvSpPr>
        <p:spPr>
          <a:xfrm>
            <a:off x="13487399" y="6719569"/>
            <a:ext cx="376733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ИЗОЛЯТОРЫ</a:t>
            </a:r>
          </a:p>
        </p:txBody>
      </p:sp>
      <p:sp>
        <p:nvSpPr>
          <p:cNvPr id="350" name="Text 19"/>
          <p:cNvSpPr txBox="1"/>
          <p:nvPr/>
        </p:nvSpPr>
        <p:spPr>
          <a:xfrm>
            <a:off x="13487399" y="7181532"/>
            <a:ext cx="3767330" cy="398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2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Для развязки от пола</a:t>
            </a:r>
          </a:p>
        </p:txBody>
      </p:sp>
      <p:sp>
        <p:nvSpPr>
          <p:cNvPr id="351" name="Text 20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014 / 100</a:t>
            </a:r>
          </a:p>
        </p:txBody>
      </p:sp>
      <p:sp>
        <p:nvSpPr>
          <p:cNvPr id="352" name="Text 21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§02 РАСПАКОВКА</a:t>
            </a:r>
          </a:p>
        </p:txBody>
      </p:sp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Text 0"/>
          <p:cNvSpPr txBox="1"/>
          <p:nvPr/>
        </p:nvSpPr>
        <p:spPr>
          <a:xfrm>
            <a:off x="1143000" y="5169217"/>
            <a:ext cx="667131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РАЗДЕЛ 03</a:t>
            </a:r>
          </a:p>
        </p:txBody>
      </p:sp>
      <p:sp>
        <p:nvSpPr>
          <p:cNvPr id="355" name="Text 1"/>
          <p:cNvSpPr txBox="1"/>
          <p:nvPr/>
        </p:nvSpPr>
        <p:spPr>
          <a:xfrm>
            <a:off x="1143000" y="5707379"/>
            <a:ext cx="6671310" cy="347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40079">
              <a:lnSpc>
                <a:spcPct val="82000"/>
              </a:lnSpc>
              <a:defRPr sz="23100" spc="-133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03</a:t>
            </a:r>
          </a:p>
        </p:txBody>
      </p:sp>
      <p:sp>
        <p:nvSpPr>
          <p:cNvPr id="356" name="Text 2"/>
          <p:cNvSpPr txBox="1"/>
          <p:nvPr/>
        </p:nvSpPr>
        <p:spPr>
          <a:xfrm>
            <a:off x="8381999" y="1260474"/>
            <a:ext cx="9025892" cy="14782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4999"/>
              </a:lnSpc>
              <a:defRPr sz="5400" spc="-2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Компоненты и схема</a:t>
            </a:r>
          </a:p>
        </p:txBody>
      </p:sp>
      <p:sp>
        <p:nvSpPr>
          <p:cNvPr id="357" name="Text 3"/>
          <p:cNvSpPr txBox="1"/>
          <p:nvPr/>
        </p:nvSpPr>
        <p:spPr>
          <a:xfrm>
            <a:off x="8382000" y="3005454"/>
            <a:ext cx="6867525" cy="1272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35000"/>
              </a:lnSpc>
              <a:defRPr sz="2136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lang="ru-RU" dirty="0"/>
              <a:t>Восемь</a:t>
            </a:r>
            <a:r>
              <a:rPr dirty="0"/>
              <a:t> </a:t>
            </a:r>
            <a:r>
              <a:rPr dirty="0" err="1"/>
              <a:t>страниц</a:t>
            </a:r>
            <a:r>
              <a:rPr dirty="0"/>
              <a:t> </a:t>
            </a:r>
            <a:r>
              <a:rPr dirty="0" err="1"/>
              <a:t>анатомии</a:t>
            </a:r>
            <a:r>
              <a:rPr dirty="0"/>
              <a:t>: </a:t>
            </a:r>
            <a:r>
              <a:rPr dirty="0" err="1"/>
              <a:t>передняя</a:t>
            </a:r>
            <a:r>
              <a:rPr dirty="0"/>
              <a:t> и </a:t>
            </a:r>
            <a:r>
              <a:rPr dirty="0" err="1"/>
              <a:t>задняя</a:t>
            </a:r>
            <a:r>
              <a:rPr dirty="0"/>
              <a:t> </a:t>
            </a:r>
            <a:r>
              <a:rPr dirty="0" err="1"/>
              <a:t>панели</a:t>
            </a:r>
            <a:r>
              <a:rPr dirty="0"/>
              <a:t>, </a:t>
            </a:r>
            <a:r>
              <a:rPr dirty="0" err="1"/>
              <a:t>драйвер</a:t>
            </a:r>
            <a:r>
              <a:rPr dirty="0"/>
              <a:t>, </a:t>
            </a:r>
            <a:r>
              <a:rPr dirty="0" err="1"/>
              <a:t>корпус</a:t>
            </a:r>
            <a:r>
              <a:rPr dirty="0"/>
              <a:t>, </a:t>
            </a:r>
            <a:r>
              <a:rPr dirty="0" err="1"/>
              <a:t>усилитель</a:t>
            </a:r>
            <a:r>
              <a:rPr dirty="0"/>
              <a:t>, </a:t>
            </a:r>
            <a:r>
              <a:rPr dirty="0" err="1"/>
              <a:t>тракт</a:t>
            </a:r>
            <a:r>
              <a:rPr dirty="0"/>
              <a:t> </a:t>
            </a:r>
            <a:r>
              <a:rPr dirty="0" err="1"/>
              <a:t>сигнала</a:t>
            </a:r>
            <a:r>
              <a:rPr dirty="0"/>
              <a:t>, DSP и cutaway-</a:t>
            </a:r>
            <a:r>
              <a:rPr dirty="0" err="1"/>
              <a:t>схема</a:t>
            </a:r>
            <a:r>
              <a:rPr dirty="0"/>
              <a:t>.</a:t>
            </a:r>
          </a:p>
        </p:txBody>
      </p:sp>
      <p:sp>
        <p:nvSpPr>
          <p:cNvPr id="358" name="Shape 4"/>
          <p:cNvSpPr/>
          <p:nvPr/>
        </p:nvSpPr>
        <p:spPr>
          <a:xfrm>
            <a:off x="8382000" y="450500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59" name="Text 5"/>
          <p:cNvSpPr txBox="1"/>
          <p:nvPr/>
        </p:nvSpPr>
        <p:spPr>
          <a:xfrm>
            <a:off x="8382000" y="4676774"/>
            <a:ext cx="93345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016</a:t>
            </a:r>
          </a:p>
        </p:txBody>
      </p:sp>
      <p:sp>
        <p:nvSpPr>
          <p:cNvPr id="360" name="Text 6"/>
          <p:cNvSpPr txBox="1"/>
          <p:nvPr/>
        </p:nvSpPr>
        <p:spPr>
          <a:xfrm>
            <a:off x="9239249" y="464947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Передняя панель</a:t>
            </a:r>
          </a:p>
        </p:txBody>
      </p:sp>
      <p:sp>
        <p:nvSpPr>
          <p:cNvPr id="361" name="Shape 7"/>
          <p:cNvSpPr/>
          <p:nvPr/>
        </p:nvSpPr>
        <p:spPr>
          <a:xfrm>
            <a:off x="8382000" y="508349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2" name="Text 8"/>
          <p:cNvSpPr txBox="1"/>
          <p:nvPr/>
        </p:nvSpPr>
        <p:spPr>
          <a:xfrm>
            <a:off x="8382000" y="525525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017</a:t>
            </a:r>
          </a:p>
        </p:txBody>
      </p:sp>
      <p:sp>
        <p:nvSpPr>
          <p:cNvPr id="363" name="Text 9"/>
          <p:cNvSpPr txBox="1"/>
          <p:nvPr/>
        </p:nvSpPr>
        <p:spPr>
          <a:xfrm>
            <a:off x="9239249" y="522795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Задняя панель</a:t>
            </a:r>
          </a:p>
        </p:txBody>
      </p:sp>
      <p:sp>
        <p:nvSpPr>
          <p:cNvPr id="364" name="Shape 10"/>
          <p:cNvSpPr/>
          <p:nvPr/>
        </p:nvSpPr>
        <p:spPr>
          <a:xfrm>
            <a:off x="8382000" y="566197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5" name="Text 11"/>
          <p:cNvSpPr txBox="1"/>
          <p:nvPr/>
        </p:nvSpPr>
        <p:spPr>
          <a:xfrm>
            <a:off x="8382000" y="5833745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018</a:t>
            </a:r>
          </a:p>
        </p:txBody>
      </p:sp>
      <p:sp>
        <p:nvSpPr>
          <p:cNvPr id="366" name="Text 12"/>
          <p:cNvSpPr txBox="1"/>
          <p:nvPr/>
        </p:nvSpPr>
        <p:spPr>
          <a:xfrm>
            <a:off x="9239249" y="580644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Драйвер</a:t>
            </a:r>
          </a:p>
        </p:txBody>
      </p:sp>
      <p:sp>
        <p:nvSpPr>
          <p:cNvPr id="367" name="Shape 13"/>
          <p:cNvSpPr/>
          <p:nvPr/>
        </p:nvSpPr>
        <p:spPr>
          <a:xfrm>
            <a:off x="8382000" y="624046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68" name="Text 14"/>
          <p:cNvSpPr txBox="1"/>
          <p:nvPr/>
        </p:nvSpPr>
        <p:spPr>
          <a:xfrm>
            <a:off x="8382000" y="641222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019</a:t>
            </a:r>
          </a:p>
        </p:txBody>
      </p:sp>
      <p:sp>
        <p:nvSpPr>
          <p:cNvPr id="369" name="Text 15"/>
          <p:cNvSpPr txBox="1"/>
          <p:nvPr/>
        </p:nvSpPr>
        <p:spPr>
          <a:xfrm>
            <a:off x="9239249" y="6384924"/>
            <a:ext cx="6180775" cy="340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Корпуса: sealed vs ported</a:t>
            </a:r>
          </a:p>
        </p:txBody>
      </p:sp>
      <p:sp>
        <p:nvSpPr>
          <p:cNvPr id="370" name="Shape 16"/>
          <p:cNvSpPr/>
          <p:nvPr/>
        </p:nvSpPr>
        <p:spPr>
          <a:xfrm>
            <a:off x="8382000" y="681894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1" name="Text 17"/>
          <p:cNvSpPr txBox="1"/>
          <p:nvPr/>
        </p:nvSpPr>
        <p:spPr>
          <a:xfrm>
            <a:off x="8382000" y="6990715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020</a:t>
            </a:r>
          </a:p>
        </p:txBody>
      </p:sp>
      <p:sp>
        <p:nvSpPr>
          <p:cNvPr id="372" name="Text 18"/>
          <p:cNvSpPr txBox="1"/>
          <p:nvPr/>
        </p:nvSpPr>
        <p:spPr>
          <a:xfrm>
            <a:off x="9239249" y="6963409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Усилитель класса D</a:t>
            </a:r>
          </a:p>
        </p:txBody>
      </p:sp>
      <p:sp>
        <p:nvSpPr>
          <p:cNvPr id="373" name="Shape 19"/>
          <p:cNvSpPr/>
          <p:nvPr/>
        </p:nvSpPr>
        <p:spPr>
          <a:xfrm>
            <a:off x="8382000" y="739743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4" name="Text 20"/>
          <p:cNvSpPr txBox="1"/>
          <p:nvPr/>
        </p:nvSpPr>
        <p:spPr>
          <a:xfrm>
            <a:off x="8382000" y="7569199"/>
            <a:ext cx="93345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021</a:t>
            </a:r>
          </a:p>
        </p:txBody>
      </p:sp>
      <p:sp>
        <p:nvSpPr>
          <p:cNvPr id="375" name="Text 21"/>
          <p:cNvSpPr txBox="1"/>
          <p:nvPr/>
        </p:nvSpPr>
        <p:spPr>
          <a:xfrm>
            <a:off x="9239249" y="754189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Путь сигнала</a:t>
            </a:r>
          </a:p>
        </p:txBody>
      </p:sp>
      <p:sp>
        <p:nvSpPr>
          <p:cNvPr id="376" name="Shape 22"/>
          <p:cNvSpPr/>
          <p:nvPr/>
        </p:nvSpPr>
        <p:spPr>
          <a:xfrm>
            <a:off x="8382000" y="797591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77" name="Text 23"/>
          <p:cNvSpPr txBox="1"/>
          <p:nvPr/>
        </p:nvSpPr>
        <p:spPr>
          <a:xfrm>
            <a:off x="8382000" y="8147684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022</a:t>
            </a:r>
          </a:p>
        </p:txBody>
      </p:sp>
      <p:sp>
        <p:nvSpPr>
          <p:cNvPr id="378" name="Text 24"/>
          <p:cNvSpPr txBox="1"/>
          <p:nvPr/>
        </p:nvSpPr>
        <p:spPr>
          <a:xfrm>
            <a:off x="9239249" y="812038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Роль DSP</a:t>
            </a:r>
          </a:p>
        </p:txBody>
      </p:sp>
      <p:sp>
        <p:nvSpPr>
          <p:cNvPr id="379" name="Shape 25"/>
          <p:cNvSpPr/>
          <p:nvPr/>
        </p:nvSpPr>
        <p:spPr>
          <a:xfrm>
            <a:off x="8382000" y="913288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0" name="Shape 26"/>
          <p:cNvSpPr/>
          <p:nvPr/>
        </p:nvSpPr>
        <p:spPr>
          <a:xfrm>
            <a:off x="8382000" y="855440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81" name="Text 27"/>
          <p:cNvSpPr txBox="1"/>
          <p:nvPr/>
        </p:nvSpPr>
        <p:spPr>
          <a:xfrm>
            <a:off x="8382000" y="872616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023</a:t>
            </a:r>
          </a:p>
        </p:txBody>
      </p:sp>
      <p:sp>
        <p:nvSpPr>
          <p:cNvPr id="382" name="Text 28"/>
          <p:cNvSpPr txBox="1"/>
          <p:nvPr/>
        </p:nvSpPr>
        <p:spPr>
          <a:xfrm>
            <a:off x="9239249" y="8698865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Внутренняя структура</a:t>
            </a:r>
          </a:p>
        </p:txBody>
      </p:sp>
      <p:sp>
        <p:nvSpPr>
          <p:cNvPr id="383" name="Text 29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015 / 100</a:t>
            </a:r>
          </a:p>
        </p:txBody>
      </p:sp>
      <p:sp>
        <p:nvSpPr>
          <p:cNvPr id="384" name="Text 30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§03 КОМПОНЕНТЫ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016 §03 КОМПОНЕНТЫ</a:t>
            </a:r>
          </a:p>
        </p:txBody>
      </p:sp>
      <p:sp>
        <p:nvSpPr>
          <p:cNvPr id="387" name="Text 1"/>
          <p:cNvSpPr txBox="1"/>
          <p:nvPr/>
        </p:nvSpPr>
        <p:spPr>
          <a:xfrm>
            <a:off x="16937037" y="380999"/>
            <a:ext cx="855663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ПЕРЕД</a:t>
            </a:r>
          </a:p>
        </p:txBody>
      </p:sp>
      <p:sp>
        <p:nvSpPr>
          <p:cNvPr id="388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ПЕРЕДНЯЯ ПАНЕЛЬ</a:t>
            </a:r>
          </a:p>
        </p:txBody>
      </p:sp>
      <p:sp>
        <p:nvSpPr>
          <p:cNvPr id="389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Изучите переднюю панель</a:t>
            </a:r>
          </a:p>
        </p:txBody>
      </p:sp>
      <p:sp>
        <p:nvSpPr>
          <p:cNvPr id="390" name="Shape 4"/>
          <p:cNvSpPr/>
          <p:nvPr/>
        </p:nvSpPr>
        <p:spPr>
          <a:xfrm>
            <a:off x="1143000" y="2719070"/>
            <a:ext cx="7620000" cy="83820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39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620" y="3564890"/>
            <a:ext cx="6080760" cy="6690360"/>
          </a:xfrm>
          <a:prstGeom prst="rect">
            <a:avLst/>
          </a:prstGeom>
          <a:ln w="12700">
            <a:miter lim="400000"/>
          </a:ln>
        </p:spPr>
      </p:pic>
      <p:sp>
        <p:nvSpPr>
          <p:cNvPr id="392" name="Shape 5"/>
          <p:cNvSpPr/>
          <p:nvPr/>
        </p:nvSpPr>
        <p:spPr>
          <a:xfrm>
            <a:off x="9525000" y="478393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3" name="Text 6"/>
          <p:cNvSpPr txBox="1"/>
          <p:nvPr/>
        </p:nvSpPr>
        <p:spPr>
          <a:xfrm>
            <a:off x="9525000" y="5066982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A</a:t>
            </a:r>
          </a:p>
        </p:txBody>
      </p:sp>
      <p:sp>
        <p:nvSpPr>
          <p:cNvPr id="394" name="Text 7"/>
          <p:cNvSpPr txBox="1"/>
          <p:nvPr/>
        </p:nvSpPr>
        <p:spPr>
          <a:xfrm>
            <a:off x="10667999" y="5024120"/>
            <a:ext cx="3318978" cy="39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fontScale="925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Акустическая решётка</a:t>
            </a:r>
          </a:p>
        </p:txBody>
      </p:sp>
      <p:sp>
        <p:nvSpPr>
          <p:cNvPr id="395" name="Text 8"/>
          <p:cNvSpPr txBox="1"/>
          <p:nvPr/>
        </p:nvSpPr>
        <p:spPr>
          <a:xfrm>
            <a:off x="10668000" y="5477033"/>
            <a:ext cx="6671310" cy="372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1900" spc="-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Съёмная, магнитное крепление</a:t>
            </a:r>
          </a:p>
        </p:txBody>
      </p:sp>
      <p:sp>
        <p:nvSpPr>
          <p:cNvPr id="396" name="Shape 9"/>
          <p:cNvSpPr/>
          <p:nvPr/>
        </p:nvSpPr>
        <p:spPr>
          <a:xfrm>
            <a:off x="9525000" y="628602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397" name="Text 10"/>
          <p:cNvSpPr txBox="1"/>
          <p:nvPr/>
        </p:nvSpPr>
        <p:spPr>
          <a:xfrm>
            <a:off x="9525000" y="6569075"/>
            <a:ext cx="914400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B</a:t>
            </a:r>
          </a:p>
        </p:txBody>
      </p:sp>
      <p:sp>
        <p:nvSpPr>
          <p:cNvPr id="398" name="Text 11"/>
          <p:cNvSpPr txBox="1"/>
          <p:nvPr/>
        </p:nvSpPr>
        <p:spPr>
          <a:xfrm>
            <a:off x="10668000" y="6526213"/>
            <a:ext cx="2399982" cy="39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fontScale="925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Драйвер 300 мм</a:t>
            </a:r>
          </a:p>
        </p:txBody>
      </p:sp>
      <p:sp>
        <p:nvSpPr>
          <p:cNvPr id="399" name="Text 12"/>
          <p:cNvSpPr txBox="1"/>
          <p:nvPr/>
        </p:nvSpPr>
        <p:spPr>
          <a:xfrm>
            <a:off x="10668000" y="6979125"/>
            <a:ext cx="6671310" cy="3724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1900" spc="-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Алюминий + керамическое покрытие</a:t>
            </a:r>
          </a:p>
        </p:txBody>
      </p:sp>
      <p:sp>
        <p:nvSpPr>
          <p:cNvPr id="400" name="Shape 13"/>
          <p:cNvSpPr/>
          <p:nvPr/>
        </p:nvSpPr>
        <p:spPr>
          <a:xfrm>
            <a:off x="9525000" y="902350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1" name="Shape 14"/>
          <p:cNvSpPr/>
          <p:nvPr/>
        </p:nvSpPr>
        <p:spPr>
          <a:xfrm>
            <a:off x="9525000" y="778811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02" name="Text 15"/>
          <p:cNvSpPr txBox="1"/>
          <p:nvPr/>
        </p:nvSpPr>
        <p:spPr>
          <a:xfrm>
            <a:off x="9525000" y="8071167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</a:t>
            </a:r>
          </a:p>
        </p:txBody>
      </p:sp>
      <p:sp>
        <p:nvSpPr>
          <p:cNvPr id="403" name="Text 16"/>
          <p:cNvSpPr txBox="1"/>
          <p:nvPr/>
        </p:nvSpPr>
        <p:spPr>
          <a:xfrm>
            <a:off x="10667999" y="8028305"/>
            <a:ext cx="3446354" cy="3952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>
            <a:normAutofit fontScale="925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LED-индикатор статуса</a:t>
            </a:r>
          </a:p>
        </p:txBody>
      </p:sp>
      <p:sp>
        <p:nvSpPr>
          <p:cNvPr id="404" name="Text 17"/>
          <p:cNvSpPr txBox="1"/>
          <p:nvPr/>
        </p:nvSpPr>
        <p:spPr>
          <a:xfrm>
            <a:off x="10668000" y="8481218"/>
            <a:ext cx="6671310" cy="3724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1900" spc="-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Белый / янтарный / красный</a:t>
            </a:r>
          </a:p>
        </p:txBody>
      </p:sp>
      <p:sp>
        <p:nvSpPr>
          <p:cNvPr id="405" name="Text 1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016 / 100</a:t>
            </a:r>
          </a:p>
        </p:txBody>
      </p:sp>
      <p:sp>
        <p:nvSpPr>
          <p:cNvPr id="406" name="Text 19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§03 КОМПОНЕНТЫ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017 §03 КОМПОНЕНТЫ</a:t>
            </a:r>
          </a:p>
        </p:txBody>
      </p:sp>
      <p:sp>
        <p:nvSpPr>
          <p:cNvPr id="409" name="Text 1"/>
          <p:cNvSpPr txBox="1"/>
          <p:nvPr/>
        </p:nvSpPr>
        <p:spPr>
          <a:xfrm>
            <a:off x="17248823" y="380999"/>
            <a:ext cx="5438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ЗАД</a:t>
            </a:r>
          </a:p>
        </p:txBody>
      </p:sp>
      <p:sp>
        <p:nvSpPr>
          <p:cNvPr id="410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ЗАДНЯЯ ПАНЕЛЬ</a:t>
            </a:r>
          </a:p>
        </p:txBody>
      </p:sp>
      <p:sp>
        <p:nvSpPr>
          <p:cNvPr id="411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Изучите заднюю панель</a:t>
            </a:r>
          </a:p>
        </p:txBody>
      </p:sp>
      <p:sp>
        <p:nvSpPr>
          <p:cNvPr id="412" name="Shape 4"/>
          <p:cNvSpPr/>
          <p:nvPr/>
        </p:nvSpPr>
        <p:spPr>
          <a:xfrm>
            <a:off x="1143000" y="2719070"/>
            <a:ext cx="7620000" cy="83820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1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596" y="3355816"/>
            <a:ext cx="6460808" cy="7108508"/>
          </a:xfrm>
          <a:prstGeom prst="rect">
            <a:avLst/>
          </a:prstGeom>
          <a:ln w="12700">
            <a:miter lim="400000"/>
          </a:ln>
        </p:spPr>
      </p:pic>
      <p:sp>
        <p:nvSpPr>
          <p:cNvPr id="414" name="Shape 5"/>
          <p:cNvSpPr/>
          <p:nvPr/>
        </p:nvSpPr>
        <p:spPr>
          <a:xfrm>
            <a:off x="9525000" y="485393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5" name="Text 6"/>
          <p:cNvSpPr txBox="1"/>
          <p:nvPr/>
        </p:nvSpPr>
        <p:spPr>
          <a:xfrm>
            <a:off x="9525000" y="5136991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A</a:t>
            </a:r>
          </a:p>
        </p:txBody>
      </p:sp>
      <p:sp>
        <p:nvSpPr>
          <p:cNvPr id="416" name="Text 7"/>
          <p:cNvSpPr txBox="1"/>
          <p:nvPr/>
        </p:nvSpPr>
        <p:spPr>
          <a:xfrm>
            <a:off x="10668000" y="5074601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Выходной порт фазоинвертора</a:t>
            </a:r>
          </a:p>
        </p:txBody>
      </p:sp>
      <p:sp>
        <p:nvSpPr>
          <p:cNvPr id="417" name="Shape 8"/>
          <p:cNvSpPr/>
          <p:nvPr/>
        </p:nvSpPr>
        <p:spPr>
          <a:xfrm>
            <a:off x="9525000" y="594550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18" name="Text 9"/>
          <p:cNvSpPr txBox="1"/>
          <p:nvPr/>
        </p:nvSpPr>
        <p:spPr>
          <a:xfrm>
            <a:off x="9525000" y="6228555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B</a:t>
            </a:r>
          </a:p>
        </p:txBody>
      </p:sp>
      <p:sp>
        <p:nvSpPr>
          <p:cNvPr id="419" name="Text 10"/>
          <p:cNvSpPr txBox="1"/>
          <p:nvPr/>
        </p:nvSpPr>
        <p:spPr>
          <a:xfrm>
            <a:off x="10668000" y="6166167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RCA LFE-in, RCA L/R, XLR</a:t>
            </a:r>
          </a:p>
        </p:txBody>
      </p:sp>
      <p:sp>
        <p:nvSpPr>
          <p:cNvPr id="420" name="Shape 11"/>
          <p:cNvSpPr/>
          <p:nvPr/>
        </p:nvSpPr>
        <p:spPr>
          <a:xfrm>
            <a:off x="9525000" y="7037070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1" name="Text 12"/>
          <p:cNvSpPr txBox="1"/>
          <p:nvPr/>
        </p:nvSpPr>
        <p:spPr>
          <a:xfrm>
            <a:off x="9525000" y="7320120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</a:t>
            </a:r>
          </a:p>
        </p:txBody>
      </p:sp>
      <p:sp>
        <p:nvSpPr>
          <p:cNvPr id="422" name="Text 13"/>
          <p:cNvSpPr txBox="1"/>
          <p:nvPr/>
        </p:nvSpPr>
        <p:spPr>
          <a:xfrm>
            <a:off x="10668000" y="7257732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Кроссовер, фаза, уровень</a:t>
            </a:r>
          </a:p>
        </p:txBody>
      </p:sp>
      <p:sp>
        <p:nvSpPr>
          <p:cNvPr id="423" name="Shape 14"/>
          <p:cNvSpPr/>
          <p:nvPr/>
        </p:nvSpPr>
        <p:spPr>
          <a:xfrm>
            <a:off x="9525000" y="895349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4" name="Shape 15"/>
          <p:cNvSpPr/>
          <p:nvPr/>
        </p:nvSpPr>
        <p:spPr>
          <a:xfrm>
            <a:off x="9525000" y="812863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25" name="Text 16"/>
          <p:cNvSpPr txBox="1"/>
          <p:nvPr/>
        </p:nvSpPr>
        <p:spPr>
          <a:xfrm>
            <a:off x="9525000" y="8411687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D</a:t>
            </a:r>
          </a:p>
        </p:txBody>
      </p:sp>
      <p:sp>
        <p:nvSpPr>
          <p:cNvPr id="426" name="Text 17"/>
          <p:cNvSpPr txBox="1"/>
          <p:nvPr/>
        </p:nvSpPr>
        <p:spPr>
          <a:xfrm>
            <a:off x="10668000" y="8349297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IEC-вход и сетевой выключатель</a:t>
            </a:r>
          </a:p>
        </p:txBody>
      </p:sp>
      <p:sp>
        <p:nvSpPr>
          <p:cNvPr id="427" name="Text 1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017 / 100</a:t>
            </a:r>
          </a:p>
        </p:txBody>
      </p:sp>
      <p:sp>
        <p:nvSpPr>
          <p:cNvPr id="428" name="Text 19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§03 КОМПОНЕНТЫ</a:t>
            </a:r>
          </a:p>
        </p:txBody>
      </p:sp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018 §03 КОМПОНЕНТЫ</a:t>
            </a:r>
          </a:p>
        </p:txBody>
      </p:sp>
      <p:sp>
        <p:nvSpPr>
          <p:cNvPr id="431" name="Text 1"/>
          <p:cNvSpPr txBox="1"/>
          <p:nvPr/>
        </p:nvSpPr>
        <p:spPr>
          <a:xfrm>
            <a:off x="16625253" y="380999"/>
            <a:ext cx="116744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710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ДРАЙВЕР</a:t>
            </a:r>
          </a:p>
        </p:txBody>
      </p:sp>
      <p:sp>
        <p:nvSpPr>
          <p:cNvPr id="432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АНАТОМИЯ ДРАЙВЕРА</a:t>
            </a:r>
          </a:p>
        </p:txBody>
      </p:sp>
      <p:sp>
        <p:nvSpPr>
          <p:cNvPr id="433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Познакомьтесь с драйвером</a:t>
            </a:r>
          </a:p>
        </p:txBody>
      </p:sp>
      <p:sp>
        <p:nvSpPr>
          <p:cNvPr id="434" name="Shape 4"/>
          <p:cNvSpPr/>
          <p:nvPr/>
        </p:nvSpPr>
        <p:spPr>
          <a:xfrm>
            <a:off x="1143000" y="3191192"/>
            <a:ext cx="7620000" cy="5861527"/>
          </a:xfrm>
          <a:prstGeom prst="rect">
            <a:avLst/>
          </a:prstGeom>
          <a:solidFill>
            <a:srgbClr val="F4F2EE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3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571" y="3492817"/>
            <a:ext cx="6840857" cy="5258118"/>
          </a:xfrm>
          <a:prstGeom prst="rect">
            <a:avLst/>
          </a:prstGeom>
          <a:ln w="12700">
            <a:miter lim="400000"/>
          </a:ln>
        </p:spPr>
      </p:pic>
      <p:sp>
        <p:nvSpPr>
          <p:cNvPr id="436" name="Shape 5"/>
          <p:cNvSpPr/>
          <p:nvPr/>
        </p:nvSpPr>
        <p:spPr>
          <a:xfrm>
            <a:off x="9525000" y="4097813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37" name="Text 6"/>
          <p:cNvSpPr txBox="1"/>
          <p:nvPr/>
        </p:nvSpPr>
        <p:spPr>
          <a:xfrm>
            <a:off x="9525000" y="4270850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ДИАМЕТР</a:t>
            </a:r>
          </a:p>
        </p:txBody>
      </p:sp>
      <p:sp>
        <p:nvSpPr>
          <p:cNvPr id="438" name="Text 7"/>
          <p:cNvSpPr txBox="1"/>
          <p:nvPr/>
        </p:nvSpPr>
        <p:spPr>
          <a:xfrm>
            <a:off x="12725399" y="4270850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300 мм / 12″</a:t>
            </a:r>
          </a:p>
        </p:txBody>
      </p:sp>
      <p:sp>
        <p:nvSpPr>
          <p:cNvPr id="439" name="Shape 8"/>
          <p:cNvSpPr/>
          <p:nvPr/>
        </p:nvSpPr>
        <p:spPr>
          <a:xfrm>
            <a:off x="9525000" y="477202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0" name="Text 9"/>
          <p:cNvSpPr txBox="1"/>
          <p:nvPr/>
        </p:nvSpPr>
        <p:spPr>
          <a:xfrm>
            <a:off x="9525000" y="4945062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ДИФФУЗОР</a:t>
            </a:r>
          </a:p>
        </p:txBody>
      </p:sp>
      <p:sp>
        <p:nvSpPr>
          <p:cNvPr id="441" name="Text 10"/>
          <p:cNvSpPr txBox="1"/>
          <p:nvPr/>
        </p:nvSpPr>
        <p:spPr>
          <a:xfrm>
            <a:off x="12725399" y="4945062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Алюминий 0.4 мм</a:t>
            </a:r>
          </a:p>
        </p:txBody>
      </p:sp>
      <p:sp>
        <p:nvSpPr>
          <p:cNvPr id="442" name="Shape 11"/>
          <p:cNvSpPr/>
          <p:nvPr/>
        </p:nvSpPr>
        <p:spPr>
          <a:xfrm>
            <a:off x="9525000" y="544623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3" name="Text 12"/>
          <p:cNvSpPr txBox="1"/>
          <p:nvPr/>
        </p:nvSpPr>
        <p:spPr>
          <a:xfrm>
            <a:off x="9525000" y="561927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ПОДВЕС</a:t>
            </a:r>
          </a:p>
        </p:txBody>
      </p:sp>
      <p:sp>
        <p:nvSpPr>
          <p:cNvPr id="444" name="Text 13"/>
          <p:cNvSpPr txBox="1"/>
          <p:nvPr/>
        </p:nvSpPr>
        <p:spPr>
          <a:xfrm>
            <a:off x="12725399" y="561927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Бутилкаучук</a:t>
            </a:r>
          </a:p>
        </p:txBody>
      </p:sp>
      <p:sp>
        <p:nvSpPr>
          <p:cNvPr id="445" name="Shape 14"/>
          <p:cNvSpPr/>
          <p:nvPr/>
        </p:nvSpPr>
        <p:spPr>
          <a:xfrm>
            <a:off x="9525000" y="612044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6" name="Text 15"/>
          <p:cNvSpPr txBox="1"/>
          <p:nvPr/>
        </p:nvSpPr>
        <p:spPr>
          <a:xfrm>
            <a:off x="9525000" y="629348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КАТУШКА</a:t>
            </a:r>
          </a:p>
        </p:txBody>
      </p:sp>
      <p:sp>
        <p:nvSpPr>
          <p:cNvPr id="447" name="Text 16"/>
          <p:cNvSpPr txBox="1"/>
          <p:nvPr/>
        </p:nvSpPr>
        <p:spPr>
          <a:xfrm>
            <a:off x="12725399" y="629348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2×50 мм, медь</a:t>
            </a:r>
          </a:p>
        </p:txBody>
      </p:sp>
      <p:sp>
        <p:nvSpPr>
          <p:cNvPr id="448" name="Shape 17"/>
          <p:cNvSpPr/>
          <p:nvPr/>
        </p:nvSpPr>
        <p:spPr>
          <a:xfrm>
            <a:off x="9525000" y="679465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49" name="Text 18"/>
          <p:cNvSpPr txBox="1"/>
          <p:nvPr/>
        </p:nvSpPr>
        <p:spPr>
          <a:xfrm>
            <a:off x="9525000" y="6967695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МАГНИТ</a:t>
            </a:r>
          </a:p>
        </p:txBody>
      </p:sp>
      <p:sp>
        <p:nvSpPr>
          <p:cNvPr id="450" name="Text 19"/>
          <p:cNvSpPr txBox="1"/>
          <p:nvPr/>
        </p:nvSpPr>
        <p:spPr>
          <a:xfrm>
            <a:off x="12725399" y="6967695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Неодим, 4.2 кг</a:t>
            </a:r>
          </a:p>
        </p:txBody>
      </p:sp>
      <p:sp>
        <p:nvSpPr>
          <p:cNvPr id="451" name="Shape 20"/>
          <p:cNvSpPr/>
          <p:nvPr/>
        </p:nvSpPr>
        <p:spPr>
          <a:xfrm>
            <a:off x="9525000" y="813355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2" name="Shape 21"/>
          <p:cNvSpPr/>
          <p:nvPr/>
        </p:nvSpPr>
        <p:spPr>
          <a:xfrm>
            <a:off x="9525000" y="746886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53" name="Text 22"/>
          <p:cNvSpPr txBox="1"/>
          <p:nvPr/>
        </p:nvSpPr>
        <p:spPr>
          <a:xfrm>
            <a:off x="9525000" y="7641907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XMAX</a:t>
            </a:r>
          </a:p>
        </p:txBody>
      </p:sp>
      <p:sp>
        <p:nvSpPr>
          <p:cNvPr id="454" name="Text 23"/>
          <p:cNvSpPr txBox="1"/>
          <p:nvPr/>
        </p:nvSpPr>
        <p:spPr>
          <a:xfrm>
            <a:off x="12725399" y="7641907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±25 мм</a:t>
            </a:r>
          </a:p>
        </p:txBody>
      </p:sp>
      <p:sp>
        <p:nvSpPr>
          <p:cNvPr id="455" name="Text 24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018 / 100</a:t>
            </a:r>
          </a:p>
        </p:txBody>
      </p:sp>
      <p:sp>
        <p:nvSpPr>
          <p:cNvPr id="456" name="Text 25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§03 КОМПОНЕНТЫ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019 §03 КОМПОНЕНТЫ</a:t>
            </a:r>
          </a:p>
        </p:txBody>
      </p:sp>
      <p:sp>
        <p:nvSpPr>
          <p:cNvPr id="459" name="Text 1"/>
          <p:cNvSpPr txBox="1"/>
          <p:nvPr/>
        </p:nvSpPr>
        <p:spPr>
          <a:xfrm>
            <a:off x="16781144" y="380999"/>
            <a:ext cx="1011556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0391">
              <a:defRPr sz="1674" spc="93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КОРПУС</a:t>
            </a:r>
          </a:p>
        </p:txBody>
      </p:sp>
      <p:sp>
        <p:nvSpPr>
          <p:cNvPr id="460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ТИПЫ КОРПУСОВ</a:t>
            </a:r>
          </a:p>
        </p:txBody>
      </p:sp>
      <p:sp>
        <p:nvSpPr>
          <p:cNvPr id="461" name="Text 3"/>
          <p:cNvSpPr txBox="1"/>
          <p:nvPr/>
        </p:nvSpPr>
        <p:spPr>
          <a:xfrm>
            <a:off x="1143000" y="1490662"/>
            <a:ext cx="14716125" cy="1428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4010"/>
              </a:lnSpc>
              <a:defRPr sz="48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Разберитесь в фазоинверторе vs закрытом корпусе</a:t>
            </a:r>
          </a:p>
        </p:txBody>
      </p:sp>
      <p:sp>
        <p:nvSpPr>
          <p:cNvPr id="462" name="Shape 4"/>
          <p:cNvSpPr/>
          <p:nvPr/>
        </p:nvSpPr>
        <p:spPr>
          <a:xfrm>
            <a:off x="1143000" y="3490278"/>
            <a:ext cx="7239000" cy="36195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6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5517" y="3859848"/>
            <a:ext cx="5053966" cy="2880361"/>
          </a:xfrm>
          <a:prstGeom prst="rect">
            <a:avLst/>
          </a:prstGeom>
          <a:ln w="12700">
            <a:miter lim="400000"/>
          </a:ln>
        </p:spPr>
      </p:pic>
      <p:sp>
        <p:nvSpPr>
          <p:cNvPr id="464" name="Text 5"/>
          <p:cNvSpPr txBox="1"/>
          <p:nvPr/>
        </p:nvSpPr>
        <p:spPr>
          <a:xfrm>
            <a:off x="1381124" y="3690303"/>
            <a:ext cx="101155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SEALED</a:t>
            </a:r>
          </a:p>
        </p:txBody>
      </p:sp>
      <p:sp>
        <p:nvSpPr>
          <p:cNvPr id="465" name="Text 6"/>
          <p:cNvSpPr txBox="1"/>
          <p:nvPr/>
        </p:nvSpPr>
        <p:spPr>
          <a:xfrm>
            <a:off x="1143000" y="7338377"/>
            <a:ext cx="7848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ЗАКРЫТЫЙ (SEALED)</a:t>
            </a:r>
          </a:p>
        </p:txBody>
      </p:sp>
      <p:sp>
        <p:nvSpPr>
          <p:cNvPr id="466" name="Text 7"/>
          <p:cNvSpPr txBox="1"/>
          <p:nvPr/>
        </p:nvSpPr>
        <p:spPr>
          <a:xfrm>
            <a:off x="1143000" y="7762240"/>
            <a:ext cx="7848600" cy="706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77823">
              <a:lnSpc>
                <a:spcPct val="135000"/>
              </a:lnSpc>
              <a:defRPr sz="1824" spc="-96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Точный, быстрый бас. Более высокий roll-off. Меньше SPL на ватт. Выбор для студии и Hi-Fi.</a:t>
            </a:r>
          </a:p>
        </p:txBody>
      </p:sp>
      <p:sp>
        <p:nvSpPr>
          <p:cNvPr id="467" name="Shape 8"/>
          <p:cNvSpPr/>
          <p:nvPr/>
        </p:nvSpPr>
        <p:spPr>
          <a:xfrm>
            <a:off x="9525000" y="3490278"/>
            <a:ext cx="7239000" cy="36195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68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17517" y="3859848"/>
            <a:ext cx="5053966" cy="2880361"/>
          </a:xfrm>
          <a:prstGeom prst="rect">
            <a:avLst/>
          </a:prstGeom>
          <a:ln w="12700">
            <a:miter lim="400000"/>
          </a:ln>
        </p:spPr>
      </p:pic>
      <p:sp>
        <p:nvSpPr>
          <p:cNvPr id="469" name="Text 9"/>
          <p:cNvSpPr txBox="1"/>
          <p:nvPr/>
        </p:nvSpPr>
        <p:spPr>
          <a:xfrm>
            <a:off x="9763124" y="3690303"/>
            <a:ext cx="101155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defRPr sz="1692" spc="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PORTED</a:t>
            </a:r>
          </a:p>
        </p:txBody>
      </p:sp>
      <p:sp>
        <p:nvSpPr>
          <p:cNvPr id="470" name="Text 10"/>
          <p:cNvSpPr txBox="1"/>
          <p:nvPr/>
        </p:nvSpPr>
        <p:spPr>
          <a:xfrm>
            <a:off x="9525000" y="7338377"/>
            <a:ext cx="7848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ФАЗОИНВЕРТОР (PORTED)</a:t>
            </a:r>
          </a:p>
        </p:txBody>
      </p:sp>
      <p:sp>
        <p:nvSpPr>
          <p:cNvPr id="471" name="Text 11"/>
          <p:cNvSpPr txBox="1"/>
          <p:nvPr/>
        </p:nvSpPr>
        <p:spPr>
          <a:xfrm>
            <a:off x="9525000" y="7762240"/>
            <a:ext cx="7848600" cy="7067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77823">
              <a:lnSpc>
                <a:spcPct val="135000"/>
              </a:lnSpc>
              <a:defRPr sz="1824" spc="-96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+3 дБ на настройке порта. Больше SPL, ниже частотный предел. Выбор для кино и PA.</a:t>
            </a:r>
          </a:p>
        </p:txBody>
      </p:sp>
      <p:sp>
        <p:nvSpPr>
          <p:cNvPr id="472" name="Text 12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019 / 100</a:t>
            </a:r>
          </a:p>
        </p:txBody>
      </p:sp>
      <p:sp>
        <p:nvSpPr>
          <p:cNvPr id="473" name="Text 13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§03 КОМПОНЕНТЫ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020 §03 КОМПОНЕНТЫ</a:t>
            </a:r>
          </a:p>
        </p:txBody>
      </p:sp>
      <p:sp>
        <p:nvSpPr>
          <p:cNvPr id="476" name="Text 1"/>
          <p:cNvSpPr txBox="1"/>
          <p:nvPr/>
        </p:nvSpPr>
        <p:spPr>
          <a:xfrm>
            <a:off x="16313466" y="380999"/>
            <a:ext cx="147923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defRPr sz="1692" spc="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УСИЛИТЕЛЬ</a:t>
            </a:r>
          </a:p>
        </p:txBody>
      </p:sp>
      <p:sp>
        <p:nvSpPr>
          <p:cNvPr id="477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60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УСИЛИТЕЛЬ</a:t>
            </a:r>
          </a:p>
        </p:txBody>
      </p:sp>
      <p:sp>
        <p:nvSpPr>
          <p:cNvPr id="478" name="Text 3"/>
          <p:cNvSpPr txBox="1"/>
          <p:nvPr/>
        </p:nvSpPr>
        <p:spPr>
          <a:xfrm>
            <a:off x="1143000" y="1490663"/>
            <a:ext cx="14716125" cy="1748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32104">
              <a:lnSpc>
                <a:spcPct val="102008"/>
              </a:lnSpc>
              <a:defRPr sz="6006" spc="-182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Поймите, как работает усилитель класса D</a:t>
            </a:r>
          </a:p>
        </p:txBody>
      </p:sp>
      <p:sp>
        <p:nvSpPr>
          <p:cNvPr id="479" name="Text 4"/>
          <p:cNvSpPr txBox="1"/>
          <p:nvPr/>
        </p:nvSpPr>
        <p:spPr>
          <a:xfrm>
            <a:off x="1143000" y="5321775"/>
            <a:ext cx="7848600" cy="1440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04087">
              <a:lnSpc>
                <a:spcPct val="92000"/>
              </a:lnSpc>
              <a:defRPr sz="9239" spc="-385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92%</a:t>
            </a:r>
          </a:p>
        </p:txBody>
      </p:sp>
      <p:sp>
        <p:nvSpPr>
          <p:cNvPr id="480" name="Text 5"/>
          <p:cNvSpPr txBox="1"/>
          <p:nvPr/>
        </p:nvSpPr>
        <p:spPr>
          <a:xfrm>
            <a:off x="1143000" y="6838156"/>
            <a:ext cx="7848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КПД КЛАССА D</a:t>
            </a:r>
          </a:p>
        </p:txBody>
      </p:sp>
      <p:sp>
        <p:nvSpPr>
          <p:cNvPr id="481" name="Text 6"/>
          <p:cNvSpPr txBox="1"/>
          <p:nvPr/>
        </p:nvSpPr>
        <p:spPr>
          <a:xfrm>
            <a:off x="1142999" y="7223918"/>
            <a:ext cx="3728086" cy="731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41247">
              <a:lnSpc>
                <a:spcPct val="130000"/>
              </a:lnSpc>
              <a:defRPr sz="1932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Против 40—60% у классов A/AB</a:t>
            </a:r>
          </a:p>
        </p:txBody>
      </p:sp>
      <p:sp>
        <p:nvSpPr>
          <p:cNvPr id="482" name="Text 7"/>
          <p:cNvSpPr txBox="1"/>
          <p:nvPr/>
        </p:nvSpPr>
        <p:spPr>
          <a:xfrm>
            <a:off x="1143000" y="8298339"/>
            <a:ext cx="7456169" cy="11182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795527">
              <a:lnSpc>
                <a:spcPct val="135000"/>
              </a:lnSpc>
              <a:defRPr sz="1827" spc="-87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Транзисторы работают в ключевом режиме — либо открыты, либо закрыты. Это снижает тепловые потери и позволяет поместить 700 Вт в компактный корпус.</a:t>
            </a:r>
          </a:p>
        </p:txBody>
      </p:sp>
      <p:sp>
        <p:nvSpPr>
          <p:cNvPr id="483" name="Shape 8"/>
          <p:cNvSpPr/>
          <p:nvPr/>
        </p:nvSpPr>
        <p:spPr>
          <a:xfrm>
            <a:off x="9525000" y="3886516"/>
            <a:ext cx="7620000" cy="6927217"/>
          </a:xfrm>
          <a:prstGeom prst="rect">
            <a:avLst/>
          </a:prstGeom>
          <a:solidFill>
            <a:srgbClr val="141416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48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4573" y="4241482"/>
            <a:ext cx="6840856" cy="6217286"/>
          </a:xfrm>
          <a:prstGeom prst="rect">
            <a:avLst/>
          </a:prstGeom>
          <a:ln w="12700">
            <a:miter lim="400000"/>
          </a:ln>
        </p:spPr>
      </p:pic>
      <p:sp>
        <p:nvSpPr>
          <p:cNvPr id="485" name="Text 9"/>
          <p:cNvSpPr txBox="1"/>
          <p:nvPr/>
        </p:nvSpPr>
        <p:spPr>
          <a:xfrm>
            <a:off x="9763125" y="4086542"/>
            <a:ext cx="2729678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CLASS-D AMPLIFIER</a:t>
            </a:r>
          </a:p>
        </p:txBody>
      </p:sp>
      <p:sp>
        <p:nvSpPr>
          <p:cNvPr id="486" name="Text 10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020 / 100</a:t>
            </a:r>
          </a:p>
        </p:txBody>
      </p:sp>
      <p:sp>
        <p:nvSpPr>
          <p:cNvPr id="487" name="Text 11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§03 КОМПОНЕНТЫ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021 §03 КОМПОНЕНТЫ</a:t>
            </a:r>
          </a:p>
        </p:txBody>
      </p:sp>
      <p:sp>
        <p:nvSpPr>
          <p:cNvPr id="490" name="Text 1"/>
          <p:cNvSpPr txBox="1"/>
          <p:nvPr/>
        </p:nvSpPr>
        <p:spPr>
          <a:xfrm>
            <a:off x="15689898" y="380999"/>
            <a:ext cx="2102803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41247">
              <a:defRPr sz="1656" spc="91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СИГНАЛОГРАММА</a:t>
            </a:r>
          </a:p>
        </p:txBody>
      </p:sp>
      <p:sp>
        <p:nvSpPr>
          <p:cNvPr id="491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ПРОХОЖДЕНИЕ СИГНАЛА</a:t>
            </a:r>
          </a:p>
        </p:txBody>
      </p:sp>
      <p:sp>
        <p:nvSpPr>
          <p:cNvPr id="492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Прочитайте путь сигнала от входа до драйвера</a:t>
            </a:r>
          </a:p>
        </p:txBody>
      </p:sp>
      <p:sp>
        <p:nvSpPr>
          <p:cNvPr id="493" name="Shape 4"/>
          <p:cNvSpPr/>
          <p:nvPr/>
        </p:nvSpPr>
        <p:spPr>
          <a:xfrm>
            <a:off x="1143000" y="3307398"/>
            <a:ext cx="2524125" cy="2776539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4" name="Text 5"/>
          <p:cNvSpPr txBox="1"/>
          <p:nvPr/>
        </p:nvSpPr>
        <p:spPr>
          <a:xfrm>
            <a:off x="1381124" y="3507423"/>
            <a:ext cx="38798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495" name="Text 6"/>
          <p:cNvSpPr txBox="1"/>
          <p:nvPr/>
        </p:nvSpPr>
        <p:spPr>
          <a:xfrm>
            <a:off x="1963896" y="4581366"/>
            <a:ext cx="958533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905255">
              <a:defRPr sz="1485">
                <a:solidFill>
                  <a:srgbClr val="0B0B0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RCA/XLR</a:t>
            </a:r>
          </a:p>
        </p:txBody>
      </p:sp>
      <p:sp>
        <p:nvSpPr>
          <p:cNvPr id="496" name="Text 7"/>
          <p:cNvSpPr txBox="1"/>
          <p:nvPr/>
        </p:nvSpPr>
        <p:spPr>
          <a:xfrm>
            <a:off x="3800475" y="3307398"/>
            <a:ext cx="2600325" cy="281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12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→</a:t>
            </a:r>
          </a:p>
        </p:txBody>
      </p:sp>
      <p:sp>
        <p:nvSpPr>
          <p:cNvPr id="497" name="Shape 8"/>
          <p:cNvSpPr/>
          <p:nvPr/>
        </p:nvSpPr>
        <p:spPr>
          <a:xfrm>
            <a:off x="6534150" y="3307398"/>
            <a:ext cx="2524125" cy="2776539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498" name="Text 9"/>
          <p:cNvSpPr txBox="1"/>
          <p:nvPr/>
        </p:nvSpPr>
        <p:spPr>
          <a:xfrm>
            <a:off x="6772274" y="3507423"/>
            <a:ext cx="38798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499" name="Text 10"/>
          <p:cNvSpPr txBox="1"/>
          <p:nvPr/>
        </p:nvSpPr>
        <p:spPr>
          <a:xfrm>
            <a:off x="7624285" y="4581366"/>
            <a:ext cx="420054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32104">
              <a:defRPr sz="1365">
                <a:solidFill>
                  <a:srgbClr val="0B0B0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ADC</a:t>
            </a:r>
          </a:p>
        </p:txBody>
      </p:sp>
      <p:sp>
        <p:nvSpPr>
          <p:cNvPr id="500" name="Text 11"/>
          <p:cNvSpPr txBox="1"/>
          <p:nvPr/>
        </p:nvSpPr>
        <p:spPr>
          <a:xfrm>
            <a:off x="9191625" y="3307398"/>
            <a:ext cx="2600325" cy="281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12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→</a:t>
            </a:r>
          </a:p>
        </p:txBody>
      </p:sp>
      <p:sp>
        <p:nvSpPr>
          <p:cNvPr id="501" name="Shape 12"/>
          <p:cNvSpPr/>
          <p:nvPr/>
        </p:nvSpPr>
        <p:spPr>
          <a:xfrm>
            <a:off x="11925300" y="3307398"/>
            <a:ext cx="2524125" cy="2776539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2" name="Text 13"/>
          <p:cNvSpPr txBox="1"/>
          <p:nvPr/>
        </p:nvSpPr>
        <p:spPr>
          <a:xfrm>
            <a:off x="12163424" y="3507423"/>
            <a:ext cx="38798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503" name="Text 14"/>
          <p:cNvSpPr txBox="1"/>
          <p:nvPr/>
        </p:nvSpPr>
        <p:spPr>
          <a:xfrm>
            <a:off x="12442349" y="4581366"/>
            <a:ext cx="1566228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905255">
              <a:defRPr sz="1485">
                <a:solidFill>
                  <a:srgbClr val="0B0B0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DSP · EQ · XO</a:t>
            </a:r>
          </a:p>
        </p:txBody>
      </p:sp>
      <p:sp>
        <p:nvSpPr>
          <p:cNvPr id="504" name="Text 15"/>
          <p:cNvSpPr txBox="1"/>
          <p:nvPr/>
        </p:nvSpPr>
        <p:spPr>
          <a:xfrm>
            <a:off x="14582775" y="3307398"/>
            <a:ext cx="2600325" cy="281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12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→</a:t>
            </a:r>
          </a:p>
        </p:txBody>
      </p:sp>
      <p:sp>
        <p:nvSpPr>
          <p:cNvPr id="505" name="Shape 16"/>
          <p:cNvSpPr/>
          <p:nvPr/>
        </p:nvSpPr>
        <p:spPr>
          <a:xfrm>
            <a:off x="1143000" y="6312534"/>
            <a:ext cx="2524125" cy="2776539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06" name="Text 17"/>
          <p:cNvSpPr txBox="1"/>
          <p:nvPr/>
        </p:nvSpPr>
        <p:spPr>
          <a:xfrm>
            <a:off x="1381124" y="6512559"/>
            <a:ext cx="38798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507" name="Text 18"/>
          <p:cNvSpPr txBox="1"/>
          <p:nvPr/>
        </p:nvSpPr>
        <p:spPr>
          <a:xfrm>
            <a:off x="2233135" y="7586504"/>
            <a:ext cx="420054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32104">
              <a:defRPr sz="1365">
                <a:solidFill>
                  <a:srgbClr val="0B0B0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DAC</a:t>
            </a:r>
          </a:p>
        </p:txBody>
      </p:sp>
      <p:sp>
        <p:nvSpPr>
          <p:cNvPr id="508" name="Text 19"/>
          <p:cNvSpPr txBox="1"/>
          <p:nvPr/>
        </p:nvSpPr>
        <p:spPr>
          <a:xfrm>
            <a:off x="3800475" y="6312534"/>
            <a:ext cx="2600325" cy="281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12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→</a:t>
            </a:r>
          </a:p>
        </p:txBody>
      </p:sp>
      <p:sp>
        <p:nvSpPr>
          <p:cNvPr id="509" name="Shape 20"/>
          <p:cNvSpPr/>
          <p:nvPr/>
        </p:nvSpPr>
        <p:spPr>
          <a:xfrm>
            <a:off x="6534150" y="6312534"/>
            <a:ext cx="2524125" cy="2776539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0" name="Text 21"/>
          <p:cNvSpPr txBox="1"/>
          <p:nvPr/>
        </p:nvSpPr>
        <p:spPr>
          <a:xfrm>
            <a:off x="6772274" y="6512559"/>
            <a:ext cx="38798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</a:t>
            </a:r>
          </a:p>
        </p:txBody>
      </p:sp>
      <p:sp>
        <p:nvSpPr>
          <p:cNvPr id="511" name="Text 22"/>
          <p:cNvSpPr txBox="1"/>
          <p:nvPr/>
        </p:nvSpPr>
        <p:spPr>
          <a:xfrm>
            <a:off x="7165816" y="7586504"/>
            <a:ext cx="1336994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905255">
              <a:defRPr sz="1485">
                <a:solidFill>
                  <a:srgbClr val="0B0B0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CLASS-D AMP</a:t>
            </a:r>
          </a:p>
        </p:txBody>
      </p:sp>
      <p:sp>
        <p:nvSpPr>
          <p:cNvPr id="512" name="Text 23"/>
          <p:cNvSpPr txBox="1"/>
          <p:nvPr/>
        </p:nvSpPr>
        <p:spPr>
          <a:xfrm>
            <a:off x="9191625" y="6312534"/>
            <a:ext cx="2600325" cy="28146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 anchor="ctr">
            <a:normAutofit/>
          </a:bodyPr>
          <a:lstStyle>
            <a:lvl1pPr algn="ctr">
              <a:defRPr sz="12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→</a:t>
            </a:r>
          </a:p>
        </p:txBody>
      </p:sp>
      <p:sp>
        <p:nvSpPr>
          <p:cNvPr id="513" name="Shape 24"/>
          <p:cNvSpPr/>
          <p:nvPr/>
        </p:nvSpPr>
        <p:spPr>
          <a:xfrm>
            <a:off x="11925300" y="6312534"/>
            <a:ext cx="2524125" cy="2776539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14" name="Text 25"/>
          <p:cNvSpPr txBox="1"/>
          <p:nvPr/>
        </p:nvSpPr>
        <p:spPr>
          <a:xfrm>
            <a:off x="12163424" y="6512559"/>
            <a:ext cx="38798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06</a:t>
            </a:r>
          </a:p>
        </p:txBody>
      </p:sp>
      <p:sp>
        <p:nvSpPr>
          <p:cNvPr id="515" name="Text 26"/>
          <p:cNvSpPr txBox="1"/>
          <p:nvPr/>
        </p:nvSpPr>
        <p:spPr>
          <a:xfrm>
            <a:off x="12843509" y="7586504"/>
            <a:ext cx="763906" cy="266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905255">
              <a:defRPr sz="1485">
                <a:solidFill>
                  <a:srgbClr val="0B0B0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DRIVER</a:t>
            </a:r>
          </a:p>
        </p:txBody>
      </p:sp>
      <p:sp>
        <p:nvSpPr>
          <p:cNvPr id="516" name="Text 27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021 / 100</a:t>
            </a:r>
          </a:p>
        </p:txBody>
      </p:sp>
      <p:sp>
        <p:nvSpPr>
          <p:cNvPr id="517" name="Text 28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§03 КОМПОНЕНТЫ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022 §03 КОМПОНЕНТЫ</a:t>
            </a:r>
          </a:p>
        </p:txBody>
      </p:sp>
      <p:sp>
        <p:nvSpPr>
          <p:cNvPr id="520" name="Text 1"/>
          <p:cNvSpPr txBox="1"/>
          <p:nvPr/>
        </p:nvSpPr>
        <p:spPr>
          <a:xfrm>
            <a:off x="17248823" y="380999"/>
            <a:ext cx="5438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DSP</a:t>
            </a:r>
          </a:p>
        </p:txBody>
      </p:sp>
      <p:sp>
        <p:nvSpPr>
          <p:cNvPr id="521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ЦИФРОВАЯ ОБРАБОТКА</a:t>
            </a:r>
          </a:p>
        </p:txBody>
      </p:sp>
      <p:sp>
        <p:nvSpPr>
          <p:cNvPr id="522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Определите роль DSP</a:t>
            </a:r>
          </a:p>
        </p:txBody>
      </p:sp>
      <p:sp>
        <p:nvSpPr>
          <p:cNvPr id="523" name="Text 4"/>
          <p:cNvSpPr txBox="1"/>
          <p:nvPr/>
        </p:nvSpPr>
        <p:spPr>
          <a:xfrm>
            <a:off x="1143000" y="2795270"/>
            <a:ext cx="7848600" cy="1349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35000"/>
              </a:lnSpc>
              <a:defRPr sz="2250" spc="-9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DSP-процессор ADI SHARC+ работает на 450 МГц с точностью 32-bit float. Он отвечает за пять задач одновременно:</a:t>
            </a:r>
          </a:p>
        </p:txBody>
      </p:sp>
      <p:sp>
        <p:nvSpPr>
          <p:cNvPr id="524" name="Shape 5"/>
          <p:cNvSpPr/>
          <p:nvPr/>
        </p:nvSpPr>
        <p:spPr>
          <a:xfrm>
            <a:off x="9525000" y="2793682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5" name="Text 6"/>
          <p:cNvSpPr txBox="1"/>
          <p:nvPr/>
        </p:nvSpPr>
        <p:spPr>
          <a:xfrm>
            <a:off x="9525000" y="307673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526" name="Text 7"/>
          <p:cNvSpPr txBox="1"/>
          <p:nvPr/>
        </p:nvSpPr>
        <p:spPr>
          <a:xfrm>
            <a:off x="10668000" y="3014345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Фильтр нижних частот (кроссовер)</a:t>
            </a:r>
          </a:p>
        </p:txBody>
      </p:sp>
      <p:sp>
        <p:nvSpPr>
          <p:cNvPr id="527" name="Shape 8"/>
          <p:cNvSpPr/>
          <p:nvPr/>
        </p:nvSpPr>
        <p:spPr>
          <a:xfrm>
            <a:off x="9525000" y="388524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28" name="Text 9"/>
          <p:cNvSpPr txBox="1"/>
          <p:nvPr/>
        </p:nvSpPr>
        <p:spPr>
          <a:xfrm>
            <a:off x="9525000" y="4168299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529" name="Text 10"/>
          <p:cNvSpPr txBox="1"/>
          <p:nvPr/>
        </p:nvSpPr>
        <p:spPr>
          <a:xfrm>
            <a:off x="10668000" y="4105909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Параметрический EQ, 10 полос</a:t>
            </a:r>
          </a:p>
        </p:txBody>
      </p:sp>
      <p:sp>
        <p:nvSpPr>
          <p:cNvPr id="530" name="Shape 11"/>
          <p:cNvSpPr/>
          <p:nvPr/>
        </p:nvSpPr>
        <p:spPr>
          <a:xfrm>
            <a:off x="9525000" y="4976812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1" name="Text 12"/>
          <p:cNvSpPr txBox="1"/>
          <p:nvPr/>
        </p:nvSpPr>
        <p:spPr>
          <a:xfrm>
            <a:off x="9525000" y="525986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532" name="Text 13"/>
          <p:cNvSpPr txBox="1"/>
          <p:nvPr/>
        </p:nvSpPr>
        <p:spPr>
          <a:xfrm>
            <a:off x="10668000" y="5197474"/>
            <a:ext cx="6671310" cy="434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Линеаризация фазы</a:t>
            </a:r>
          </a:p>
        </p:txBody>
      </p:sp>
      <p:sp>
        <p:nvSpPr>
          <p:cNvPr id="533" name="Shape 14"/>
          <p:cNvSpPr/>
          <p:nvPr/>
        </p:nvSpPr>
        <p:spPr>
          <a:xfrm>
            <a:off x="9525000" y="606837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4" name="Text 15"/>
          <p:cNvSpPr txBox="1"/>
          <p:nvPr/>
        </p:nvSpPr>
        <p:spPr>
          <a:xfrm>
            <a:off x="9525000" y="6351428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535" name="Text 16"/>
          <p:cNvSpPr txBox="1"/>
          <p:nvPr/>
        </p:nvSpPr>
        <p:spPr>
          <a:xfrm>
            <a:off x="10668000" y="6289040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Ограничение экскурсии драйвера</a:t>
            </a:r>
          </a:p>
        </p:txBody>
      </p:sp>
      <p:sp>
        <p:nvSpPr>
          <p:cNvPr id="536" name="Shape 17"/>
          <p:cNvSpPr/>
          <p:nvPr/>
        </p:nvSpPr>
        <p:spPr>
          <a:xfrm>
            <a:off x="9525000" y="798480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7" name="Shape 18"/>
          <p:cNvSpPr/>
          <p:nvPr/>
        </p:nvSpPr>
        <p:spPr>
          <a:xfrm>
            <a:off x="9525000" y="7159942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38" name="Text 19"/>
          <p:cNvSpPr txBox="1"/>
          <p:nvPr/>
        </p:nvSpPr>
        <p:spPr>
          <a:xfrm>
            <a:off x="9525000" y="744299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</a:t>
            </a:r>
          </a:p>
        </p:txBody>
      </p:sp>
      <p:sp>
        <p:nvSpPr>
          <p:cNvPr id="539" name="Text 20"/>
          <p:cNvSpPr txBox="1"/>
          <p:nvPr/>
        </p:nvSpPr>
        <p:spPr>
          <a:xfrm>
            <a:off x="10668000" y="7380605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Температурная защита усилителя</a:t>
            </a:r>
          </a:p>
        </p:txBody>
      </p:sp>
      <p:sp>
        <p:nvSpPr>
          <p:cNvPr id="540" name="Text 21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022 / 100</a:t>
            </a:r>
          </a:p>
        </p:txBody>
      </p:sp>
      <p:sp>
        <p:nvSpPr>
          <p:cNvPr id="541" name="Text 22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§03 КОМПОНЕНТЫ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023 §03 КОМПОНЕНТЫ</a:t>
            </a:r>
          </a:p>
        </p:txBody>
      </p:sp>
      <p:sp>
        <p:nvSpPr>
          <p:cNvPr id="544" name="Text 1"/>
          <p:cNvSpPr txBox="1"/>
          <p:nvPr/>
        </p:nvSpPr>
        <p:spPr>
          <a:xfrm>
            <a:off x="16781144" y="380999"/>
            <a:ext cx="1011556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РАЗРЕЗ</a:t>
            </a:r>
          </a:p>
        </p:txBody>
      </p:sp>
      <p:sp>
        <p:nvSpPr>
          <p:cNvPr id="545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60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ВНУТРЕННЕЕ УСТРОЙСТВО</a:t>
            </a:r>
          </a:p>
        </p:txBody>
      </p:sp>
      <p:sp>
        <p:nvSpPr>
          <p:cNvPr id="546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Посмотрите на внутреннюю структуру</a:t>
            </a:r>
          </a:p>
        </p:txBody>
      </p:sp>
      <p:sp>
        <p:nvSpPr>
          <p:cNvPr id="547" name="Shape 4"/>
          <p:cNvSpPr/>
          <p:nvPr/>
        </p:nvSpPr>
        <p:spPr>
          <a:xfrm>
            <a:off x="1143000" y="2871469"/>
            <a:ext cx="10293350" cy="8577741"/>
          </a:xfrm>
          <a:prstGeom prst="rect">
            <a:avLst/>
          </a:prstGeom>
          <a:solidFill>
            <a:srgbClr val="141416"/>
          </a:solidFill>
          <a:ln>
            <a:solidFill>
              <a:srgbClr val="F4F2EE">
                <a:alpha val="18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4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6239" y="3308984"/>
            <a:ext cx="9246871" cy="7702710"/>
          </a:xfrm>
          <a:prstGeom prst="rect">
            <a:avLst/>
          </a:prstGeom>
          <a:ln w="12700">
            <a:miter lim="400000"/>
          </a:ln>
        </p:spPr>
      </p:pic>
      <p:sp>
        <p:nvSpPr>
          <p:cNvPr id="549" name="Text 5"/>
          <p:cNvSpPr txBox="1"/>
          <p:nvPr/>
        </p:nvSpPr>
        <p:spPr>
          <a:xfrm>
            <a:off x="1381125" y="3071495"/>
            <a:ext cx="116744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710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CUTAWAY</a:t>
            </a:r>
          </a:p>
        </p:txBody>
      </p:sp>
      <p:sp>
        <p:nvSpPr>
          <p:cNvPr id="550" name="Shape 6"/>
          <p:cNvSpPr/>
          <p:nvPr/>
        </p:nvSpPr>
        <p:spPr>
          <a:xfrm>
            <a:off x="12007850" y="5104129"/>
            <a:ext cx="513715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1" name="Text 7"/>
          <p:cNvSpPr txBox="1"/>
          <p:nvPr/>
        </p:nvSpPr>
        <p:spPr>
          <a:xfrm>
            <a:off x="12007850" y="5387180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A</a:t>
            </a:r>
          </a:p>
        </p:txBody>
      </p:sp>
      <p:sp>
        <p:nvSpPr>
          <p:cNvPr id="552" name="Text 8"/>
          <p:cNvSpPr txBox="1"/>
          <p:nvPr/>
        </p:nvSpPr>
        <p:spPr>
          <a:xfrm>
            <a:off x="13150849" y="5324792"/>
            <a:ext cx="4113976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Драйвер</a:t>
            </a:r>
          </a:p>
        </p:txBody>
      </p:sp>
      <p:sp>
        <p:nvSpPr>
          <p:cNvPr id="553" name="Shape 9"/>
          <p:cNvSpPr/>
          <p:nvPr/>
        </p:nvSpPr>
        <p:spPr>
          <a:xfrm>
            <a:off x="12007850" y="6195694"/>
            <a:ext cx="513715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4" name="Text 10"/>
          <p:cNvSpPr txBox="1"/>
          <p:nvPr/>
        </p:nvSpPr>
        <p:spPr>
          <a:xfrm>
            <a:off x="12007850" y="6478746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B</a:t>
            </a:r>
          </a:p>
        </p:txBody>
      </p:sp>
      <p:sp>
        <p:nvSpPr>
          <p:cNvPr id="555" name="Text 11"/>
          <p:cNvSpPr txBox="1"/>
          <p:nvPr/>
        </p:nvSpPr>
        <p:spPr>
          <a:xfrm>
            <a:off x="13150849" y="6416357"/>
            <a:ext cx="4113976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Магнит и фрейм</a:t>
            </a:r>
          </a:p>
        </p:txBody>
      </p:sp>
      <p:sp>
        <p:nvSpPr>
          <p:cNvPr id="556" name="Shape 12"/>
          <p:cNvSpPr/>
          <p:nvPr/>
        </p:nvSpPr>
        <p:spPr>
          <a:xfrm>
            <a:off x="12007850" y="7287260"/>
            <a:ext cx="513715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57" name="Text 13"/>
          <p:cNvSpPr txBox="1"/>
          <p:nvPr/>
        </p:nvSpPr>
        <p:spPr>
          <a:xfrm>
            <a:off x="12007850" y="7570310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</a:t>
            </a:r>
          </a:p>
        </p:txBody>
      </p:sp>
      <p:sp>
        <p:nvSpPr>
          <p:cNvPr id="558" name="Text 14"/>
          <p:cNvSpPr txBox="1"/>
          <p:nvPr/>
        </p:nvSpPr>
        <p:spPr>
          <a:xfrm>
            <a:off x="13150849" y="7507923"/>
            <a:ext cx="4113976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Усилитель и DSP</a:t>
            </a:r>
          </a:p>
        </p:txBody>
      </p:sp>
      <p:sp>
        <p:nvSpPr>
          <p:cNvPr id="559" name="Shape 15"/>
          <p:cNvSpPr/>
          <p:nvPr/>
        </p:nvSpPr>
        <p:spPr>
          <a:xfrm>
            <a:off x="12007850" y="9203689"/>
            <a:ext cx="513715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0" name="Shape 16"/>
          <p:cNvSpPr/>
          <p:nvPr/>
        </p:nvSpPr>
        <p:spPr>
          <a:xfrm>
            <a:off x="12007850" y="8378824"/>
            <a:ext cx="513715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61" name="Text 17"/>
          <p:cNvSpPr txBox="1"/>
          <p:nvPr/>
        </p:nvSpPr>
        <p:spPr>
          <a:xfrm>
            <a:off x="12007850" y="8661875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D</a:t>
            </a:r>
          </a:p>
        </p:txBody>
      </p:sp>
      <p:sp>
        <p:nvSpPr>
          <p:cNvPr id="562" name="Text 18"/>
          <p:cNvSpPr txBox="1"/>
          <p:nvPr/>
        </p:nvSpPr>
        <p:spPr>
          <a:xfrm>
            <a:off x="13150849" y="8599486"/>
            <a:ext cx="4113976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Порт фазоинвертора</a:t>
            </a:r>
          </a:p>
        </p:txBody>
      </p:sp>
      <p:sp>
        <p:nvSpPr>
          <p:cNvPr id="563" name="Text 19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023 / 100</a:t>
            </a:r>
          </a:p>
        </p:txBody>
      </p:sp>
      <p:sp>
        <p:nvSpPr>
          <p:cNvPr id="564" name="Text 20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§03 КОМПОНЕНТЫ</a:t>
            </a:r>
          </a:p>
        </p:txBody>
      </p:sp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Text 0"/>
          <p:cNvSpPr txBox="1"/>
          <p:nvPr/>
        </p:nvSpPr>
        <p:spPr>
          <a:xfrm>
            <a:off x="1143000" y="5169217"/>
            <a:ext cx="667131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РАЗДЕЛ 04</a:t>
            </a:r>
          </a:p>
        </p:txBody>
      </p:sp>
      <p:sp>
        <p:nvSpPr>
          <p:cNvPr id="567" name="Text 1"/>
          <p:cNvSpPr txBox="1"/>
          <p:nvPr/>
        </p:nvSpPr>
        <p:spPr>
          <a:xfrm>
            <a:off x="1143000" y="5707379"/>
            <a:ext cx="6671310" cy="347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40079">
              <a:lnSpc>
                <a:spcPct val="82000"/>
              </a:lnSpc>
              <a:defRPr sz="23100" spc="-133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04</a:t>
            </a:r>
          </a:p>
        </p:txBody>
      </p:sp>
      <p:sp>
        <p:nvSpPr>
          <p:cNvPr id="568" name="Text 2"/>
          <p:cNvSpPr txBox="1"/>
          <p:nvPr/>
        </p:nvSpPr>
        <p:spPr>
          <a:xfrm>
            <a:off x="8381999" y="3407409"/>
            <a:ext cx="9025892" cy="147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4999"/>
              </a:lnSpc>
              <a:defRPr sz="5400" spc="-2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Типы сабвуферов</a:t>
            </a:r>
          </a:p>
        </p:txBody>
      </p:sp>
      <p:sp>
        <p:nvSpPr>
          <p:cNvPr id="569" name="Text 3"/>
          <p:cNvSpPr txBox="1"/>
          <p:nvPr/>
        </p:nvSpPr>
        <p:spPr>
          <a:xfrm>
            <a:off x="8382000" y="5152390"/>
            <a:ext cx="6867525" cy="86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35000"/>
              </a:lnSpc>
              <a:defRPr sz="2256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lang="ru-RU" dirty="0"/>
              <a:t>Пять</a:t>
            </a:r>
            <a:r>
              <a:rPr dirty="0"/>
              <a:t> </a:t>
            </a:r>
            <a:r>
              <a:rPr dirty="0" err="1"/>
              <a:t>страниц</a:t>
            </a:r>
            <a:r>
              <a:rPr dirty="0"/>
              <a:t> о </a:t>
            </a:r>
            <a:r>
              <a:rPr dirty="0" err="1"/>
              <a:t>том</a:t>
            </a:r>
            <a:r>
              <a:rPr dirty="0"/>
              <a:t>, </a:t>
            </a:r>
            <a:r>
              <a:rPr dirty="0" err="1"/>
              <a:t>чем</a:t>
            </a:r>
            <a:r>
              <a:rPr dirty="0"/>
              <a:t> </a:t>
            </a:r>
            <a:r>
              <a:rPr dirty="0" err="1"/>
              <a:t>отличаются</a:t>
            </a:r>
            <a:r>
              <a:rPr dirty="0"/>
              <a:t> Home, Car, PA и Studio — и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выбрать</a:t>
            </a:r>
            <a:r>
              <a:rPr dirty="0"/>
              <a:t> </a:t>
            </a:r>
            <a:r>
              <a:rPr dirty="0" err="1"/>
              <a:t>правильный</a:t>
            </a:r>
            <a:r>
              <a:rPr dirty="0"/>
              <a:t>.</a:t>
            </a:r>
          </a:p>
        </p:txBody>
      </p:sp>
      <p:sp>
        <p:nvSpPr>
          <p:cNvPr id="570" name="Shape 4"/>
          <p:cNvSpPr/>
          <p:nvPr/>
        </p:nvSpPr>
        <p:spPr>
          <a:xfrm>
            <a:off x="8382000" y="624046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1" name="Text 5"/>
          <p:cNvSpPr txBox="1"/>
          <p:nvPr/>
        </p:nvSpPr>
        <p:spPr>
          <a:xfrm>
            <a:off x="8382000" y="641222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025</a:t>
            </a:r>
          </a:p>
        </p:txBody>
      </p:sp>
      <p:sp>
        <p:nvSpPr>
          <p:cNvPr id="572" name="Text 6"/>
          <p:cNvSpPr txBox="1"/>
          <p:nvPr/>
        </p:nvSpPr>
        <p:spPr>
          <a:xfrm>
            <a:off x="9239249" y="6384924"/>
            <a:ext cx="6180775" cy="340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Home — активный саб</a:t>
            </a:r>
          </a:p>
        </p:txBody>
      </p:sp>
      <p:sp>
        <p:nvSpPr>
          <p:cNvPr id="573" name="Shape 7"/>
          <p:cNvSpPr/>
          <p:nvPr/>
        </p:nvSpPr>
        <p:spPr>
          <a:xfrm>
            <a:off x="8382000" y="681894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4" name="Text 8"/>
          <p:cNvSpPr txBox="1"/>
          <p:nvPr/>
        </p:nvSpPr>
        <p:spPr>
          <a:xfrm>
            <a:off x="8382000" y="6990715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026</a:t>
            </a:r>
          </a:p>
        </p:txBody>
      </p:sp>
      <p:sp>
        <p:nvSpPr>
          <p:cNvPr id="575" name="Text 9"/>
          <p:cNvSpPr txBox="1"/>
          <p:nvPr/>
        </p:nvSpPr>
        <p:spPr>
          <a:xfrm>
            <a:off x="9239249" y="6963409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Car — авто-саб</a:t>
            </a:r>
          </a:p>
        </p:txBody>
      </p:sp>
      <p:sp>
        <p:nvSpPr>
          <p:cNvPr id="576" name="Shape 10"/>
          <p:cNvSpPr/>
          <p:nvPr/>
        </p:nvSpPr>
        <p:spPr>
          <a:xfrm>
            <a:off x="8382000" y="739743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77" name="Text 11"/>
          <p:cNvSpPr txBox="1"/>
          <p:nvPr/>
        </p:nvSpPr>
        <p:spPr>
          <a:xfrm>
            <a:off x="8382000" y="7569199"/>
            <a:ext cx="93345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027</a:t>
            </a:r>
          </a:p>
        </p:txBody>
      </p:sp>
      <p:sp>
        <p:nvSpPr>
          <p:cNvPr id="578" name="Text 12"/>
          <p:cNvSpPr txBox="1"/>
          <p:nvPr/>
        </p:nvSpPr>
        <p:spPr>
          <a:xfrm>
            <a:off x="9239249" y="754189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PA — концертный</a:t>
            </a:r>
          </a:p>
        </p:txBody>
      </p:sp>
      <p:sp>
        <p:nvSpPr>
          <p:cNvPr id="579" name="Shape 13"/>
          <p:cNvSpPr/>
          <p:nvPr/>
        </p:nvSpPr>
        <p:spPr>
          <a:xfrm>
            <a:off x="8382000" y="797591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0" name="Text 14"/>
          <p:cNvSpPr txBox="1"/>
          <p:nvPr/>
        </p:nvSpPr>
        <p:spPr>
          <a:xfrm>
            <a:off x="8382000" y="8147684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028</a:t>
            </a:r>
          </a:p>
        </p:txBody>
      </p:sp>
      <p:sp>
        <p:nvSpPr>
          <p:cNvPr id="581" name="Text 15"/>
          <p:cNvSpPr txBox="1"/>
          <p:nvPr/>
        </p:nvSpPr>
        <p:spPr>
          <a:xfrm>
            <a:off x="9239249" y="812038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Studio — студийный</a:t>
            </a:r>
          </a:p>
        </p:txBody>
      </p:sp>
      <p:sp>
        <p:nvSpPr>
          <p:cNvPr id="582" name="Shape 16"/>
          <p:cNvSpPr/>
          <p:nvPr/>
        </p:nvSpPr>
        <p:spPr>
          <a:xfrm>
            <a:off x="8382000" y="913288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3" name="Shape 17"/>
          <p:cNvSpPr/>
          <p:nvPr/>
        </p:nvSpPr>
        <p:spPr>
          <a:xfrm>
            <a:off x="8382000" y="855440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84" name="Text 18"/>
          <p:cNvSpPr txBox="1"/>
          <p:nvPr/>
        </p:nvSpPr>
        <p:spPr>
          <a:xfrm>
            <a:off x="8382000" y="872616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029</a:t>
            </a:r>
          </a:p>
        </p:txBody>
      </p:sp>
      <p:sp>
        <p:nvSpPr>
          <p:cNvPr id="585" name="Text 19"/>
          <p:cNvSpPr txBox="1"/>
          <p:nvPr/>
        </p:nvSpPr>
        <p:spPr>
          <a:xfrm>
            <a:off x="9239249" y="8698865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Сравнение типов</a:t>
            </a:r>
          </a:p>
        </p:txBody>
      </p:sp>
      <p:sp>
        <p:nvSpPr>
          <p:cNvPr id="586" name="Text 20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024 / 100</a:t>
            </a:r>
          </a:p>
        </p:txBody>
      </p:sp>
      <p:sp>
        <p:nvSpPr>
          <p:cNvPr id="587" name="Text 21"/>
          <p:cNvSpPr txBox="1"/>
          <p:nvPr/>
        </p:nvSpPr>
        <p:spPr>
          <a:xfrm>
            <a:off x="16469360" y="9672638"/>
            <a:ext cx="132334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§04 ТИПЫ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Text 0"/>
          <p:cNvSpPr txBox="1"/>
          <p:nvPr/>
        </p:nvSpPr>
        <p:spPr>
          <a:xfrm>
            <a:off x="571499" y="380999"/>
            <a:ext cx="23599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025 §04 ТИПЫ</a:t>
            </a:r>
          </a:p>
        </p:txBody>
      </p:sp>
      <p:sp>
        <p:nvSpPr>
          <p:cNvPr id="590" name="Text 1"/>
          <p:cNvSpPr txBox="1"/>
          <p:nvPr/>
        </p:nvSpPr>
        <p:spPr>
          <a:xfrm>
            <a:off x="17092930" y="380999"/>
            <a:ext cx="69977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13816">
              <a:defRPr sz="1602" spc="89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HOME</a:t>
            </a:r>
          </a:p>
        </p:txBody>
      </p:sp>
      <p:sp>
        <p:nvSpPr>
          <p:cNvPr id="591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ТИП 01</a:t>
            </a:r>
          </a:p>
        </p:txBody>
      </p:sp>
      <p:sp>
        <p:nvSpPr>
          <p:cNvPr id="592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Выберите домашний активный сабвуфер</a:t>
            </a:r>
          </a:p>
        </p:txBody>
      </p:sp>
      <p:sp>
        <p:nvSpPr>
          <p:cNvPr id="593" name="Shape 4"/>
          <p:cNvSpPr/>
          <p:nvPr/>
        </p:nvSpPr>
        <p:spPr>
          <a:xfrm>
            <a:off x="1143000" y="2719070"/>
            <a:ext cx="7620000" cy="76200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59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643" y="3678713"/>
            <a:ext cx="5700714" cy="5700714"/>
          </a:xfrm>
          <a:prstGeom prst="rect">
            <a:avLst/>
          </a:prstGeom>
          <a:ln w="12700">
            <a:miter lim="400000"/>
          </a:ln>
        </p:spPr>
      </p:pic>
      <p:sp>
        <p:nvSpPr>
          <p:cNvPr id="595" name="Text 5"/>
          <p:cNvSpPr txBox="1"/>
          <p:nvPr/>
        </p:nvSpPr>
        <p:spPr>
          <a:xfrm>
            <a:off x="1381124" y="2919095"/>
            <a:ext cx="179102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SUB-01 HOME</a:t>
            </a:r>
          </a:p>
        </p:txBody>
      </p:sp>
      <p:sp>
        <p:nvSpPr>
          <p:cNvPr id="596" name="Shape 6"/>
          <p:cNvSpPr/>
          <p:nvPr/>
        </p:nvSpPr>
        <p:spPr>
          <a:xfrm>
            <a:off x="9525000" y="484187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597" name="Text 7"/>
          <p:cNvSpPr txBox="1"/>
          <p:nvPr/>
        </p:nvSpPr>
        <p:spPr>
          <a:xfrm>
            <a:off x="9525000" y="5014912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ДЛЯ</a:t>
            </a:r>
          </a:p>
        </p:txBody>
      </p:sp>
      <p:sp>
        <p:nvSpPr>
          <p:cNvPr id="598" name="Text 8"/>
          <p:cNvSpPr txBox="1"/>
          <p:nvPr/>
        </p:nvSpPr>
        <p:spPr>
          <a:xfrm>
            <a:off x="12725399" y="5014912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Кино, Hi-Fi, игры</a:t>
            </a:r>
          </a:p>
        </p:txBody>
      </p:sp>
      <p:sp>
        <p:nvSpPr>
          <p:cNvPr id="599" name="Shape 9"/>
          <p:cNvSpPr/>
          <p:nvPr/>
        </p:nvSpPr>
        <p:spPr>
          <a:xfrm>
            <a:off x="9525000" y="551608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0" name="Text 10"/>
          <p:cNvSpPr txBox="1"/>
          <p:nvPr/>
        </p:nvSpPr>
        <p:spPr>
          <a:xfrm>
            <a:off x="9525000" y="568912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МОЩНОСТЬ</a:t>
            </a:r>
          </a:p>
        </p:txBody>
      </p:sp>
      <p:sp>
        <p:nvSpPr>
          <p:cNvPr id="601" name="Text 11"/>
          <p:cNvSpPr txBox="1"/>
          <p:nvPr/>
        </p:nvSpPr>
        <p:spPr>
          <a:xfrm>
            <a:off x="12725399" y="568912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500 Вт RMS</a:t>
            </a:r>
          </a:p>
        </p:txBody>
      </p:sp>
      <p:sp>
        <p:nvSpPr>
          <p:cNvPr id="602" name="Shape 12"/>
          <p:cNvSpPr/>
          <p:nvPr/>
        </p:nvSpPr>
        <p:spPr>
          <a:xfrm>
            <a:off x="9525000" y="619029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3" name="Text 13"/>
          <p:cNvSpPr txBox="1"/>
          <p:nvPr/>
        </p:nvSpPr>
        <p:spPr>
          <a:xfrm>
            <a:off x="9525000" y="636333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ДИАПАЗОН</a:t>
            </a:r>
          </a:p>
        </p:txBody>
      </p:sp>
      <p:sp>
        <p:nvSpPr>
          <p:cNvPr id="604" name="Text 14"/>
          <p:cNvSpPr txBox="1"/>
          <p:nvPr/>
        </p:nvSpPr>
        <p:spPr>
          <a:xfrm>
            <a:off x="12725399" y="636333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22—200 Гц</a:t>
            </a:r>
          </a:p>
        </p:txBody>
      </p:sp>
      <p:sp>
        <p:nvSpPr>
          <p:cNvPr id="605" name="Shape 15"/>
          <p:cNvSpPr/>
          <p:nvPr/>
        </p:nvSpPr>
        <p:spPr>
          <a:xfrm>
            <a:off x="9525000" y="686450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6" name="Text 16"/>
          <p:cNvSpPr txBox="1"/>
          <p:nvPr/>
        </p:nvSpPr>
        <p:spPr>
          <a:xfrm>
            <a:off x="9525000" y="7037545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ВХОДЫ</a:t>
            </a:r>
          </a:p>
        </p:txBody>
      </p:sp>
      <p:sp>
        <p:nvSpPr>
          <p:cNvPr id="607" name="Text 17"/>
          <p:cNvSpPr txBox="1"/>
          <p:nvPr/>
        </p:nvSpPr>
        <p:spPr>
          <a:xfrm>
            <a:off x="12725399" y="7037545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RCA LFE · XLR · Wi-Fi</a:t>
            </a:r>
          </a:p>
        </p:txBody>
      </p:sp>
      <p:sp>
        <p:nvSpPr>
          <p:cNvPr id="608" name="Shape 18"/>
          <p:cNvSpPr/>
          <p:nvPr/>
        </p:nvSpPr>
        <p:spPr>
          <a:xfrm>
            <a:off x="9525000" y="820340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09" name="Shape 19"/>
          <p:cNvSpPr/>
          <p:nvPr/>
        </p:nvSpPr>
        <p:spPr>
          <a:xfrm>
            <a:off x="9525000" y="753871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10" name="Text 20"/>
          <p:cNvSpPr txBox="1"/>
          <p:nvPr/>
        </p:nvSpPr>
        <p:spPr>
          <a:xfrm>
            <a:off x="9525000" y="7711757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ЦЕНА</a:t>
            </a:r>
          </a:p>
        </p:txBody>
      </p:sp>
      <p:sp>
        <p:nvSpPr>
          <p:cNvPr id="611" name="Text 21"/>
          <p:cNvSpPr txBox="1"/>
          <p:nvPr/>
        </p:nvSpPr>
        <p:spPr>
          <a:xfrm>
            <a:off x="12725399" y="7711757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от 1 200 $</a:t>
            </a:r>
          </a:p>
        </p:txBody>
      </p:sp>
      <p:sp>
        <p:nvSpPr>
          <p:cNvPr id="612" name="Text 22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025 / 100</a:t>
            </a:r>
          </a:p>
        </p:txBody>
      </p:sp>
      <p:sp>
        <p:nvSpPr>
          <p:cNvPr id="613" name="Text 23"/>
          <p:cNvSpPr txBox="1"/>
          <p:nvPr/>
        </p:nvSpPr>
        <p:spPr>
          <a:xfrm>
            <a:off x="16469360" y="9672638"/>
            <a:ext cx="132334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§04 ТИПЫ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Text 0"/>
          <p:cNvSpPr txBox="1"/>
          <p:nvPr/>
        </p:nvSpPr>
        <p:spPr>
          <a:xfrm>
            <a:off x="571499" y="380999"/>
            <a:ext cx="23599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026 §04 ТИПЫ</a:t>
            </a:r>
          </a:p>
        </p:txBody>
      </p:sp>
      <p:sp>
        <p:nvSpPr>
          <p:cNvPr id="616" name="Text 1"/>
          <p:cNvSpPr txBox="1"/>
          <p:nvPr/>
        </p:nvSpPr>
        <p:spPr>
          <a:xfrm>
            <a:off x="17248823" y="380999"/>
            <a:ext cx="5438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CAR</a:t>
            </a:r>
          </a:p>
        </p:txBody>
      </p:sp>
      <p:sp>
        <p:nvSpPr>
          <p:cNvPr id="617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ТИП 02</a:t>
            </a:r>
          </a:p>
        </p:txBody>
      </p:sp>
      <p:sp>
        <p:nvSpPr>
          <p:cNvPr id="618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Выберите автомобильный сабвуфер</a:t>
            </a:r>
          </a:p>
        </p:txBody>
      </p:sp>
      <p:sp>
        <p:nvSpPr>
          <p:cNvPr id="619" name="Shape 4"/>
          <p:cNvSpPr/>
          <p:nvPr/>
        </p:nvSpPr>
        <p:spPr>
          <a:xfrm>
            <a:off x="1143000" y="3400583"/>
            <a:ext cx="7620000" cy="5442904"/>
          </a:xfrm>
          <a:prstGeom prst="rect">
            <a:avLst/>
          </a:prstGeom>
          <a:solidFill>
            <a:srgbClr val="F4F2EE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2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596" y="3816825"/>
            <a:ext cx="6460808" cy="4610260"/>
          </a:xfrm>
          <a:prstGeom prst="rect">
            <a:avLst/>
          </a:prstGeom>
          <a:ln w="12700">
            <a:miter lim="400000"/>
          </a:ln>
        </p:spPr>
      </p:pic>
      <p:sp>
        <p:nvSpPr>
          <p:cNvPr id="621" name="Text 5"/>
          <p:cNvSpPr txBox="1"/>
          <p:nvPr/>
        </p:nvSpPr>
        <p:spPr>
          <a:xfrm>
            <a:off x="1381125" y="3600608"/>
            <a:ext cx="163512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SUB-01 CAR</a:t>
            </a:r>
          </a:p>
        </p:txBody>
      </p:sp>
      <p:sp>
        <p:nvSpPr>
          <p:cNvPr id="622" name="Shape 6"/>
          <p:cNvSpPr/>
          <p:nvPr/>
        </p:nvSpPr>
        <p:spPr>
          <a:xfrm>
            <a:off x="9525000" y="443483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3" name="Text 7"/>
          <p:cNvSpPr txBox="1"/>
          <p:nvPr/>
        </p:nvSpPr>
        <p:spPr>
          <a:xfrm>
            <a:off x="9525000" y="4607876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ДЛЯ</a:t>
            </a:r>
          </a:p>
        </p:txBody>
      </p:sp>
      <p:sp>
        <p:nvSpPr>
          <p:cNvPr id="624" name="Text 8"/>
          <p:cNvSpPr txBox="1"/>
          <p:nvPr/>
        </p:nvSpPr>
        <p:spPr>
          <a:xfrm>
            <a:off x="12725399" y="4607876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Авто, багажник</a:t>
            </a:r>
          </a:p>
        </p:txBody>
      </p:sp>
      <p:sp>
        <p:nvSpPr>
          <p:cNvPr id="625" name="Shape 9"/>
          <p:cNvSpPr/>
          <p:nvPr/>
        </p:nvSpPr>
        <p:spPr>
          <a:xfrm>
            <a:off x="9525000" y="510905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6" name="Text 10"/>
          <p:cNvSpPr txBox="1"/>
          <p:nvPr/>
        </p:nvSpPr>
        <p:spPr>
          <a:xfrm>
            <a:off x="9525000" y="5282088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МОЩНОСТЬ</a:t>
            </a:r>
          </a:p>
        </p:txBody>
      </p:sp>
      <p:sp>
        <p:nvSpPr>
          <p:cNvPr id="627" name="Text 11"/>
          <p:cNvSpPr txBox="1"/>
          <p:nvPr/>
        </p:nvSpPr>
        <p:spPr>
          <a:xfrm>
            <a:off x="12725399" y="5282088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800 Вт RMS, 12В</a:t>
            </a:r>
          </a:p>
        </p:txBody>
      </p:sp>
      <p:sp>
        <p:nvSpPr>
          <p:cNvPr id="628" name="Shape 12"/>
          <p:cNvSpPr/>
          <p:nvPr/>
        </p:nvSpPr>
        <p:spPr>
          <a:xfrm>
            <a:off x="9525000" y="5783262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29" name="Text 13"/>
          <p:cNvSpPr txBox="1"/>
          <p:nvPr/>
        </p:nvSpPr>
        <p:spPr>
          <a:xfrm>
            <a:off x="9525000" y="5956299"/>
            <a:ext cx="3296412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ДИАПАЗОН</a:t>
            </a:r>
          </a:p>
        </p:txBody>
      </p:sp>
      <p:sp>
        <p:nvSpPr>
          <p:cNvPr id="630" name="Text 14"/>
          <p:cNvSpPr txBox="1"/>
          <p:nvPr/>
        </p:nvSpPr>
        <p:spPr>
          <a:xfrm>
            <a:off x="12725399" y="5956299"/>
            <a:ext cx="4552190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28—180 Гц</a:t>
            </a:r>
          </a:p>
        </p:txBody>
      </p:sp>
      <p:sp>
        <p:nvSpPr>
          <p:cNvPr id="631" name="Shape 15"/>
          <p:cNvSpPr/>
          <p:nvPr/>
        </p:nvSpPr>
        <p:spPr>
          <a:xfrm>
            <a:off x="9525000" y="645747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2" name="Text 16"/>
          <p:cNvSpPr txBox="1"/>
          <p:nvPr/>
        </p:nvSpPr>
        <p:spPr>
          <a:xfrm>
            <a:off x="9525000" y="6630512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ИМПЕДАНС</a:t>
            </a:r>
          </a:p>
        </p:txBody>
      </p:sp>
      <p:sp>
        <p:nvSpPr>
          <p:cNvPr id="633" name="Text 17"/>
          <p:cNvSpPr txBox="1"/>
          <p:nvPr/>
        </p:nvSpPr>
        <p:spPr>
          <a:xfrm>
            <a:off x="12725399" y="6630512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 × 4 Ом (DVC)</a:t>
            </a:r>
          </a:p>
        </p:txBody>
      </p:sp>
      <p:sp>
        <p:nvSpPr>
          <p:cNvPr id="634" name="Shape 18"/>
          <p:cNvSpPr/>
          <p:nvPr/>
        </p:nvSpPr>
        <p:spPr>
          <a:xfrm>
            <a:off x="9525000" y="779637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5" name="Shape 19"/>
          <p:cNvSpPr/>
          <p:nvPr/>
        </p:nvSpPr>
        <p:spPr>
          <a:xfrm>
            <a:off x="9525000" y="713168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36" name="Text 20"/>
          <p:cNvSpPr txBox="1"/>
          <p:nvPr/>
        </p:nvSpPr>
        <p:spPr>
          <a:xfrm>
            <a:off x="9525000" y="7304723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ЦЕНА</a:t>
            </a:r>
          </a:p>
        </p:txBody>
      </p:sp>
      <p:sp>
        <p:nvSpPr>
          <p:cNvPr id="637" name="Text 21"/>
          <p:cNvSpPr txBox="1"/>
          <p:nvPr/>
        </p:nvSpPr>
        <p:spPr>
          <a:xfrm>
            <a:off x="12725399" y="7304723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от 650 $</a:t>
            </a:r>
          </a:p>
        </p:txBody>
      </p:sp>
      <p:sp>
        <p:nvSpPr>
          <p:cNvPr id="638" name="Text 22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026 / 100</a:t>
            </a:r>
          </a:p>
        </p:txBody>
      </p:sp>
      <p:sp>
        <p:nvSpPr>
          <p:cNvPr id="639" name="Text 23"/>
          <p:cNvSpPr txBox="1"/>
          <p:nvPr/>
        </p:nvSpPr>
        <p:spPr>
          <a:xfrm>
            <a:off x="16469360" y="9672638"/>
            <a:ext cx="132334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§04 ТИПЫ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Text 0"/>
          <p:cNvSpPr txBox="1"/>
          <p:nvPr/>
        </p:nvSpPr>
        <p:spPr>
          <a:xfrm>
            <a:off x="571499" y="380999"/>
            <a:ext cx="23599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027 §04 ТИПЫ</a:t>
            </a:r>
          </a:p>
        </p:txBody>
      </p:sp>
      <p:sp>
        <p:nvSpPr>
          <p:cNvPr id="642" name="Text 1"/>
          <p:cNvSpPr txBox="1"/>
          <p:nvPr/>
        </p:nvSpPr>
        <p:spPr>
          <a:xfrm>
            <a:off x="17404714" y="380999"/>
            <a:ext cx="387986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PA</a:t>
            </a:r>
          </a:p>
        </p:txBody>
      </p:sp>
      <p:sp>
        <p:nvSpPr>
          <p:cNvPr id="643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ТИП 03</a:t>
            </a:r>
          </a:p>
        </p:txBody>
      </p:sp>
      <p:sp>
        <p:nvSpPr>
          <p:cNvPr id="644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Выберите PA-сабвуфер для концертов</a:t>
            </a:r>
          </a:p>
        </p:txBody>
      </p:sp>
      <p:sp>
        <p:nvSpPr>
          <p:cNvPr id="645" name="Shape 4"/>
          <p:cNvSpPr/>
          <p:nvPr/>
        </p:nvSpPr>
        <p:spPr>
          <a:xfrm>
            <a:off x="1143000" y="2719070"/>
            <a:ext cx="7620000" cy="91440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4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667" y="4097337"/>
            <a:ext cx="5320666" cy="6387467"/>
          </a:xfrm>
          <a:prstGeom prst="rect">
            <a:avLst/>
          </a:prstGeom>
          <a:ln w="12700">
            <a:miter lim="400000"/>
          </a:ln>
        </p:spPr>
      </p:pic>
      <p:sp>
        <p:nvSpPr>
          <p:cNvPr id="647" name="Text 5"/>
          <p:cNvSpPr txBox="1"/>
          <p:nvPr/>
        </p:nvSpPr>
        <p:spPr>
          <a:xfrm>
            <a:off x="1381124" y="2919095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SUB-01 PA</a:t>
            </a:r>
          </a:p>
        </p:txBody>
      </p:sp>
      <p:sp>
        <p:nvSpPr>
          <p:cNvPr id="648" name="Shape 6"/>
          <p:cNvSpPr/>
          <p:nvPr/>
        </p:nvSpPr>
        <p:spPr>
          <a:xfrm>
            <a:off x="9525000" y="560387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49" name="Text 7"/>
          <p:cNvSpPr txBox="1"/>
          <p:nvPr/>
        </p:nvSpPr>
        <p:spPr>
          <a:xfrm>
            <a:off x="9525000" y="5776912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ДЛЯ</a:t>
            </a:r>
          </a:p>
        </p:txBody>
      </p:sp>
      <p:sp>
        <p:nvSpPr>
          <p:cNvPr id="650" name="Text 8"/>
          <p:cNvSpPr txBox="1"/>
          <p:nvPr/>
        </p:nvSpPr>
        <p:spPr>
          <a:xfrm>
            <a:off x="12725399" y="5776912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Клубы, туры, ивенты</a:t>
            </a:r>
          </a:p>
        </p:txBody>
      </p:sp>
      <p:sp>
        <p:nvSpPr>
          <p:cNvPr id="651" name="Shape 9"/>
          <p:cNvSpPr/>
          <p:nvPr/>
        </p:nvSpPr>
        <p:spPr>
          <a:xfrm>
            <a:off x="9525000" y="627808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2" name="Text 10"/>
          <p:cNvSpPr txBox="1"/>
          <p:nvPr/>
        </p:nvSpPr>
        <p:spPr>
          <a:xfrm>
            <a:off x="9525000" y="645112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МОЩНОСТЬ</a:t>
            </a:r>
          </a:p>
        </p:txBody>
      </p:sp>
      <p:sp>
        <p:nvSpPr>
          <p:cNvPr id="653" name="Text 11"/>
          <p:cNvSpPr txBox="1"/>
          <p:nvPr/>
        </p:nvSpPr>
        <p:spPr>
          <a:xfrm>
            <a:off x="12725399" y="645112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1 400 Вт RMS</a:t>
            </a:r>
          </a:p>
        </p:txBody>
      </p:sp>
      <p:sp>
        <p:nvSpPr>
          <p:cNvPr id="654" name="Shape 12"/>
          <p:cNvSpPr/>
          <p:nvPr/>
        </p:nvSpPr>
        <p:spPr>
          <a:xfrm>
            <a:off x="9525000" y="695229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5" name="Text 13"/>
          <p:cNvSpPr txBox="1"/>
          <p:nvPr/>
        </p:nvSpPr>
        <p:spPr>
          <a:xfrm>
            <a:off x="9525000" y="712533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SPL</a:t>
            </a:r>
          </a:p>
        </p:txBody>
      </p:sp>
      <p:sp>
        <p:nvSpPr>
          <p:cNvPr id="656" name="Text 14"/>
          <p:cNvSpPr txBox="1"/>
          <p:nvPr/>
        </p:nvSpPr>
        <p:spPr>
          <a:xfrm>
            <a:off x="12725399" y="712533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138 дБ макс.</a:t>
            </a:r>
          </a:p>
        </p:txBody>
      </p:sp>
      <p:sp>
        <p:nvSpPr>
          <p:cNvPr id="657" name="Shape 15"/>
          <p:cNvSpPr/>
          <p:nvPr/>
        </p:nvSpPr>
        <p:spPr>
          <a:xfrm>
            <a:off x="9525000" y="762650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58" name="Text 16"/>
          <p:cNvSpPr txBox="1"/>
          <p:nvPr/>
        </p:nvSpPr>
        <p:spPr>
          <a:xfrm>
            <a:off x="9525000" y="7799545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КОРПУС</a:t>
            </a:r>
          </a:p>
        </p:txBody>
      </p:sp>
      <p:sp>
        <p:nvSpPr>
          <p:cNvPr id="659" name="Text 17"/>
          <p:cNvSpPr txBox="1"/>
          <p:nvPr/>
        </p:nvSpPr>
        <p:spPr>
          <a:xfrm>
            <a:off x="12725399" y="7799545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Берёзовая фанера 18 мм</a:t>
            </a:r>
          </a:p>
        </p:txBody>
      </p:sp>
      <p:sp>
        <p:nvSpPr>
          <p:cNvPr id="660" name="Shape 18"/>
          <p:cNvSpPr/>
          <p:nvPr/>
        </p:nvSpPr>
        <p:spPr>
          <a:xfrm>
            <a:off x="9525000" y="896540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61" name="Shape 19"/>
          <p:cNvSpPr/>
          <p:nvPr/>
        </p:nvSpPr>
        <p:spPr>
          <a:xfrm>
            <a:off x="9525000" y="830071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62" name="Text 20"/>
          <p:cNvSpPr txBox="1"/>
          <p:nvPr/>
        </p:nvSpPr>
        <p:spPr>
          <a:xfrm>
            <a:off x="9525000" y="8473757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ЦЕНА</a:t>
            </a:r>
          </a:p>
        </p:txBody>
      </p:sp>
      <p:sp>
        <p:nvSpPr>
          <p:cNvPr id="663" name="Text 21"/>
          <p:cNvSpPr txBox="1"/>
          <p:nvPr/>
        </p:nvSpPr>
        <p:spPr>
          <a:xfrm>
            <a:off x="12725399" y="8473757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от 2 800 $</a:t>
            </a:r>
          </a:p>
        </p:txBody>
      </p:sp>
      <p:sp>
        <p:nvSpPr>
          <p:cNvPr id="664" name="Text 22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027 / 100</a:t>
            </a:r>
          </a:p>
        </p:txBody>
      </p:sp>
      <p:sp>
        <p:nvSpPr>
          <p:cNvPr id="665" name="Text 23"/>
          <p:cNvSpPr txBox="1"/>
          <p:nvPr/>
        </p:nvSpPr>
        <p:spPr>
          <a:xfrm>
            <a:off x="16469360" y="9672638"/>
            <a:ext cx="132334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§04 ТИПЫ</a:t>
            </a:r>
          </a:p>
        </p:txBody>
      </p:sp>
    </p:spTree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Text 0"/>
          <p:cNvSpPr txBox="1"/>
          <p:nvPr/>
        </p:nvSpPr>
        <p:spPr>
          <a:xfrm>
            <a:off x="571499" y="380999"/>
            <a:ext cx="23599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028 §04 ТИПЫ</a:t>
            </a:r>
          </a:p>
        </p:txBody>
      </p:sp>
      <p:sp>
        <p:nvSpPr>
          <p:cNvPr id="668" name="Text 1"/>
          <p:cNvSpPr txBox="1"/>
          <p:nvPr/>
        </p:nvSpPr>
        <p:spPr>
          <a:xfrm>
            <a:off x="16781144" y="380999"/>
            <a:ext cx="1011556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STUDIO</a:t>
            </a:r>
          </a:p>
        </p:txBody>
      </p:sp>
      <p:sp>
        <p:nvSpPr>
          <p:cNvPr id="669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ТИП 04</a:t>
            </a:r>
          </a:p>
        </p:txBody>
      </p:sp>
      <p:sp>
        <p:nvSpPr>
          <p:cNvPr id="670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Выберите студийный сабвуфер</a:t>
            </a:r>
          </a:p>
        </p:txBody>
      </p:sp>
      <p:sp>
        <p:nvSpPr>
          <p:cNvPr id="671" name="Shape 4"/>
          <p:cNvSpPr/>
          <p:nvPr/>
        </p:nvSpPr>
        <p:spPr>
          <a:xfrm>
            <a:off x="1143000" y="2719070"/>
            <a:ext cx="7620000" cy="76200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67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2643" y="3678713"/>
            <a:ext cx="5700714" cy="5700714"/>
          </a:xfrm>
          <a:prstGeom prst="rect">
            <a:avLst/>
          </a:prstGeom>
          <a:ln w="12700">
            <a:miter lim="400000"/>
          </a:ln>
        </p:spPr>
      </p:pic>
      <p:sp>
        <p:nvSpPr>
          <p:cNvPr id="673" name="Text 5"/>
          <p:cNvSpPr txBox="1"/>
          <p:nvPr/>
        </p:nvSpPr>
        <p:spPr>
          <a:xfrm>
            <a:off x="1381124" y="2919095"/>
            <a:ext cx="2102804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SUB-01 STUDIO</a:t>
            </a:r>
          </a:p>
        </p:txBody>
      </p:sp>
      <p:sp>
        <p:nvSpPr>
          <p:cNvPr id="674" name="Shape 6"/>
          <p:cNvSpPr/>
          <p:nvPr/>
        </p:nvSpPr>
        <p:spPr>
          <a:xfrm>
            <a:off x="9525000" y="484187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5" name="Text 7"/>
          <p:cNvSpPr txBox="1"/>
          <p:nvPr/>
        </p:nvSpPr>
        <p:spPr>
          <a:xfrm>
            <a:off x="9525000" y="5014912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ДЛЯ</a:t>
            </a:r>
          </a:p>
        </p:txBody>
      </p:sp>
      <p:sp>
        <p:nvSpPr>
          <p:cNvPr id="676" name="Text 8"/>
          <p:cNvSpPr txBox="1"/>
          <p:nvPr/>
        </p:nvSpPr>
        <p:spPr>
          <a:xfrm>
            <a:off x="12725399" y="5014912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Mastering, mix room</a:t>
            </a:r>
          </a:p>
        </p:txBody>
      </p:sp>
      <p:sp>
        <p:nvSpPr>
          <p:cNvPr id="677" name="Shape 9"/>
          <p:cNvSpPr/>
          <p:nvPr/>
        </p:nvSpPr>
        <p:spPr>
          <a:xfrm>
            <a:off x="9525000" y="551608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78" name="Text 10"/>
          <p:cNvSpPr txBox="1"/>
          <p:nvPr/>
        </p:nvSpPr>
        <p:spPr>
          <a:xfrm>
            <a:off x="9525000" y="568912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МОЩНОСТЬ</a:t>
            </a:r>
          </a:p>
        </p:txBody>
      </p:sp>
      <p:sp>
        <p:nvSpPr>
          <p:cNvPr id="679" name="Text 11"/>
          <p:cNvSpPr txBox="1"/>
          <p:nvPr/>
        </p:nvSpPr>
        <p:spPr>
          <a:xfrm>
            <a:off x="12725399" y="568912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400 Вт, sealed</a:t>
            </a:r>
          </a:p>
        </p:txBody>
      </p:sp>
      <p:sp>
        <p:nvSpPr>
          <p:cNvPr id="680" name="Shape 12"/>
          <p:cNvSpPr/>
          <p:nvPr/>
        </p:nvSpPr>
        <p:spPr>
          <a:xfrm>
            <a:off x="9525000" y="619029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1" name="Text 13"/>
          <p:cNvSpPr txBox="1"/>
          <p:nvPr/>
        </p:nvSpPr>
        <p:spPr>
          <a:xfrm>
            <a:off x="9525000" y="636333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ДИАПАЗОН</a:t>
            </a:r>
          </a:p>
        </p:txBody>
      </p:sp>
      <p:sp>
        <p:nvSpPr>
          <p:cNvPr id="682" name="Text 14"/>
          <p:cNvSpPr txBox="1"/>
          <p:nvPr/>
        </p:nvSpPr>
        <p:spPr>
          <a:xfrm>
            <a:off x="12725399" y="636333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18—160 Гц ±1.5 дБ</a:t>
            </a:r>
          </a:p>
        </p:txBody>
      </p:sp>
      <p:sp>
        <p:nvSpPr>
          <p:cNvPr id="683" name="Shape 15"/>
          <p:cNvSpPr/>
          <p:nvPr/>
        </p:nvSpPr>
        <p:spPr>
          <a:xfrm>
            <a:off x="9525000" y="686450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4" name="Text 16"/>
          <p:cNvSpPr txBox="1"/>
          <p:nvPr/>
        </p:nvSpPr>
        <p:spPr>
          <a:xfrm>
            <a:off x="9525000" y="7037545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ФАЗА</a:t>
            </a:r>
          </a:p>
        </p:txBody>
      </p:sp>
      <p:sp>
        <p:nvSpPr>
          <p:cNvPr id="685" name="Text 17"/>
          <p:cNvSpPr txBox="1"/>
          <p:nvPr/>
        </p:nvSpPr>
        <p:spPr>
          <a:xfrm>
            <a:off x="12725399" y="7037545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Линеаризованная</a:t>
            </a:r>
          </a:p>
        </p:txBody>
      </p:sp>
      <p:sp>
        <p:nvSpPr>
          <p:cNvPr id="686" name="Shape 18"/>
          <p:cNvSpPr/>
          <p:nvPr/>
        </p:nvSpPr>
        <p:spPr>
          <a:xfrm>
            <a:off x="9525000" y="820340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7" name="Shape 19"/>
          <p:cNvSpPr/>
          <p:nvPr/>
        </p:nvSpPr>
        <p:spPr>
          <a:xfrm>
            <a:off x="9525000" y="753871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88" name="Text 20"/>
          <p:cNvSpPr txBox="1"/>
          <p:nvPr/>
        </p:nvSpPr>
        <p:spPr>
          <a:xfrm>
            <a:off x="9525000" y="7711757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ЦЕНА</a:t>
            </a:r>
          </a:p>
        </p:txBody>
      </p:sp>
      <p:sp>
        <p:nvSpPr>
          <p:cNvPr id="689" name="Text 21"/>
          <p:cNvSpPr txBox="1"/>
          <p:nvPr/>
        </p:nvSpPr>
        <p:spPr>
          <a:xfrm>
            <a:off x="12725399" y="7711757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от 3 400 $</a:t>
            </a:r>
          </a:p>
        </p:txBody>
      </p:sp>
      <p:sp>
        <p:nvSpPr>
          <p:cNvPr id="690" name="Text 22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028 / 100</a:t>
            </a:r>
          </a:p>
        </p:txBody>
      </p:sp>
      <p:sp>
        <p:nvSpPr>
          <p:cNvPr id="691" name="Text 23"/>
          <p:cNvSpPr txBox="1"/>
          <p:nvPr/>
        </p:nvSpPr>
        <p:spPr>
          <a:xfrm>
            <a:off x="16469360" y="9672638"/>
            <a:ext cx="132334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§04 ТИПЫ</a:t>
            </a:r>
          </a:p>
        </p:txBody>
      </p:sp>
    </p:spTree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Text 0"/>
          <p:cNvSpPr txBox="1"/>
          <p:nvPr/>
        </p:nvSpPr>
        <p:spPr>
          <a:xfrm>
            <a:off x="571499" y="380999"/>
            <a:ext cx="23599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029 §04 ТИПЫ</a:t>
            </a:r>
          </a:p>
        </p:txBody>
      </p:sp>
      <p:sp>
        <p:nvSpPr>
          <p:cNvPr id="694" name="Text 1"/>
          <p:cNvSpPr txBox="1"/>
          <p:nvPr/>
        </p:nvSpPr>
        <p:spPr>
          <a:xfrm>
            <a:off x="16313466" y="380999"/>
            <a:ext cx="147923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0391">
              <a:defRPr sz="1674" spc="93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СРАВНЕНИЕ</a:t>
            </a:r>
          </a:p>
        </p:txBody>
      </p:sp>
      <p:sp>
        <p:nvSpPr>
          <p:cNvPr id="695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СРАВНЕНИЕ</a:t>
            </a:r>
          </a:p>
        </p:txBody>
      </p:sp>
      <p:sp>
        <p:nvSpPr>
          <p:cNvPr id="696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Сравните типы по ключевым параметрам</a:t>
            </a:r>
          </a:p>
        </p:txBody>
      </p:sp>
      <p:sp>
        <p:nvSpPr>
          <p:cNvPr id="697" name="Shape 4"/>
          <p:cNvSpPr/>
          <p:nvPr/>
        </p:nvSpPr>
        <p:spPr>
          <a:xfrm>
            <a:off x="1143000" y="2874645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698" name="Text 5"/>
          <p:cNvSpPr txBox="1"/>
          <p:nvPr/>
        </p:nvSpPr>
        <p:spPr>
          <a:xfrm>
            <a:off x="1142999" y="3047682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ПАРАМЕТР</a:t>
            </a:r>
          </a:p>
        </p:txBody>
      </p:sp>
      <p:sp>
        <p:nvSpPr>
          <p:cNvPr id="699" name="Text 6"/>
          <p:cNvSpPr txBox="1"/>
          <p:nvPr/>
        </p:nvSpPr>
        <p:spPr>
          <a:xfrm>
            <a:off x="7863840" y="3047682"/>
            <a:ext cx="321400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Home</a:t>
            </a:r>
          </a:p>
        </p:txBody>
      </p:sp>
      <p:sp>
        <p:nvSpPr>
          <p:cNvPr id="700" name="Text 7"/>
          <p:cNvSpPr txBox="1"/>
          <p:nvPr/>
        </p:nvSpPr>
        <p:spPr>
          <a:xfrm>
            <a:off x="10984230" y="3047682"/>
            <a:ext cx="1945323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Car</a:t>
            </a:r>
          </a:p>
        </p:txBody>
      </p:sp>
      <p:sp>
        <p:nvSpPr>
          <p:cNvPr id="701" name="Text 8"/>
          <p:cNvSpPr txBox="1"/>
          <p:nvPr/>
        </p:nvSpPr>
        <p:spPr>
          <a:xfrm>
            <a:off x="12853352" y="3047682"/>
            <a:ext cx="222488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PA</a:t>
            </a:r>
          </a:p>
        </p:txBody>
      </p:sp>
      <p:sp>
        <p:nvSpPr>
          <p:cNvPr id="702" name="Text 9"/>
          <p:cNvSpPr txBox="1"/>
          <p:nvPr/>
        </p:nvSpPr>
        <p:spPr>
          <a:xfrm>
            <a:off x="15002033" y="3047682"/>
            <a:ext cx="22191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Studio</a:t>
            </a:r>
          </a:p>
        </p:txBody>
      </p:sp>
      <p:sp>
        <p:nvSpPr>
          <p:cNvPr id="703" name="Shape 10"/>
          <p:cNvSpPr/>
          <p:nvPr/>
        </p:nvSpPr>
        <p:spPr>
          <a:xfrm>
            <a:off x="1143000" y="3548856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04" name="Text 11"/>
          <p:cNvSpPr txBox="1"/>
          <p:nvPr/>
        </p:nvSpPr>
        <p:spPr>
          <a:xfrm>
            <a:off x="1142999" y="3721894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МОЩНОСТЬ, ВТ RMS</a:t>
            </a:r>
          </a:p>
        </p:txBody>
      </p:sp>
      <p:sp>
        <p:nvSpPr>
          <p:cNvPr id="705" name="Text 12"/>
          <p:cNvSpPr txBox="1"/>
          <p:nvPr/>
        </p:nvSpPr>
        <p:spPr>
          <a:xfrm>
            <a:off x="7863840" y="3721894"/>
            <a:ext cx="321400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500</a:t>
            </a:r>
          </a:p>
        </p:txBody>
      </p:sp>
      <p:sp>
        <p:nvSpPr>
          <p:cNvPr id="706" name="Text 13"/>
          <p:cNvSpPr txBox="1"/>
          <p:nvPr/>
        </p:nvSpPr>
        <p:spPr>
          <a:xfrm>
            <a:off x="10984230" y="3721894"/>
            <a:ext cx="1945323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800</a:t>
            </a:r>
          </a:p>
        </p:txBody>
      </p:sp>
      <p:sp>
        <p:nvSpPr>
          <p:cNvPr id="707" name="Text 14"/>
          <p:cNvSpPr txBox="1"/>
          <p:nvPr/>
        </p:nvSpPr>
        <p:spPr>
          <a:xfrm>
            <a:off x="12853352" y="3721894"/>
            <a:ext cx="222488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1 400</a:t>
            </a:r>
          </a:p>
        </p:txBody>
      </p:sp>
      <p:sp>
        <p:nvSpPr>
          <p:cNvPr id="708" name="Text 15"/>
          <p:cNvSpPr txBox="1"/>
          <p:nvPr/>
        </p:nvSpPr>
        <p:spPr>
          <a:xfrm>
            <a:off x="15002033" y="3721894"/>
            <a:ext cx="22191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400</a:t>
            </a:r>
          </a:p>
        </p:txBody>
      </p:sp>
      <p:sp>
        <p:nvSpPr>
          <p:cNvPr id="709" name="Shape 16"/>
          <p:cNvSpPr/>
          <p:nvPr/>
        </p:nvSpPr>
        <p:spPr>
          <a:xfrm>
            <a:off x="1143000" y="422306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0" name="Text 17"/>
          <p:cNvSpPr txBox="1"/>
          <p:nvPr/>
        </p:nvSpPr>
        <p:spPr>
          <a:xfrm>
            <a:off x="1142999" y="4396104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ДИАПАЗОН, ГЦ</a:t>
            </a:r>
          </a:p>
        </p:txBody>
      </p:sp>
      <p:sp>
        <p:nvSpPr>
          <p:cNvPr id="711" name="Text 18"/>
          <p:cNvSpPr txBox="1"/>
          <p:nvPr/>
        </p:nvSpPr>
        <p:spPr>
          <a:xfrm>
            <a:off x="7863840" y="4396104"/>
            <a:ext cx="321400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22—200</a:t>
            </a:r>
          </a:p>
        </p:txBody>
      </p:sp>
      <p:sp>
        <p:nvSpPr>
          <p:cNvPr id="712" name="Text 19"/>
          <p:cNvSpPr txBox="1"/>
          <p:nvPr/>
        </p:nvSpPr>
        <p:spPr>
          <a:xfrm>
            <a:off x="10984230" y="4396104"/>
            <a:ext cx="1945323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28—180</a:t>
            </a:r>
          </a:p>
        </p:txBody>
      </p:sp>
      <p:sp>
        <p:nvSpPr>
          <p:cNvPr id="713" name="Text 20"/>
          <p:cNvSpPr txBox="1"/>
          <p:nvPr/>
        </p:nvSpPr>
        <p:spPr>
          <a:xfrm>
            <a:off x="12853352" y="4396104"/>
            <a:ext cx="222488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35—150</a:t>
            </a:r>
          </a:p>
        </p:txBody>
      </p:sp>
      <p:sp>
        <p:nvSpPr>
          <p:cNvPr id="714" name="Text 21"/>
          <p:cNvSpPr txBox="1"/>
          <p:nvPr/>
        </p:nvSpPr>
        <p:spPr>
          <a:xfrm>
            <a:off x="15002033" y="4396104"/>
            <a:ext cx="22191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18—160</a:t>
            </a:r>
          </a:p>
        </p:txBody>
      </p:sp>
      <p:sp>
        <p:nvSpPr>
          <p:cNvPr id="715" name="Shape 22"/>
          <p:cNvSpPr/>
          <p:nvPr/>
        </p:nvSpPr>
        <p:spPr>
          <a:xfrm>
            <a:off x="1143000" y="4897278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16" name="Text 23"/>
          <p:cNvSpPr txBox="1"/>
          <p:nvPr/>
        </p:nvSpPr>
        <p:spPr>
          <a:xfrm>
            <a:off x="1142999" y="5070316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ТИП КОРПУСА</a:t>
            </a:r>
          </a:p>
        </p:txBody>
      </p:sp>
      <p:sp>
        <p:nvSpPr>
          <p:cNvPr id="717" name="Text 24"/>
          <p:cNvSpPr txBox="1"/>
          <p:nvPr/>
        </p:nvSpPr>
        <p:spPr>
          <a:xfrm>
            <a:off x="7863840" y="5070316"/>
            <a:ext cx="321400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Ported</a:t>
            </a:r>
          </a:p>
        </p:txBody>
      </p:sp>
      <p:sp>
        <p:nvSpPr>
          <p:cNvPr id="718" name="Text 25"/>
          <p:cNvSpPr txBox="1"/>
          <p:nvPr/>
        </p:nvSpPr>
        <p:spPr>
          <a:xfrm>
            <a:off x="10984230" y="5070316"/>
            <a:ext cx="1945323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Ported</a:t>
            </a:r>
          </a:p>
        </p:txBody>
      </p:sp>
      <p:sp>
        <p:nvSpPr>
          <p:cNvPr id="719" name="Text 26"/>
          <p:cNvSpPr txBox="1"/>
          <p:nvPr/>
        </p:nvSpPr>
        <p:spPr>
          <a:xfrm>
            <a:off x="12853352" y="5070316"/>
            <a:ext cx="222488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Ported</a:t>
            </a:r>
          </a:p>
        </p:txBody>
      </p:sp>
      <p:sp>
        <p:nvSpPr>
          <p:cNvPr id="720" name="Text 27"/>
          <p:cNvSpPr txBox="1"/>
          <p:nvPr/>
        </p:nvSpPr>
        <p:spPr>
          <a:xfrm>
            <a:off x="15002033" y="5070316"/>
            <a:ext cx="22191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Sealed</a:t>
            </a:r>
          </a:p>
        </p:txBody>
      </p:sp>
      <p:sp>
        <p:nvSpPr>
          <p:cNvPr id="721" name="Shape 28"/>
          <p:cNvSpPr/>
          <p:nvPr/>
        </p:nvSpPr>
        <p:spPr>
          <a:xfrm>
            <a:off x="1143000" y="5571489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2" name="Text 29"/>
          <p:cNvSpPr txBox="1"/>
          <p:nvPr/>
        </p:nvSpPr>
        <p:spPr>
          <a:xfrm>
            <a:off x="1142999" y="5744526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МАКС. SPL, ДБ</a:t>
            </a:r>
          </a:p>
        </p:txBody>
      </p:sp>
      <p:sp>
        <p:nvSpPr>
          <p:cNvPr id="723" name="Text 30"/>
          <p:cNvSpPr txBox="1"/>
          <p:nvPr/>
        </p:nvSpPr>
        <p:spPr>
          <a:xfrm>
            <a:off x="7863840" y="5744526"/>
            <a:ext cx="321400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118</a:t>
            </a:r>
          </a:p>
        </p:txBody>
      </p:sp>
      <p:sp>
        <p:nvSpPr>
          <p:cNvPr id="724" name="Text 31"/>
          <p:cNvSpPr txBox="1"/>
          <p:nvPr/>
        </p:nvSpPr>
        <p:spPr>
          <a:xfrm>
            <a:off x="10984230" y="5744526"/>
            <a:ext cx="1945323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132</a:t>
            </a:r>
          </a:p>
        </p:txBody>
      </p:sp>
      <p:sp>
        <p:nvSpPr>
          <p:cNvPr id="725" name="Text 32"/>
          <p:cNvSpPr txBox="1"/>
          <p:nvPr/>
        </p:nvSpPr>
        <p:spPr>
          <a:xfrm>
            <a:off x="12853352" y="5744526"/>
            <a:ext cx="222488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138</a:t>
            </a:r>
          </a:p>
        </p:txBody>
      </p:sp>
      <p:sp>
        <p:nvSpPr>
          <p:cNvPr id="726" name="Text 33"/>
          <p:cNvSpPr txBox="1"/>
          <p:nvPr/>
        </p:nvSpPr>
        <p:spPr>
          <a:xfrm>
            <a:off x="15002033" y="5744526"/>
            <a:ext cx="22191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112</a:t>
            </a:r>
          </a:p>
        </p:txBody>
      </p:sp>
      <p:sp>
        <p:nvSpPr>
          <p:cNvPr id="727" name="Shape 34"/>
          <p:cNvSpPr/>
          <p:nvPr/>
        </p:nvSpPr>
        <p:spPr>
          <a:xfrm>
            <a:off x="1143000" y="6245700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28" name="Text 35"/>
          <p:cNvSpPr txBox="1"/>
          <p:nvPr/>
        </p:nvSpPr>
        <p:spPr>
          <a:xfrm>
            <a:off x="1142999" y="6418738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ПРИОРИТЕТ</a:t>
            </a:r>
          </a:p>
        </p:txBody>
      </p:sp>
      <p:sp>
        <p:nvSpPr>
          <p:cNvPr id="729" name="Text 36"/>
          <p:cNvSpPr txBox="1"/>
          <p:nvPr/>
        </p:nvSpPr>
        <p:spPr>
          <a:xfrm>
            <a:off x="7863840" y="6418738"/>
            <a:ext cx="321400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Баланс</a:t>
            </a:r>
          </a:p>
        </p:txBody>
      </p:sp>
      <p:sp>
        <p:nvSpPr>
          <p:cNvPr id="730" name="Text 37"/>
          <p:cNvSpPr txBox="1"/>
          <p:nvPr/>
        </p:nvSpPr>
        <p:spPr>
          <a:xfrm>
            <a:off x="10984230" y="6418738"/>
            <a:ext cx="1945323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SPL</a:t>
            </a:r>
          </a:p>
        </p:txBody>
      </p:sp>
      <p:sp>
        <p:nvSpPr>
          <p:cNvPr id="731" name="Text 38"/>
          <p:cNvSpPr txBox="1"/>
          <p:nvPr/>
        </p:nvSpPr>
        <p:spPr>
          <a:xfrm>
            <a:off x="12853352" y="6418738"/>
            <a:ext cx="222488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SPL / вес</a:t>
            </a:r>
          </a:p>
        </p:txBody>
      </p:sp>
      <p:sp>
        <p:nvSpPr>
          <p:cNvPr id="732" name="Text 39"/>
          <p:cNvSpPr txBox="1"/>
          <p:nvPr/>
        </p:nvSpPr>
        <p:spPr>
          <a:xfrm>
            <a:off x="15002033" y="6418738"/>
            <a:ext cx="22191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Точность</a:t>
            </a:r>
          </a:p>
        </p:txBody>
      </p:sp>
      <p:sp>
        <p:nvSpPr>
          <p:cNvPr id="733" name="Shape 40"/>
          <p:cNvSpPr/>
          <p:nvPr/>
        </p:nvSpPr>
        <p:spPr>
          <a:xfrm>
            <a:off x="1143000" y="7584598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34" name="Shape 41"/>
          <p:cNvSpPr/>
          <p:nvPr/>
        </p:nvSpPr>
        <p:spPr>
          <a:xfrm>
            <a:off x="1143000" y="691991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35" name="Text 42"/>
          <p:cNvSpPr txBox="1"/>
          <p:nvPr/>
        </p:nvSpPr>
        <p:spPr>
          <a:xfrm>
            <a:off x="1142999" y="7092949"/>
            <a:ext cx="6922467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ПИТАНИЕ</a:t>
            </a:r>
          </a:p>
        </p:txBody>
      </p:sp>
      <p:sp>
        <p:nvSpPr>
          <p:cNvPr id="736" name="Text 43"/>
          <p:cNvSpPr txBox="1"/>
          <p:nvPr/>
        </p:nvSpPr>
        <p:spPr>
          <a:xfrm>
            <a:off x="7863840" y="7092949"/>
            <a:ext cx="3214002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230 В AC</a:t>
            </a:r>
          </a:p>
        </p:txBody>
      </p:sp>
      <p:sp>
        <p:nvSpPr>
          <p:cNvPr id="737" name="Text 44"/>
          <p:cNvSpPr txBox="1"/>
          <p:nvPr/>
        </p:nvSpPr>
        <p:spPr>
          <a:xfrm>
            <a:off x="10984230" y="7092949"/>
            <a:ext cx="1945323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12 В DC</a:t>
            </a:r>
          </a:p>
        </p:txBody>
      </p:sp>
      <p:sp>
        <p:nvSpPr>
          <p:cNvPr id="738" name="Text 45"/>
          <p:cNvSpPr txBox="1"/>
          <p:nvPr/>
        </p:nvSpPr>
        <p:spPr>
          <a:xfrm>
            <a:off x="12853352" y="7092949"/>
            <a:ext cx="2224882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230 В AC</a:t>
            </a:r>
          </a:p>
        </p:txBody>
      </p:sp>
      <p:sp>
        <p:nvSpPr>
          <p:cNvPr id="739" name="Text 46"/>
          <p:cNvSpPr txBox="1"/>
          <p:nvPr/>
        </p:nvSpPr>
        <p:spPr>
          <a:xfrm>
            <a:off x="15002033" y="7092949"/>
            <a:ext cx="2219167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230 В AC</a:t>
            </a:r>
          </a:p>
        </p:txBody>
      </p:sp>
      <p:sp>
        <p:nvSpPr>
          <p:cNvPr id="740" name="Text 47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029 / 100</a:t>
            </a:r>
          </a:p>
        </p:txBody>
      </p:sp>
      <p:sp>
        <p:nvSpPr>
          <p:cNvPr id="741" name="Text 48"/>
          <p:cNvSpPr txBox="1"/>
          <p:nvPr/>
        </p:nvSpPr>
        <p:spPr>
          <a:xfrm>
            <a:off x="16469360" y="9672638"/>
            <a:ext cx="132334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§04 ТИПЫ</a:t>
            </a:r>
          </a:p>
        </p:txBody>
      </p:sp>
    </p:spTree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3" name="Text 0"/>
          <p:cNvSpPr txBox="1"/>
          <p:nvPr/>
        </p:nvSpPr>
        <p:spPr>
          <a:xfrm>
            <a:off x="1143000" y="5169217"/>
            <a:ext cx="667131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РАЗДЕЛ 05</a:t>
            </a:r>
          </a:p>
        </p:txBody>
      </p:sp>
      <p:sp>
        <p:nvSpPr>
          <p:cNvPr id="744" name="Text 1"/>
          <p:cNvSpPr txBox="1"/>
          <p:nvPr/>
        </p:nvSpPr>
        <p:spPr>
          <a:xfrm>
            <a:off x="1143000" y="5707379"/>
            <a:ext cx="6671310" cy="347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40079">
              <a:lnSpc>
                <a:spcPct val="82000"/>
              </a:lnSpc>
              <a:defRPr sz="23100" spc="-133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05</a:t>
            </a:r>
          </a:p>
        </p:txBody>
      </p:sp>
      <p:sp>
        <p:nvSpPr>
          <p:cNvPr id="745" name="Text 2"/>
          <p:cNvSpPr txBox="1"/>
          <p:nvPr/>
        </p:nvSpPr>
        <p:spPr>
          <a:xfrm>
            <a:off x="8381999" y="2212339"/>
            <a:ext cx="9025892" cy="14782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04999"/>
              </a:lnSpc>
              <a:defRPr sz="5400" spc="-2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Размещение в комнате</a:t>
            </a:r>
          </a:p>
        </p:txBody>
      </p:sp>
      <p:sp>
        <p:nvSpPr>
          <p:cNvPr id="746" name="Text 3"/>
          <p:cNvSpPr txBox="1"/>
          <p:nvPr/>
        </p:nvSpPr>
        <p:spPr>
          <a:xfrm>
            <a:off x="8382000" y="3957320"/>
            <a:ext cx="6867525" cy="86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35000"/>
              </a:lnSpc>
              <a:defRPr sz="2256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dirty="0" err="1"/>
              <a:t>Комната</a:t>
            </a:r>
            <a:r>
              <a:rPr dirty="0"/>
              <a:t>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фильтр</a:t>
            </a:r>
            <a:r>
              <a:rPr dirty="0"/>
              <a:t>. </a:t>
            </a:r>
            <a:r>
              <a:rPr lang="ru-RU" dirty="0"/>
              <a:t>Шесть</a:t>
            </a:r>
            <a:r>
              <a:rPr dirty="0"/>
              <a:t> </a:t>
            </a:r>
            <a:r>
              <a:rPr dirty="0" err="1"/>
              <a:t>страниц</a:t>
            </a:r>
            <a:r>
              <a:rPr dirty="0"/>
              <a:t> о </a:t>
            </a:r>
            <a:r>
              <a:rPr dirty="0" err="1"/>
              <a:t>том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работать</a:t>
            </a:r>
            <a:r>
              <a:rPr dirty="0"/>
              <a:t> с </a:t>
            </a:r>
            <a:r>
              <a:rPr dirty="0" err="1"/>
              <a:t>ней</a:t>
            </a:r>
            <a:r>
              <a:rPr dirty="0"/>
              <a:t>, а </a:t>
            </a:r>
            <a:r>
              <a:rPr dirty="0" err="1"/>
              <a:t>не</a:t>
            </a:r>
            <a:r>
              <a:rPr dirty="0"/>
              <a:t> </a:t>
            </a:r>
            <a:r>
              <a:rPr dirty="0" err="1"/>
              <a:t>против</a:t>
            </a:r>
            <a:r>
              <a:rPr dirty="0"/>
              <a:t>.</a:t>
            </a:r>
          </a:p>
        </p:txBody>
      </p:sp>
      <p:sp>
        <p:nvSpPr>
          <p:cNvPr id="750" name="Shape 7"/>
          <p:cNvSpPr/>
          <p:nvPr/>
        </p:nvSpPr>
        <p:spPr>
          <a:xfrm>
            <a:off x="8382000" y="508984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1" name="Text 8"/>
          <p:cNvSpPr txBox="1"/>
          <p:nvPr/>
        </p:nvSpPr>
        <p:spPr>
          <a:xfrm>
            <a:off x="8382000" y="5261610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03</a:t>
            </a:r>
            <a:r>
              <a:rPr lang="ru-RU" dirty="0"/>
              <a:t>1</a:t>
            </a:r>
            <a:endParaRPr dirty="0"/>
          </a:p>
        </p:txBody>
      </p:sp>
      <p:sp>
        <p:nvSpPr>
          <p:cNvPr id="752" name="Text 9"/>
          <p:cNvSpPr txBox="1"/>
          <p:nvPr/>
        </p:nvSpPr>
        <p:spPr>
          <a:xfrm>
            <a:off x="9239249" y="5234305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Избегайте углов</a:t>
            </a:r>
          </a:p>
        </p:txBody>
      </p:sp>
      <p:sp>
        <p:nvSpPr>
          <p:cNvPr id="753" name="Shape 10"/>
          <p:cNvSpPr/>
          <p:nvPr/>
        </p:nvSpPr>
        <p:spPr>
          <a:xfrm>
            <a:off x="8382000" y="566832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4" name="Text 11"/>
          <p:cNvSpPr txBox="1"/>
          <p:nvPr/>
        </p:nvSpPr>
        <p:spPr>
          <a:xfrm>
            <a:off x="8382000" y="5840094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03</a:t>
            </a:r>
            <a:r>
              <a:rPr lang="ru-RU" dirty="0"/>
              <a:t>2</a:t>
            </a:r>
            <a:endParaRPr dirty="0"/>
          </a:p>
        </p:txBody>
      </p:sp>
      <p:sp>
        <p:nvSpPr>
          <p:cNvPr id="755" name="Text 12"/>
          <p:cNvSpPr txBox="1"/>
          <p:nvPr/>
        </p:nvSpPr>
        <p:spPr>
          <a:xfrm>
            <a:off x="9239249" y="5812789"/>
            <a:ext cx="6180775" cy="340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Правило 1/4 длины комнаты</a:t>
            </a:r>
          </a:p>
        </p:txBody>
      </p:sp>
      <p:sp>
        <p:nvSpPr>
          <p:cNvPr id="756" name="Shape 13"/>
          <p:cNvSpPr/>
          <p:nvPr/>
        </p:nvSpPr>
        <p:spPr>
          <a:xfrm>
            <a:off x="8382000" y="624681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57" name="Text 14"/>
          <p:cNvSpPr txBox="1"/>
          <p:nvPr/>
        </p:nvSpPr>
        <p:spPr>
          <a:xfrm>
            <a:off x="8382000" y="6418580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03</a:t>
            </a:r>
            <a:r>
              <a:rPr lang="ru-RU" dirty="0"/>
              <a:t>3</a:t>
            </a:r>
            <a:endParaRPr dirty="0"/>
          </a:p>
        </p:txBody>
      </p:sp>
      <p:sp>
        <p:nvSpPr>
          <p:cNvPr id="758" name="Text 15"/>
          <p:cNvSpPr txBox="1"/>
          <p:nvPr/>
        </p:nvSpPr>
        <p:spPr>
          <a:xfrm>
            <a:off x="9239249" y="639127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Subwoofer crawl</a:t>
            </a:r>
          </a:p>
        </p:txBody>
      </p:sp>
      <p:sp>
        <p:nvSpPr>
          <p:cNvPr id="759" name="Shape 16"/>
          <p:cNvSpPr/>
          <p:nvPr/>
        </p:nvSpPr>
        <p:spPr>
          <a:xfrm>
            <a:off x="8382000" y="682529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0" name="Text 17"/>
          <p:cNvSpPr txBox="1"/>
          <p:nvPr/>
        </p:nvSpPr>
        <p:spPr>
          <a:xfrm>
            <a:off x="8382000" y="6997064"/>
            <a:ext cx="93345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03</a:t>
            </a:r>
            <a:r>
              <a:rPr lang="ru-RU" dirty="0"/>
              <a:t>4</a:t>
            </a:r>
            <a:endParaRPr dirty="0"/>
          </a:p>
        </p:txBody>
      </p:sp>
      <p:sp>
        <p:nvSpPr>
          <p:cNvPr id="761" name="Text 18"/>
          <p:cNvSpPr txBox="1"/>
          <p:nvPr/>
        </p:nvSpPr>
        <p:spPr>
          <a:xfrm>
            <a:off x="9239249" y="6969759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Стерео-пара сабов</a:t>
            </a:r>
          </a:p>
        </p:txBody>
      </p:sp>
      <p:sp>
        <p:nvSpPr>
          <p:cNvPr id="762" name="Shape 19"/>
          <p:cNvSpPr/>
          <p:nvPr/>
        </p:nvSpPr>
        <p:spPr>
          <a:xfrm>
            <a:off x="8382000" y="740378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3" name="Text 20"/>
          <p:cNvSpPr txBox="1"/>
          <p:nvPr/>
        </p:nvSpPr>
        <p:spPr>
          <a:xfrm>
            <a:off x="8382000" y="757554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03</a:t>
            </a:r>
            <a:r>
              <a:rPr lang="ru-RU" dirty="0"/>
              <a:t>5</a:t>
            </a:r>
            <a:endParaRPr dirty="0"/>
          </a:p>
        </p:txBody>
      </p:sp>
      <p:sp>
        <p:nvSpPr>
          <p:cNvPr id="764" name="Text 21"/>
          <p:cNvSpPr txBox="1"/>
          <p:nvPr/>
        </p:nvSpPr>
        <p:spPr>
          <a:xfrm>
            <a:off x="9239249" y="7548245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Резонансы комнаты</a:t>
            </a:r>
          </a:p>
        </p:txBody>
      </p:sp>
      <p:sp>
        <p:nvSpPr>
          <p:cNvPr id="765" name="Shape 22"/>
          <p:cNvSpPr/>
          <p:nvPr/>
        </p:nvSpPr>
        <p:spPr>
          <a:xfrm>
            <a:off x="8382000" y="856075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6" name="Shape 23"/>
          <p:cNvSpPr/>
          <p:nvPr/>
        </p:nvSpPr>
        <p:spPr>
          <a:xfrm>
            <a:off x="8382000" y="798226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767" name="Text 24"/>
          <p:cNvSpPr txBox="1"/>
          <p:nvPr/>
        </p:nvSpPr>
        <p:spPr>
          <a:xfrm>
            <a:off x="8382000" y="8154034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03</a:t>
            </a:r>
            <a:r>
              <a:rPr lang="ru-RU" dirty="0"/>
              <a:t>6</a:t>
            </a:r>
            <a:endParaRPr dirty="0"/>
          </a:p>
        </p:txBody>
      </p:sp>
      <p:sp>
        <p:nvSpPr>
          <p:cNvPr id="768" name="Text 25"/>
          <p:cNvSpPr txBox="1"/>
          <p:nvPr/>
        </p:nvSpPr>
        <p:spPr>
          <a:xfrm>
            <a:off x="9239249" y="812673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Развязка от пола</a:t>
            </a:r>
          </a:p>
        </p:txBody>
      </p:sp>
      <p:sp>
        <p:nvSpPr>
          <p:cNvPr id="769" name="Text 26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030 / 100</a:t>
            </a:r>
          </a:p>
        </p:txBody>
      </p:sp>
      <p:sp>
        <p:nvSpPr>
          <p:cNvPr id="770" name="Text 27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§05 РАЗМЕЩЕНИЕ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6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032 §05 РАЗМЕЩЕНИЕ</a:t>
            </a:r>
          </a:p>
        </p:txBody>
      </p:sp>
      <p:sp>
        <p:nvSpPr>
          <p:cNvPr id="787" name="Text 1"/>
          <p:cNvSpPr txBox="1"/>
          <p:nvPr/>
        </p:nvSpPr>
        <p:spPr>
          <a:xfrm>
            <a:off x="17092930" y="380999"/>
            <a:ext cx="69977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УГЛЫ</a:t>
            </a:r>
          </a:p>
        </p:txBody>
      </p:sp>
      <p:sp>
        <p:nvSpPr>
          <p:cNvPr id="788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ОСТОРОЖНО</a:t>
            </a:r>
          </a:p>
        </p:txBody>
      </p:sp>
      <p:sp>
        <p:nvSpPr>
          <p:cNvPr id="789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Избегайте углов, если хотите ровный отклик</a:t>
            </a:r>
          </a:p>
        </p:txBody>
      </p:sp>
      <p:sp>
        <p:nvSpPr>
          <p:cNvPr id="790" name="Text 4"/>
          <p:cNvSpPr txBox="1"/>
          <p:nvPr/>
        </p:nvSpPr>
        <p:spPr>
          <a:xfrm>
            <a:off x="1143000" y="3392646"/>
            <a:ext cx="7848600" cy="9494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04087">
              <a:lnSpc>
                <a:spcPct val="92003"/>
              </a:lnSpc>
              <a:defRPr sz="6006" spc="-308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+9 дБ</a:t>
            </a:r>
          </a:p>
        </p:txBody>
      </p:sp>
      <p:sp>
        <p:nvSpPr>
          <p:cNvPr id="791" name="Text 5"/>
          <p:cNvSpPr txBox="1"/>
          <p:nvPr/>
        </p:nvSpPr>
        <p:spPr>
          <a:xfrm>
            <a:off x="1143000" y="4418329"/>
            <a:ext cx="7848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УГОЛ ТРЁХ ГРАНИЦ</a:t>
            </a:r>
          </a:p>
        </p:txBody>
      </p:sp>
      <p:sp>
        <p:nvSpPr>
          <p:cNvPr id="792" name="Text 6"/>
          <p:cNvSpPr txBox="1"/>
          <p:nvPr/>
        </p:nvSpPr>
        <p:spPr>
          <a:xfrm>
            <a:off x="1142999" y="4804092"/>
            <a:ext cx="3728086" cy="731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41247">
              <a:lnSpc>
                <a:spcPct val="130000"/>
              </a:lnSpc>
              <a:defRPr sz="1932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Максимум SPL, но максимум гула</a:t>
            </a:r>
          </a:p>
        </p:txBody>
      </p:sp>
      <p:sp>
        <p:nvSpPr>
          <p:cNvPr id="793" name="Text 7"/>
          <p:cNvSpPr txBox="1"/>
          <p:nvPr/>
        </p:nvSpPr>
        <p:spPr>
          <a:xfrm>
            <a:off x="1143000" y="5649912"/>
            <a:ext cx="7848600" cy="9494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04087">
              <a:lnSpc>
                <a:spcPct val="92003"/>
              </a:lnSpc>
              <a:defRPr sz="6006" spc="-308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+6 дБ</a:t>
            </a:r>
          </a:p>
        </p:txBody>
      </p:sp>
      <p:sp>
        <p:nvSpPr>
          <p:cNvPr id="794" name="Text 8"/>
          <p:cNvSpPr txBox="1"/>
          <p:nvPr/>
        </p:nvSpPr>
        <p:spPr>
          <a:xfrm>
            <a:off x="1143000" y="6675595"/>
            <a:ext cx="7848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УГОЛ ДВУХ ГРАНИЦ</a:t>
            </a:r>
          </a:p>
        </p:txBody>
      </p:sp>
      <p:sp>
        <p:nvSpPr>
          <p:cNvPr id="795" name="Text 9"/>
          <p:cNvSpPr txBox="1"/>
          <p:nvPr/>
        </p:nvSpPr>
        <p:spPr>
          <a:xfrm>
            <a:off x="1142999" y="7061358"/>
            <a:ext cx="3728086" cy="7315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130000"/>
              </a:lnSpc>
              <a:defRPr sz="2058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Баланс мощности и контроля</a:t>
            </a:r>
          </a:p>
        </p:txBody>
      </p:sp>
      <p:sp>
        <p:nvSpPr>
          <p:cNvPr id="796" name="Text 10"/>
          <p:cNvSpPr txBox="1"/>
          <p:nvPr/>
        </p:nvSpPr>
        <p:spPr>
          <a:xfrm>
            <a:off x="1143000" y="7907179"/>
            <a:ext cx="7848600" cy="9494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04087">
              <a:lnSpc>
                <a:spcPct val="92003"/>
              </a:lnSpc>
              <a:defRPr sz="6006" spc="-308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+3 дБ</a:t>
            </a:r>
          </a:p>
        </p:txBody>
      </p:sp>
      <p:sp>
        <p:nvSpPr>
          <p:cNvPr id="797" name="Text 11"/>
          <p:cNvSpPr txBox="1"/>
          <p:nvPr/>
        </p:nvSpPr>
        <p:spPr>
          <a:xfrm>
            <a:off x="1143000" y="8932861"/>
            <a:ext cx="7848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ОДНА ГРАНИЦА</a:t>
            </a:r>
          </a:p>
        </p:txBody>
      </p:sp>
      <p:sp>
        <p:nvSpPr>
          <p:cNvPr id="798" name="Text 12"/>
          <p:cNvSpPr txBox="1"/>
          <p:nvPr/>
        </p:nvSpPr>
        <p:spPr>
          <a:xfrm>
            <a:off x="1142999" y="9318624"/>
            <a:ext cx="3728086" cy="3848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Самый ровный отклик</a:t>
            </a:r>
          </a:p>
        </p:txBody>
      </p:sp>
      <p:sp>
        <p:nvSpPr>
          <p:cNvPr id="799" name="Shape 13"/>
          <p:cNvSpPr/>
          <p:nvPr/>
        </p:nvSpPr>
        <p:spPr>
          <a:xfrm>
            <a:off x="9525000" y="2719070"/>
            <a:ext cx="7620000" cy="76200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0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595" y="3298666"/>
            <a:ext cx="6460808" cy="6460808"/>
          </a:xfrm>
          <a:prstGeom prst="rect">
            <a:avLst/>
          </a:prstGeom>
          <a:ln w="12700">
            <a:miter lim="400000"/>
          </a:ln>
        </p:spPr>
      </p:pic>
      <p:sp>
        <p:nvSpPr>
          <p:cNvPr id="801" name="Text 14"/>
          <p:cNvSpPr txBox="1"/>
          <p:nvPr/>
        </p:nvSpPr>
        <p:spPr>
          <a:xfrm>
            <a:off x="9763124" y="2919095"/>
            <a:ext cx="2102804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BOUNDARY GAIN</a:t>
            </a:r>
          </a:p>
        </p:txBody>
      </p:sp>
      <p:sp>
        <p:nvSpPr>
          <p:cNvPr id="802" name="Text 15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03</a:t>
            </a:r>
            <a:r>
              <a:rPr lang="ru-RU" dirty="0"/>
              <a:t>1</a:t>
            </a:r>
            <a:r>
              <a:rPr dirty="0"/>
              <a:t> / 100</a:t>
            </a:r>
          </a:p>
        </p:txBody>
      </p:sp>
      <p:sp>
        <p:nvSpPr>
          <p:cNvPr id="803" name="Text 16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§05 РАЗМЕЩЕНИЕ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033 §05 РАЗМЕЩЕНИЕ</a:t>
            </a:r>
          </a:p>
        </p:txBody>
      </p:sp>
      <p:sp>
        <p:nvSpPr>
          <p:cNvPr id="806" name="Text 1"/>
          <p:cNvSpPr txBox="1"/>
          <p:nvPr/>
        </p:nvSpPr>
        <p:spPr>
          <a:xfrm>
            <a:off x="16001683" y="380999"/>
            <a:ext cx="179101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ПРАВИЛО 1/4</a:t>
            </a:r>
          </a:p>
        </p:txBody>
      </p:sp>
      <p:sp>
        <p:nvSpPr>
          <p:cNvPr id="807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ФОРМУЛА</a:t>
            </a:r>
          </a:p>
        </p:txBody>
      </p:sp>
      <p:sp>
        <p:nvSpPr>
          <p:cNvPr id="808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Используйте правило 1/4 длины комнаты</a:t>
            </a:r>
          </a:p>
        </p:txBody>
      </p:sp>
      <p:sp>
        <p:nvSpPr>
          <p:cNvPr id="809" name="Shape 4"/>
          <p:cNvSpPr/>
          <p:nvPr/>
        </p:nvSpPr>
        <p:spPr>
          <a:xfrm>
            <a:off x="1143000" y="3191192"/>
            <a:ext cx="7620000" cy="5861527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1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571" y="3492817"/>
            <a:ext cx="6840857" cy="5258118"/>
          </a:xfrm>
          <a:prstGeom prst="rect">
            <a:avLst/>
          </a:prstGeom>
          <a:ln w="12700">
            <a:miter lim="400000"/>
          </a:ln>
        </p:spPr>
      </p:pic>
      <p:sp>
        <p:nvSpPr>
          <p:cNvPr id="811" name="Text 5"/>
          <p:cNvSpPr txBox="1"/>
          <p:nvPr/>
        </p:nvSpPr>
        <p:spPr>
          <a:xfrm>
            <a:off x="1381124" y="3391217"/>
            <a:ext cx="1323342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TOP VIEW</a:t>
            </a:r>
          </a:p>
        </p:txBody>
      </p:sp>
      <p:sp>
        <p:nvSpPr>
          <p:cNvPr id="812" name="Text 6"/>
          <p:cNvSpPr txBox="1"/>
          <p:nvPr/>
        </p:nvSpPr>
        <p:spPr>
          <a:xfrm>
            <a:off x="9525000" y="4979034"/>
            <a:ext cx="7848600" cy="1786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z="25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Разместите саб на расстоянии 1/4 длины комнаты от передней стены — это минимизирует axial-моды и даёт самый ровный отклик в зоне прослушивания.</a:t>
            </a:r>
          </a:p>
        </p:txBody>
      </p:sp>
      <p:sp>
        <p:nvSpPr>
          <p:cNvPr id="813" name="Text 7"/>
          <p:cNvSpPr txBox="1"/>
          <p:nvPr/>
        </p:nvSpPr>
        <p:spPr>
          <a:xfrm>
            <a:off x="9525000" y="6956424"/>
            <a:ext cx="7848600" cy="34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>
              <a:lnSpc>
                <a:spcPct val="135000"/>
              </a:lnSpc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ПРИМЕР: КОМНАТА 6 М → САБ В 1.5 М ОТ СТЕНЫ</a:t>
            </a:r>
          </a:p>
        </p:txBody>
      </p:sp>
      <p:sp>
        <p:nvSpPr>
          <p:cNvPr id="814" name="Text 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03</a:t>
            </a:r>
            <a:r>
              <a:rPr lang="ru-RU" dirty="0"/>
              <a:t>2</a:t>
            </a:r>
            <a:r>
              <a:rPr dirty="0"/>
              <a:t> / 100</a:t>
            </a:r>
          </a:p>
        </p:txBody>
      </p:sp>
      <p:sp>
        <p:nvSpPr>
          <p:cNvPr id="815" name="Text 9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§05 РАЗМЕЩЕНИЕ</a:t>
            </a:r>
          </a:p>
        </p:txBody>
      </p:sp>
    </p:spTree>
  </p:cSld>
  <p:clrMapOvr>
    <a:masterClrMapping/>
  </p:clrMapOvr>
  <p:transition spd="med"/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7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034 §05 РАЗМЕЩЕНИЕ</a:t>
            </a:r>
          </a:p>
        </p:txBody>
      </p:sp>
      <p:sp>
        <p:nvSpPr>
          <p:cNvPr id="818" name="Text 1"/>
          <p:cNvSpPr txBox="1"/>
          <p:nvPr/>
        </p:nvSpPr>
        <p:spPr>
          <a:xfrm>
            <a:off x="16937037" y="380999"/>
            <a:ext cx="855663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41247">
              <a:defRPr sz="1656" spc="91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CRAWL</a:t>
            </a:r>
          </a:p>
        </p:txBody>
      </p:sp>
      <p:sp>
        <p:nvSpPr>
          <p:cNvPr id="819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ТЕХНИКА</a:t>
            </a:r>
          </a:p>
        </p:txBody>
      </p:sp>
      <p:sp>
        <p:nvSpPr>
          <p:cNvPr id="820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Проведите тест «subwoofer crawl»</a:t>
            </a:r>
          </a:p>
        </p:txBody>
      </p:sp>
      <p:sp>
        <p:nvSpPr>
          <p:cNvPr id="821" name="Shape 4"/>
          <p:cNvSpPr/>
          <p:nvPr/>
        </p:nvSpPr>
        <p:spPr>
          <a:xfrm>
            <a:off x="1143000" y="279368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2" name="Text 5"/>
          <p:cNvSpPr txBox="1"/>
          <p:nvPr/>
        </p:nvSpPr>
        <p:spPr>
          <a:xfrm>
            <a:off x="1143000" y="307673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823" name="Text 6"/>
          <p:cNvSpPr txBox="1"/>
          <p:nvPr/>
        </p:nvSpPr>
        <p:spPr>
          <a:xfrm>
            <a:off x="2286000" y="301434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Поставьте саб в кресло слушателя</a:t>
            </a:r>
          </a:p>
        </p:txBody>
      </p:sp>
      <p:sp>
        <p:nvSpPr>
          <p:cNvPr id="824" name="Shape 7"/>
          <p:cNvSpPr/>
          <p:nvPr/>
        </p:nvSpPr>
        <p:spPr>
          <a:xfrm>
            <a:off x="1143000" y="388524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5" name="Text 8"/>
          <p:cNvSpPr txBox="1"/>
          <p:nvPr/>
        </p:nvSpPr>
        <p:spPr>
          <a:xfrm>
            <a:off x="1143000" y="4168299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826" name="Text 9"/>
          <p:cNvSpPr txBox="1"/>
          <p:nvPr/>
        </p:nvSpPr>
        <p:spPr>
          <a:xfrm>
            <a:off x="2286000" y="4105909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Включите трек с постоянным басом (пинк-шум, органная нота)</a:t>
            </a:r>
          </a:p>
        </p:txBody>
      </p:sp>
      <p:sp>
        <p:nvSpPr>
          <p:cNvPr id="827" name="Shape 10"/>
          <p:cNvSpPr/>
          <p:nvPr/>
        </p:nvSpPr>
        <p:spPr>
          <a:xfrm>
            <a:off x="1143000" y="497681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28" name="Text 11"/>
          <p:cNvSpPr txBox="1"/>
          <p:nvPr/>
        </p:nvSpPr>
        <p:spPr>
          <a:xfrm>
            <a:off x="1143000" y="525986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829" name="Text 12"/>
          <p:cNvSpPr txBox="1"/>
          <p:nvPr/>
        </p:nvSpPr>
        <p:spPr>
          <a:xfrm>
            <a:off x="2286000" y="5197474"/>
            <a:ext cx="15304770" cy="434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Проползите на четвереньках по периметру комнаты</a:t>
            </a:r>
          </a:p>
        </p:txBody>
      </p:sp>
      <p:sp>
        <p:nvSpPr>
          <p:cNvPr id="830" name="Shape 13"/>
          <p:cNvSpPr/>
          <p:nvPr/>
        </p:nvSpPr>
        <p:spPr>
          <a:xfrm>
            <a:off x="1143000" y="606837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1" name="Text 14"/>
          <p:cNvSpPr txBox="1"/>
          <p:nvPr/>
        </p:nvSpPr>
        <p:spPr>
          <a:xfrm>
            <a:off x="1143000" y="6351428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832" name="Text 15"/>
          <p:cNvSpPr txBox="1"/>
          <p:nvPr/>
        </p:nvSpPr>
        <p:spPr>
          <a:xfrm>
            <a:off x="2286000" y="6289040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Отметьте точку, где бас звучит ровнее всего</a:t>
            </a:r>
          </a:p>
        </p:txBody>
      </p:sp>
      <p:sp>
        <p:nvSpPr>
          <p:cNvPr id="833" name="Shape 16"/>
          <p:cNvSpPr/>
          <p:nvPr/>
        </p:nvSpPr>
        <p:spPr>
          <a:xfrm>
            <a:off x="1143000" y="798480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4" name="Shape 17"/>
          <p:cNvSpPr/>
          <p:nvPr/>
        </p:nvSpPr>
        <p:spPr>
          <a:xfrm>
            <a:off x="1143000" y="715994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35" name="Text 18"/>
          <p:cNvSpPr txBox="1"/>
          <p:nvPr/>
        </p:nvSpPr>
        <p:spPr>
          <a:xfrm>
            <a:off x="1143000" y="744299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</a:t>
            </a:r>
          </a:p>
        </p:txBody>
      </p:sp>
      <p:sp>
        <p:nvSpPr>
          <p:cNvPr id="836" name="Text 19"/>
          <p:cNvSpPr txBox="1"/>
          <p:nvPr/>
        </p:nvSpPr>
        <p:spPr>
          <a:xfrm>
            <a:off x="2286000" y="738060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Переставьте саб в эту точку</a:t>
            </a:r>
          </a:p>
        </p:txBody>
      </p:sp>
      <p:sp>
        <p:nvSpPr>
          <p:cNvPr id="837" name="Text 20"/>
          <p:cNvSpPr txBox="1"/>
          <p:nvPr/>
        </p:nvSpPr>
        <p:spPr>
          <a:xfrm>
            <a:off x="1143000" y="8376919"/>
            <a:ext cx="12753975" cy="758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135000"/>
              </a:lnSpc>
              <a:defRPr sz="2058" spc="-98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Принцип акустической взаимности: точка с хорошим откликом для саба в кресле и есть лучшее место для саба.</a:t>
            </a:r>
          </a:p>
        </p:txBody>
      </p:sp>
      <p:sp>
        <p:nvSpPr>
          <p:cNvPr id="838" name="Text 21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03</a:t>
            </a:r>
            <a:r>
              <a:rPr lang="ru-RU" dirty="0"/>
              <a:t>3</a:t>
            </a:r>
            <a:r>
              <a:rPr dirty="0"/>
              <a:t> / 100</a:t>
            </a:r>
          </a:p>
        </p:txBody>
      </p:sp>
      <p:sp>
        <p:nvSpPr>
          <p:cNvPr id="839" name="Text 22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§05 РАЗМЕЩЕНИЕ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1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035 §05 РАЗМЕЩЕНИЕ</a:t>
            </a:r>
          </a:p>
        </p:txBody>
      </p:sp>
      <p:sp>
        <p:nvSpPr>
          <p:cNvPr id="842" name="Text 1"/>
          <p:cNvSpPr txBox="1"/>
          <p:nvPr/>
        </p:nvSpPr>
        <p:spPr>
          <a:xfrm>
            <a:off x="16469360" y="380999"/>
            <a:ext cx="132334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ДВА САБА</a:t>
            </a:r>
          </a:p>
        </p:txBody>
      </p:sp>
      <p:sp>
        <p:nvSpPr>
          <p:cNvPr id="843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ДВА ЛУЧШЕ ОДНОГО</a:t>
            </a:r>
          </a:p>
        </p:txBody>
      </p:sp>
      <p:sp>
        <p:nvSpPr>
          <p:cNvPr id="844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Расположите два саба по диагонали</a:t>
            </a:r>
          </a:p>
        </p:txBody>
      </p:sp>
      <p:sp>
        <p:nvSpPr>
          <p:cNvPr id="845" name="Shape 4"/>
          <p:cNvSpPr/>
          <p:nvPr/>
        </p:nvSpPr>
        <p:spPr>
          <a:xfrm>
            <a:off x="1143000" y="2719070"/>
            <a:ext cx="7620000" cy="7620001"/>
          </a:xfrm>
          <a:prstGeom prst="rect">
            <a:avLst/>
          </a:prstGeom>
          <a:solidFill>
            <a:srgbClr val="F4F2EE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46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596" y="3298666"/>
            <a:ext cx="6460808" cy="6460808"/>
          </a:xfrm>
          <a:prstGeom prst="rect">
            <a:avLst/>
          </a:prstGeom>
          <a:ln w="12700">
            <a:miter lim="400000"/>
          </a:ln>
        </p:spPr>
      </p:pic>
      <p:sp>
        <p:nvSpPr>
          <p:cNvPr id="847" name="Text 5"/>
          <p:cNvSpPr txBox="1"/>
          <p:nvPr/>
        </p:nvSpPr>
        <p:spPr>
          <a:xfrm>
            <a:off x="1381125" y="2919095"/>
            <a:ext cx="2729678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DUAL-SUB DIAGONAL</a:t>
            </a:r>
          </a:p>
        </p:txBody>
      </p:sp>
      <p:sp>
        <p:nvSpPr>
          <p:cNvPr id="848" name="Text 6"/>
          <p:cNvSpPr txBox="1"/>
          <p:nvPr/>
        </p:nvSpPr>
        <p:spPr>
          <a:xfrm>
            <a:off x="9525000" y="5340825"/>
            <a:ext cx="7848600" cy="1349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22959">
              <a:lnSpc>
                <a:spcPct val="135000"/>
              </a:lnSpc>
              <a:defRPr sz="2250" spc="-9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Два саба по диагонали усредняют моды комнаты и расширяют зону ровного баса с одного кресла до всего дивана.</a:t>
            </a:r>
          </a:p>
        </p:txBody>
      </p:sp>
      <p:sp>
        <p:nvSpPr>
          <p:cNvPr id="849" name="Text 7"/>
          <p:cNvSpPr txBox="1"/>
          <p:nvPr/>
        </p:nvSpPr>
        <p:spPr>
          <a:xfrm>
            <a:off x="9525000" y="6842918"/>
            <a:ext cx="7848600" cy="912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defTabSz="896111">
              <a:lnSpc>
                <a:spcPct val="135000"/>
              </a:lnSpc>
              <a:defRPr sz="1764" spc="-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pPr>
            <a:r>
              <a:t>Альтернатива: </a:t>
            </a:r>
            <a:r>
              <a:rPr sz="245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два саба в серединах противоположных стен (midpoint rule).</a:t>
            </a:r>
          </a:p>
        </p:txBody>
      </p:sp>
      <p:sp>
        <p:nvSpPr>
          <p:cNvPr id="850" name="Text 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03</a:t>
            </a:r>
            <a:r>
              <a:rPr lang="ru-RU" dirty="0"/>
              <a:t>4</a:t>
            </a:r>
            <a:r>
              <a:rPr dirty="0"/>
              <a:t> / 100</a:t>
            </a:r>
          </a:p>
        </p:txBody>
      </p:sp>
      <p:sp>
        <p:nvSpPr>
          <p:cNvPr id="851" name="Text 9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§05 РАЗМЕЩЕНИЕ</a:t>
            </a:r>
          </a:p>
        </p:txBody>
      </p:sp>
    </p:spTree>
  </p:cSld>
  <p:clrMapOvr>
    <a:masterClrMapping/>
  </p:clrMapOvr>
  <p:transition spd="med"/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3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036 §05 РАЗМЕЩЕНИЕ</a:t>
            </a:r>
          </a:p>
        </p:txBody>
      </p:sp>
      <p:sp>
        <p:nvSpPr>
          <p:cNvPr id="854" name="Text 1"/>
          <p:cNvSpPr txBox="1"/>
          <p:nvPr/>
        </p:nvSpPr>
        <p:spPr>
          <a:xfrm>
            <a:off x="17092930" y="380999"/>
            <a:ext cx="69977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68095">
              <a:defRPr sz="1512" spc="8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МОДЫ</a:t>
            </a:r>
          </a:p>
        </p:txBody>
      </p:sp>
      <p:sp>
        <p:nvSpPr>
          <p:cNvPr id="855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АКУСТИКА КОМНАТЫ</a:t>
            </a:r>
          </a:p>
        </p:txBody>
      </p:sp>
      <p:sp>
        <p:nvSpPr>
          <p:cNvPr id="856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Учитывайте резонансы комнаты</a:t>
            </a:r>
          </a:p>
        </p:txBody>
      </p:sp>
      <p:sp>
        <p:nvSpPr>
          <p:cNvPr id="857" name="Text 4"/>
          <p:cNvSpPr txBox="1"/>
          <p:nvPr/>
        </p:nvSpPr>
        <p:spPr>
          <a:xfrm>
            <a:off x="1143000" y="3802698"/>
            <a:ext cx="7848600" cy="1786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/>
          <a:p>
            <a:pPr defTabSz="896111">
              <a:lnSpc>
                <a:spcPct val="135000"/>
              </a:lnSpc>
              <a:defRPr sz="2450" spc="-97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Первая axial-мода считается по формуле </a:t>
            </a:r>
            <a:r>
              <a:rPr sz="176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 = 172 / L </a:t>
            </a:r>
            <a:r>
              <a:t>, где L — размер в метрах. Эти частоты будут либо усилены, либо ослаблены в зависимости от точки прослушивания.</a:t>
            </a:r>
          </a:p>
        </p:txBody>
      </p:sp>
      <p:sp>
        <p:nvSpPr>
          <p:cNvPr id="858" name="Shape 5"/>
          <p:cNvSpPr/>
          <p:nvPr/>
        </p:nvSpPr>
        <p:spPr>
          <a:xfrm>
            <a:off x="1143000" y="5859462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59" name="Text 6"/>
          <p:cNvSpPr txBox="1"/>
          <p:nvPr/>
        </p:nvSpPr>
        <p:spPr>
          <a:xfrm>
            <a:off x="1143000" y="6032499"/>
            <a:ext cx="3296412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КОМНАТА 3.0 М</a:t>
            </a:r>
          </a:p>
        </p:txBody>
      </p:sp>
      <p:sp>
        <p:nvSpPr>
          <p:cNvPr id="860" name="Text 7"/>
          <p:cNvSpPr txBox="1"/>
          <p:nvPr/>
        </p:nvSpPr>
        <p:spPr>
          <a:xfrm>
            <a:off x="4343399" y="6032499"/>
            <a:ext cx="4552190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57 Гц</a:t>
            </a:r>
          </a:p>
        </p:txBody>
      </p:sp>
      <p:sp>
        <p:nvSpPr>
          <p:cNvPr id="861" name="Shape 8"/>
          <p:cNvSpPr/>
          <p:nvPr/>
        </p:nvSpPr>
        <p:spPr>
          <a:xfrm>
            <a:off x="1143000" y="653367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2" name="Text 9"/>
          <p:cNvSpPr txBox="1"/>
          <p:nvPr/>
        </p:nvSpPr>
        <p:spPr>
          <a:xfrm>
            <a:off x="1143000" y="6706712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КОМНАТА 4.0 М</a:t>
            </a:r>
          </a:p>
        </p:txBody>
      </p:sp>
      <p:sp>
        <p:nvSpPr>
          <p:cNvPr id="863" name="Text 10"/>
          <p:cNvSpPr txBox="1"/>
          <p:nvPr/>
        </p:nvSpPr>
        <p:spPr>
          <a:xfrm>
            <a:off x="4343399" y="6706712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43 Гц</a:t>
            </a:r>
          </a:p>
        </p:txBody>
      </p:sp>
      <p:sp>
        <p:nvSpPr>
          <p:cNvPr id="864" name="Shape 11"/>
          <p:cNvSpPr/>
          <p:nvPr/>
        </p:nvSpPr>
        <p:spPr>
          <a:xfrm>
            <a:off x="1143000" y="720788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5" name="Text 12"/>
          <p:cNvSpPr txBox="1"/>
          <p:nvPr/>
        </p:nvSpPr>
        <p:spPr>
          <a:xfrm>
            <a:off x="1143000" y="7380923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КОМНАТА 5.0 М</a:t>
            </a:r>
          </a:p>
        </p:txBody>
      </p:sp>
      <p:sp>
        <p:nvSpPr>
          <p:cNvPr id="866" name="Text 13"/>
          <p:cNvSpPr txBox="1"/>
          <p:nvPr/>
        </p:nvSpPr>
        <p:spPr>
          <a:xfrm>
            <a:off x="4343399" y="7380923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34 Гц</a:t>
            </a:r>
          </a:p>
        </p:txBody>
      </p:sp>
      <p:sp>
        <p:nvSpPr>
          <p:cNvPr id="867" name="Shape 14"/>
          <p:cNvSpPr/>
          <p:nvPr/>
        </p:nvSpPr>
        <p:spPr>
          <a:xfrm>
            <a:off x="1143000" y="8546782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8" name="Shape 15"/>
          <p:cNvSpPr/>
          <p:nvPr/>
        </p:nvSpPr>
        <p:spPr>
          <a:xfrm>
            <a:off x="1143000" y="788209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69" name="Text 16"/>
          <p:cNvSpPr txBox="1"/>
          <p:nvPr/>
        </p:nvSpPr>
        <p:spPr>
          <a:xfrm>
            <a:off x="1143000" y="8055133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КОМНАТА 6.0 М</a:t>
            </a:r>
          </a:p>
        </p:txBody>
      </p:sp>
      <p:sp>
        <p:nvSpPr>
          <p:cNvPr id="870" name="Text 17"/>
          <p:cNvSpPr txBox="1"/>
          <p:nvPr/>
        </p:nvSpPr>
        <p:spPr>
          <a:xfrm>
            <a:off x="4343399" y="8055133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29 Гц</a:t>
            </a:r>
          </a:p>
        </p:txBody>
      </p:sp>
      <p:sp>
        <p:nvSpPr>
          <p:cNvPr id="871" name="Shape 18"/>
          <p:cNvSpPr/>
          <p:nvPr/>
        </p:nvSpPr>
        <p:spPr>
          <a:xfrm>
            <a:off x="9525000" y="2719069"/>
            <a:ext cx="7620000" cy="6927217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7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4573" y="3074035"/>
            <a:ext cx="6840856" cy="6217285"/>
          </a:xfrm>
          <a:prstGeom prst="rect">
            <a:avLst/>
          </a:prstGeom>
          <a:ln w="12700">
            <a:miter lim="400000"/>
          </a:ln>
        </p:spPr>
      </p:pic>
      <p:sp>
        <p:nvSpPr>
          <p:cNvPr id="873" name="Text 19"/>
          <p:cNvSpPr txBox="1"/>
          <p:nvPr/>
        </p:nvSpPr>
        <p:spPr>
          <a:xfrm>
            <a:off x="9763124" y="2919095"/>
            <a:ext cx="179102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AXIAL MODES</a:t>
            </a:r>
          </a:p>
        </p:txBody>
      </p:sp>
      <p:sp>
        <p:nvSpPr>
          <p:cNvPr id="874" name="Text 20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03</a:t>
            </a:r>
            <a:r>
              <a:rPr lang="ru-RU" dirty="0"/>
              <a:t>5</a:t>
            </a:r>
            <a:r>
              <a:rPr dirty="0"/>
              <a:t> / 100</a:t>
            </a:r>
          </a:p>
        </p:txBody>
      </p:sp>
      <p:sp>
        <p:nvSpPr>
          <p:cNvPr id="875" name="Text 21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§05 РАЗМЕЩЕНИЕ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037 §05 РАЗМЕЩЕНИЕ</a:t>
            </a:r>
          </a:p>
        </p:txBody>
      </p:sp>
      <p:sp>
        <p:nvSpPr>
          <p:cNvPr id="878" name="Text 1"/>
          <p:cNvSpPr txBox="1"/>
          <p:nvPr/>
        </p:nvSpPr>
        <p:spPr>
          <a:xfrm>
            <a:off x="16469360" y="380999"/>
            <a:ext cx="132334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РАЗВЯЗКА</a:t>
            </a:r>
          </a:p>
        </p:txBody>
      </p:sp>
      <p:sp>
        <p:nvSpPr>
          <p:cNvPr id="879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ИЗОЛЯЦИЯ</a:t>
            </a:r>
          </a:p>
        </p:txBody>
      </p:sp>
      <p:sp>
        <p:nvSpPr>
          <p:cNvPr id="880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Поставьте саб на развязку от пола</a:t>
            </a:r>
          </a:p>
        </p:txBody>
      </p:sp>
      <p:sp>
        <p:nvSpPr>
          <p:cNvPr id="881" name="Text 4"/>
          <p:cNvSpPr txBox="1"/>
          <p:nvPr/>
        </p:nvSpPr>
        <p:spPr>
          <a:xfrm>
            <a:off x="1143000" y="4658995"/>
            <a:ext cx="7848600" cy="912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96111">
              <a:lnSpc>
                <a:spcPct val="135000"/>
              </a:lnSpc>
              <a:defRPr sz="2450" spc="-97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Прямой контакт с полом передаёт вибрации в конструкцию здания. Это:</a:t>
            </a:r>
          </a:p>
        </p:txBody>
      </p:sp>
      <p:sp>
        <p:nvSpPr>
          <p:cNvPr id="882" name="Text 5"/>
          <p:cNvSpPr txBox="1"/>
          <p:nvPr/>
        </p:nvSpPr>
        <p:spPr>
          <a:xfrm>
            <a:off x="1209675" y="5761990"/>
            <a:ext cx="7629525" cy="1323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marL="192023" indent="-192023" defTabSz="877823">
              <a:lnSpc>
                <a:spcPct val="150000"/>
              </a:lnSpc>
              <a:buSzPct val="100000"/>
              <a:buChar char="•"/>
              <a:tabLst>
                <a:tab pos="177800" algn="l"/>
              </a:tabLst>
              <a:defRPr sz="2112" spc="-96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размывает low-end в вашей комнате</a:t>
            </a:r>
          </a:p>
          <a:p>
            <a:pPr marL="192023" indent="-192023" defTabSz="877823">
              <a:lnSpc>
                <a:spcPct val="150000"/>
              </a:lnSpc>
              <a:buSzPct val="100000"/>
              <a:buChar char="•"/>
              <a:tabLst>
                <a:tab pos="177800" algn="l"/>
              </a:tabLst>
              <a:defRPr sz="2112" spc="-96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беспокоит соседей снизу</a:t>
            </a:r>
          </a:p>
          <a:p>
            <a:pPr marL="192023" indent="-192023" defTabSz="877823">
              <a:lnSpc>
                <a:spcPct val="150000"/>
              </a:lnSpc>
              <a:buSzPct val="100000"/>
              <a:buChar char="•"/>
              <a:tabLst>
                <a:tab pos="177800" algn="l"/>
              </a:tabLst>
              <a:defRPr sz="2112" spc="-96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создаёт резонансы в мебели</a:t>
            </a:r>
          </a:p>
        </p:txBody>
      </p:sp>
      <p:sp>
        <p:nvSpPr>
          <p:cNvPr id="883" name="Text 6"/>
          <p:cNvSpPr txBox="1"/>
          <p:nvPr/>
        </p:nvSpPr>
        <p:spPr>
          <a:xfrm>
            <a:off x="1143000" y="7276465"/>
            <a:ext cx="7848600" cy="346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>
              <a:lnSpc>
                <a:spcPct val="135000"/>
              </a:lnSpc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РЕШЕНИЕ: ИЗОЛЯТОРЫ RESONA ISO-PAD ИЛИ АНАЛОГ</a:t>
            </a:r>
          </a:p>
        </p:txBody>
      </p:sp>
      <p:sp>
        <p:nvSpPr>
          <p:cNvPr id="884" name="Shape 7"/>
          <p:cNvSpPr/>
          <p:nvPr/>
        </p:nvSpPr>
        <p:spPr>
          <a:xfrm>
            <a:off x="9525000" y="3191192"/>
            <a:ext cx="7620000" cy="5861527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88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595" y="3638867"/>
            <a:ext cx="6460808" cy="4966018"/>
          </a:xfrm>
          <a:prstGeom prst="rect">
            <a:avLst/>
          </a:prstGeom>
          <a:ln w="12700">
            <a:miter lim="400000"/>
          </a:ln>
        </p:spPr>
      </p:pic>
      <p:sp>
        <p:nvSpPr>
          <p:cNvPr id="886" name="Text 8"/>
          <p:cNvSpPr txBox="1"/>
          <p:nvPr/>
        </p:nvSpPr>
        <p:spPr>
          <a:xfrm>
            <a:off x="9763125" y="3391217"/>
            <a:ext cx="116744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ISO-PAD</a:t>
            </a:r>
          </a:p>
        </p:txBody>
      </p:sp>
      <p:sp>
        <p:nvSpPr>
          <p:cNvPr id="887" name="Text 9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03</a:t>
            </a:r>
            <a:r>
              <a:rPr lang="ru-RU" dirty="0"/>
              <a:t>6</a:t>
            </a:r>
            <a:r>
              <a:rPr dirty="0"/>
              <a:t> / 100</a:t>
            </a:r>
          </a:p>
        </p:txBody>
      </p:sp>
      <p:sp>
        <p:nvSpPr>
          <p:cNvPr id="888" name="Text 10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§05 РАЗМЕЩЕНИЕ</a:t>
            </a:r>
          </a:p>
        </p:txBody>
      </p:sp>
    </p:spTree>
  </p:cSld>
  <p:clrMapOvr>
    <a:masterClrMapping/>
  </p:clrMapOvr>
  <p:transition spd="med"/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" name="Text 0"/>
          <p:cNvSpPr txBox="1"/>
          <p:nvPr/>
        </p:nvSpPr>
        <p:spPr>
          <a:xfrm>
            <a:off x="1143000" y="5169217"/>
            <a:ext cx="667131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РАЗДЕЛ 06</a:t>
            </a:r>
          </a:p>
        </p:txBody>
      </p:sp>
      <p:sp>
        <p:nvSpPr>
          <p:cNvPr id="891" name="Text 1"/>
          <p:cNvSpPr txBox="1"/>
          <p:nvPr/>
        </p:nvSpPr>
        <p:spPr>
          <a:xfrm>
            <a:off x="1143000" y="5707379"/>
            <a:ext cx="6671310" cy="347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40079">
              <a:lnSpc>
                <a:spcPct val="82000"/>
              </a:lnSpc>
              <a:defRPr sz="23100" spc="-133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06</a:t>
            </a:r>
          </a:p>
        </p:txBody>
      </p:sp>
      <p:sp>
        <p:nvSpPr>
          <p:cNvPr id="892" name="Text 2"/>
          <p:cNvSpPr txBox="1"/>
          <p:nvPr/>
        </p:nvSpPr>
        <p:spPr>
          <a:xfrm>
            <a:off x="8381999" y="1980564"/>
            <a:ext cx="9025892" cy="758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04999"/>
              </a:lnSpc>
              <a:defRPr sz="4860" spc="-18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Подключение</a:t>
            </a:r>
          </a:p>
        </p:txBody>
      </p:sp>
      <p:sp>
        <p:nvSpPr>
          <p:cNvPr id="893" name="Text 3"/>
          <p:cNvSpPr txBox="1"/>
          <p:nvPr/>
        </p:nvSpPr>
        <p:spPr>
          <a:xfrm>
            <a:off x="8382000" y="3005454"/>
            <a:ext cx="6867525" cy="1272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35000"/>
              </a:lnSpc>
              <a:defRPr sz="2136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lang="ru-RU" dirty="0"/>
              <a:t>Восемь</a:t>
            </a:r>
            <a:r>
              <a:rPr dirty="0"/>
              <a:t> </a:t>
            </a:r>
            <a:r>
              <a:rPr dirty="0" err="1"/>
              <a:t>страниц</a:t>
            </a:r>
            <a:r>
              <a:rPr dirty="0"/>
              <a:t> о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способах</a:t>
            </a:r>
            <a:r>
              <a:rPr dirty="0"/>
              <a:t> </a:t>
            </a:r>
            <a:r>
              <a:rPr dirty="0" err="1"/>
              <a:t>подать</a:t>
            </a:r>
            <a:r>
              <a:rPr dirty="0"/>
              <a:t> </a:t>
            </a:r>
            <a:r>
              <a:rPr dirty="0" err="1"/>
              <a:t>сигнал</a:t>
            </a:r>
            <a:r>
              <a:rPr dirty="0"/>
              <a:t>: </a:t>
            </a:r>
            <a:r>
              <a:rPr dirty="0" err="1"/>
              <a:t>от</a:t>
            </a:r>
            <a:r>
              <a:rPr dirty="0"/>
              <a:t> LFE RCA </a:t>
            </a:r>
            <a:r>
              <a:rPr dirty="0" err="1"/>
              <a:t>домашнего</a:t>
            </a:r>
            <a:r>
              <a:rPr dirty="0"/>
              <a:t> </a:t>
            </a:r>
            <a:r>
              <a:rPr dirty="0" err="1"/>
              <a:t>кинотеатра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балансного</a:t>
            </a:r>
            <a:r>
              <a:rPr dirty="0"/>
              <a:t> XLR в </a:t>
            </a:r>
            <a:r>
              <a:rPr dirty="0" err="1"/>
              <a:t>студии</a:t>
            </a:r>
            <a:r>
              <a:rPr dirty="0"/>
              <a:t>.</a:t>
            </a:r>
          </a:p>
        </p:txBody>
      </p:sp>
      <p:sp>
        <p:nvSpPr>
          <p:cNvPr id="894" name="Shape 4"/>
          <p:cNvSpPr/>
          <p:nvPr/>
        </p:nvSpPr>
        <p:spPr>
          <a:xfrm>
            <a:off x="8382000" y="450500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5" name="Text 5"/>
          <p:cNvSpPr txBox="1"/>
          <p:nvPr/>
        </p:nvSpPr>
        <p:spPr>
          <a:xfrm>
            <a:off x="8382000" y="4676774"/>
            <a:ext cx="93345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03</a:t>
            </a:r>
            <a:r>
              <a:rPr lang="ru-RU" dirty="0"/>
              <a:t>8</a:t>
            </a:r>
            <a:endParaRPr dirty="0"/>
          </a:p>
        </p:txBody>
      </p:sp>
      <p:sp>
        <p:nvSpPr>
          <p:cNvPr id="896" name="Text 6"/>
          <p:cNvSpPr txBox="1"/>
          <p:nvPr/>
        </p:nvSpPr>
        <p:spPr>
          <a:xfrm>
            <a:off x="9239249" y="464947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LFE через RCA</a:t>
            </a:r>
          </a:p>
        </p:txBody>
      </p:sp>
      <p:sp>
        <p:nvSpPr>
          <p:cNvPr id="897" name="Shape 7"/>
          <p:cNvSpPr/>
          <p:nvPr/>
        </p:nvSpPr>
        <p:spPr>
          <a:xfrm>
            <a:off x="8382000" y="508349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898" name="Text 8"/>
          <p:cNvSpPr txBox="1"/>
          <p:nvPr/>
        </p:nvSpPr>
        <p:spPr>
          <a:xfrm>
            <a:off x="8382000" y="525525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</a:t>
            </a:r>
            <a:r>
              <a:rPr lang="ru-RU" dirty="0"/>
              <a:t>39</a:t>
            </a:r>
            <a:endParaRPr dirty="0"/>
          </a:p>
        </p:txBody>
      </p:sp>
      <p:sp>
        <p:nvSpPr>
          <p:cNvPr id="899" name="Text 9"/>
          <p:cNvSpPr txBox="1"/>
          <p:nvPr/>
        </p:nvSpPr>
        <p:spPr>
          <a:xfrm>
            <a:off x="9239249" y="522795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High-level входы</a:t>
            </a:r>
          </a:p>
        </p:txBody>
      </p:sp>
      <p:sp>
        <p:nvSpPr>
          <p:cNvPr id="900" name="Shape 10"/>
          <p:cNvSpPr/>
          <p:nvPr/>
        </p:nvSpPr>
        <p:spPr>
          <a:xfrm>
            <a:off x="8382000" y="566197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01" name="Text 11"/>
          <p:cNvSpPr txBox="1"/>
          <p:nvPr/>
        </p:nvSpPr>
        <p:spPr>
          <a:xfrm>
            <a:off x="8382000" y="5833745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0</a:t>
            </a:r>
            <a:endParaRPr dirty="0"/>
          </a:p>
        </p:txBody>
      </p:sp>
      <p:sp>
        <p:nvSpPr>
          <p:cNvPr id="902" name="Text 12"/>
          <p:cNvSpPr txBox="1"/>
          <p:nvPr/>
        </p:nvSpPr>
        <p:spPr>
          <a:xfrm>
            <a:off x="9239249" y="580644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Беспроводной модуль</a:t>
            </a:r>
          </a:p>
        </p:txBody>
      </p:sp>
      <p:sp>
        <p:nvSpPr>
          <p:cNvPr id="903" name="Shape 13"/>
          <p:cNvSpPr/>
          <p:nvPr/>
        </p:nvSpPr>
        <p:spPr>
          <a:xfrm>
            <a:off x="8382000" y="624046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04" name="Text 14"/>
          <p:cNvSpPr txBox="1"/>
          <p:nvPr/>
        </p:nvSpPr>
        <p:spPr>
          <a:xfrm>
            <a:off x="8382000" y="641222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1</a:t>
            </a:r>
            <a:endParaRPr dirty="0"/>
          </a:p>
        </p:txBody>
      </p:sp>
      <p:sp>
        <p:nvSpPr>
          <p:cNvPr id="905" name="Text 15"/>
          <p:cNvSpPr txBox="1"/>
          <p:nvPr/>
        </p:nvSpPr>
        <p:spPr>
          <a:xfrm>
            <a:off x="9239249" y="6384924"/>
            <a:ext cx="6180775" cy="340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Две шины для авто</a:t>
            </a:r>
          </a:p>
        </p:txBody>
      </p:sp>
      <p:sp>
        <p:nvSpPr>
          <p:cNvPr id="906" name="Shape 16"/>
          <p:cNvSpPr/>
          <p:nvPr/>
        </p:nvSpPr>
        <p:spPr>
          <a:xfrm>
            <a:off x="8382000" y="681894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07" name="Text 17"/>
          <p:cNvSpPr txBox="1"/>
          <p:nvPr/>
        </p:nvSpPr>
        <p:spPr>
          <a:xfrm>
            <a:off x="8382000" y="6990715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2</a:t>
            </a:r>
            <a:endParaRPr dirty="0"/>
          </a:p>
        </p:txBody>
      </p:sp>
      <p:sp>
        <p:nvSpPr>
          <p:cNvPr id="908" name="Text 18"/>
          <p:cNvSpPr txBox="1"/>
          <p:nvPr/>
        </p:nvSpPr>
        <p:spPr>
          <a:xfrm>
            <a:off x="9239249" y="6963409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Балансный XLR для PA</a:t>
            </a:r>
          </a:p>
        </p:txBody>
      </p:sp>
      <p:sp>
        <p:nvSpPr>
          <p:cNvPr id="909" name="Shape 19"/>
          <p:cNvSpPr/>
          <p:nvPr/>
        </p:nvSpPr>
        <p:spPr>
          <a:xfrm>
            <a:off x="8382000" y="739743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0" name="Text 20"/>
          <p:cNvSpPr txBox="1"/>
          <p:nvPr/>
        </p:nvSpPr>
        <p:spPr>
          <a:xfrm>
            <a:off x="8382000" y="7569199"/>
            <a:ext cx="93345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3</a:t>
            </a:r>
            <a:endParaRPr dirty="0"/>
          </a:p>
        </p:txBody>
      </p:sp>
      <p:sp>
        <p:nvSpPr>
          <p:cNvPr id="911" name="Text 21"/>
          <p:cNvSpPr txBox="1"/>
          <p:nvPr/>
        </p:nvSpPr>
        <p:spPr>
          <a:xfrm>
            <a:off x="9239249" y="754189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Полярность в студии</a:t>
            </a:r>
          </a:p>
        </p:txBody>
      </p:sp>
      <p:sp>
        <p:nvSpPr>
          <p:cNvPr id="912" name="Shape 22"/>
          <p:cNvSpPr/>
          <p:nvPr/>
        </p:nvSpPr>
        <p:spPr>
          <a:xfrm>
            <a:off x="8382000" y="797591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3" name="Text 23"/>
          <p:cNvSpPr txBox="1"/>
          <p:nvPr/>
        </p:nvSpPr>
        <p:spPr>
          <a:xfrm>
            <a:off x="8382000" y="8147684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4</a:t>
            </a:r>
            <a:endParaRPr dirty="0"/>
          </a:p>
        </p:txBody>
      </p:sp>
      <p:sp>
        <p:nvSpPr>
          <p:cNvPr id="914" name="Text 24"/>
          <p:cNvSpPr txBox="1"/>
          <p:nvPr/>
        </p:nvSpPr>
        <p:spPr>
          <a:xfrm>
            <a:off x="9239249" y="812038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Заземление и гул</a:t>
            </a:r>
          </a:p>
        </p:txBody>
      </p:sp>
      <p:sp>
        <p:nvSpPr>
          <p:cNvPr id="915" name="Shape 25"/>
          <p:cNvSpPr/>
          <p:nvPr/>
        </p:nvSpPr>
        <p:spPr>
          <a:xfrm>
            <a:off x="8382000" y="913288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6" name="Shape 26"/>
          <p:cNvSpPr/>
          <p:nvPr/>
        </p:nvSpPr>
        <p:spPr>
          <a:xfrm>
            <a:off x="8382000" y="855440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17" name="Text 27"/>
          <p:cNvSpPr txBox="1"/>
          <p:nvPr/>
        </p:nvSpPr>
        <p:spPr>
          <a:xfrm>
            <a:off x="8382000" y="872616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5</a:t>
            </a:r>
            <a:endParaRPr dirty="0"/>
          </a:p>
        </p:txBody>
      </p:sp>
      <p:sp>
        <p:nvSpPr>
          <p:cNvPr id="918" name="Text 28"/>
          <p:cNvSpPr txBox="1"/>
          <p:nvPr/>
        </p:nvSpPr>
        <p:spPr>
          <a:xfrm>
            <a:off x="9239249" y="8698865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Прокладка кабелей</a:t>
            </a:r>
          </a:p>
        </p:txBody>
      </p:sp>
      <p:sp>
        <p:nvSpPr>
          <p:cNvPr id="919" name="Text 29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03</a:t>
            </a:r>
            <a:r>
              <a:rPr lang="ru-RU" dirty="0"/>
              <a:t>7</a:t>
            </a:r>
            <a:r>
              <a:rPr dirty="0"/>
              <a:t> / 100</a:t>
            </a:r>
          </a:p>
        </p:txBody>
      </p:sp>
      <p:sp>
        <p:nvSpPr>
          <p:cNvPr id="920" name="Text 30"/>
          <p:cNvSpPr txBox="1"/>
          <p:nvPr/>
        </p:nvSpPr>
        <p:spPr>
          <a:xfrm>
            <a:off x="15378112" y="9672638"/>
            <a:ext cx="241458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§06 ПОДКЛЮЧЕНИЕ</a:t>
            </a:r>
          </a:p>
        </p:txBody>
      </p:sp>
    </p:spTree>
  </p:cSld>
  <p:clrMapOvr>
    <a:masterClrMapping/>
  </p:clrMapOvr>
  <p:transition spd="med"/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" name="Text 0"/>
          <p:cNvSpPr txBox="1"/>
          <p:nvPr/>
        </p:nvSpPr>
        <p:spPr>
          <a:xfrm>
            <a:off x="571499" y="380999"/>
            <a:ext cx="347627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039 §06 ПОДКЛЮЧЕНИЕ</a:t>
            </a:r>
          </a:p>
        </p:txBody>
      </p:sp>
      <p:sp>
        <p:nvSpPr>
          <p:cNvPr id="923" name="Text 1"/>
          <p:cNvSpPr txBox="1"/>
          <p:nvPr/>
        </p:nvSpPr>
        <p:spPr>
          <a:xfrm>
            <a:off x="16625253" y="380999"/>
            <a:ext cx="116744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RCA LFE</a:t>
            </a:r>
          </a:p>
        </p:txBody>
      </p:sp>
      <p:sp>
        <p:nvSpPr>
          <p:cNvPr id="924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СПОСОБ 01</a:t>
            </a:r>
          </a:p>
        </p:txBody>
      </p:sp>
      <p:sp>
        <p:nvSpPr>
          <p:cNvPr id="925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Подключите по LFE через RCA-кабель</a:t>
            </a:r>
          </a:p>
        </p:txBody>
      </p:sp>
      <p:sp>
        <p:nvSpPr>
          <p:cNvPr id="926" name="Shape 4"/>
          <p:cNvSpPr/>
          <p:nvPr/>
        </p:nvSpPr>
        <p:spPr>
          <a:xfrm>
            <a:off x="1143000" y="3191192"/>
            <a:ext cx="7620000" cy="5861527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2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2596" y="3638867"/>
            <a:ext cx="6460808" cy="4966018"/>
          </a:xfrm>
          <a:prstGeom prst="rect">
            <a:avLst/>
          </a:prstGeom>
          <a:ln w="12700">
            <a:miter lim="400000"/>
          </a:ln>
        </p:spPr>
      </p:pic>
      <p:sp>
        <p:nvSpPr>
          <p:cNvPr id="928" name="Text 5"/>
          <p:cNvSpPr txBox="1"/>
          <p:nvPr/>
        </p:nvSpPr>
        <p:spPr>
          <a:xfrm>
            <a:off x="1381125" y="3391217"/>
            <a:ext cx="116744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LFE RCA</a:t>
            </a:r>
          </a:p>
        </p:txBody>
      </p:sp>
      <p:sp>
        <p:nvSpPr>
          <p:cNvPr id="929" name="Shape 6"/>
          <p:cNvSpPr/>
          <p:nvPr/>
        </p:nvSpPr>
        <p:spPr>
          <a:xfrm>
            <a:off x="9525000" y="386778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30" name="Text 7"/>
          <p:cNvSpPr txBox="1"/>
          <p:nvPr/>
        </p:nvSpPr>
        <p:spPr>
          <a:xfrm>
            <a:off x="9525000" y="4150836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931" name="Text 8"/>
          <p:cNvSpPr txBox="1"/>
          <p:nvPr/>
        </p:nvSpPr>
        <p:spPr>
          <a:xfrm>
            <a:off x="10668000" y="4088448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Соедините SUB OUT ресивера с LFE IN саба</a:t>
            </a:r>
          </a:p>
        </p:txBody>
      </p:sp>
      <p:sp>
        <p:nvSpPr>
          <p:cNvPr id="932" name="Shape 9"/>
          <p:cNvSpPr/>
          <p:nvPr/>
        </p:nvSpPr>
        <p:spPr>
          <a:xfrm>
            <a:off x="9525000" y="495934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33" name="Text 10"/>
          <p:cNvSpPr txBox="1"/>
          <p:nvPr/>
        </p:nvSpPr>
        <p:spPr>
          <a:xfrm>
            <a:off x="9525000" y="5242400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934" name="Text 11"/>
          <p:cNvSpPr txBox="1"/>
          <p:nvPr/>
        </p:nvSpPr>
        <p:spPr>
          <a:xfrm>
            <a:off x="10668000" y="5180012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Переведите селектор входа в «LFE»</a:t>
            </a:r>
          </a:p>
        </p:txBody>
      </p:sp>
      <p:sp>
        <p:nvSpPr>
          <p:cNvPr id="935" name="Shape 12"/>
          <p:cNvSpPr/>
          <p:nvPr/>
        </p:nvSpPr>
        <p:spPr>
          <a:xfrm>
            <a:off x="9525000" y="605091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36" name="Text 13"/>
          <p:cNvSpPr txBox="1"/>
          <p:nvPr/>
        </p:nvSpPr>
        <p:spPr>
          <a:xfrm>
            <a:off x="9525000" y="6333966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937" name="Text 14"/>
          <p:cNvSpPr txBox="1"/>
          <p:nvPr/>
        </p:nvSpPr>
        <p:spPr>
          <a:xfrm>
            <a:off x="10668000" y="6271578"/>
            <a:ext cx="6671310" cy="830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130000"/>
              </a:lnSpc>
              <a:defRPr sz="2376" spc="-99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Выключите кроссовер саба — управляет ресивер</a:t>
            </a:r>
          </a:p>
        </p:txBody>
      </p:sp>
      <p:sp>
        <p:nvSpPr>
          <p:cNvPr id="938" name="Shape 15"/>
          <p:cNvSpPr/>
          <p:nvPr/>
        </p:nvSpPr>
        <p:spPr>
          <a:xfrm>
            <a:off x="9525000" y="836358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39" name="Shape 16"/>
          <p:cNvSpPr/>
          <p:nvPr/>
        </p:nvSpPr>
        <p:spPr>
          <a:xfrm>
            <a:off x="9525000" y="753871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40" name="Text 17"/>
          <p:cNvSpPr txBox="1"/>
          <p:nvPr/>
        </p:nvSpPr>
        <p:spPr>
          <a:xfrm>
            <a:off x="9525000" y="7821770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941" name="Text 18"/>
          <p:cNvSpPr txBox="1"/>
          <p:nvPr/>
        </p:nvSpPr>
        <p:spPr>
          <a:xfrm>
            <a:off x="10668000" y="7759382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Установите уровень около 12 часов</a:t>
            </a:r>
          </a:p>
        </p:txBody>
      </p:sp>
      <p:sp>
        <p:nvSpPr>
          <p:cNvPr id="942" name="Text 19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03</a:t>
            </a:r>
            <a:r>
              <a:rPr lang="ru-RU" dirty="0"/>
              <a:t>8</a:t>
            </a:r>
            <a:r>
              <a:rPr dirty="0"/>
              <a:t> / 100</a:t>
            </a:r>
          </a:p>
        </p:txBody>
      </p:sp>
      <p:sp>
        <p:nvSpPr>
          <p:cNvPr id="943" name="Text 20"/>
          <p:cNvSpPr txBox="1"/>
          <p:nvPr/>
        </p:nvSpPr>
        <p:spPr>
          <a:xfrm>
            <a:off x="15378112" y="9672638"/>
            <a:ext cx="241458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§06 ПОДКЛЮЧЕНИЕ</a:t>
            </a:r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5" name="Text 0"/>
          <p:cNvSpPr txBox="1"/>
          <p:nvPr/>
        </p:nvSpPr>
        <p:spPr>
          <a:xfrm>
            <a:off x="571499" y="380999"/>
            <a:ext cx="347627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040 §06 ПОДКЛЮЧЕНИЕ</a:t>
            </a:r>
          </a:p>
        </p:txBody>
      </p:sp>
      <p:sp>
        <p:nvSpPr>
          <p:cNvPr id="946" name="Text 1"/>
          <p:cNvSpPr txBox="1"/>
          <p:nvPr/>
        </p:nvSpPr>
        <p:spPr>
          <a:xfrm>
            <a:off x="16157575" y="380999"/>
            <a:ext cx="1635125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HIGH-LEVEL</a:t>
            </a:r>
          </a:p>
        </p:txBody>
      </p:sp>
      <p:sp>
        <p:nvSpPr>
          <p:cNvPr id="947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СПОСОБ 02</a:t>
            </a:r>
          </a:p>
        </p:txBody>
      </p:sp>
      <p:sp>
        <p:nvSpPr>
          <p:cNvPr id="948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Подключите по high-level входам</a:t>
            </a:r>
          </a:p>
        </p:txBody>
      </p:sp>
      <p:sp>
        <p:nvSpPr>
          <p:cNvPr id="949" name="Text 4"/>
          <p:cNvSpPr txBox="1"/>
          <p:nvPr/>
        </p:nvSpPr>
        <p:spPr>
          <a:xfrm>
            <a:off x="1143000" y="4979034"/>
            <a:ext cx="7848600" cy="1786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z="25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Если у вас интегральный усилитель без preamp-выхода — используйте high-level (speaker-level) вход. Саб снимает сигнал параллельно с колонками.</a:t>
            </a:r>
          </a:p>
        </p:txBody>
      </p:sp>
      <p:sp>
        <p:nvSpPr>
          <p:cNvPr id="950" name="Text 5"/>
          <p:cNvSpPr txBox="1"/>
          <p:nvPr/>
        </p:nvSpPr>
        <p:spPr>
          <a:xfrm>
            <a:off x="1143000" y="6956424"/>
            <a:ext cx="7848600" cy="34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>
              <a:lnSpc>
                <a:spcPct val="135000"/>
              </a:lnSpc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ВАЖНО: СОБЛЮДАЙТЕ ПОЛЯРНОСТЬ (+/−)</a:t>
            </a:r>
          </a:p>
        </p:txBody>
      </p:sp>
      <p:sp>
        <p:nvSpPr>
          <p:cNvPr id="951" name="Shape 6"/>
          <p:cNvSpPr/>
          <p:nvPr/>
        </p:nvSpPr>
        <p:spPr>
          <a:xfrm>
            <a:off x="9525000" y="4097813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52" name="Text 7"/>
          <p:cNvSpPr txBox="1"/>
          <p:nvPr/>
        </p:nvSpPr>
        <p:spPr>
          <a:xfrm>
            <a:off x="9525000" y="4270850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L+</a:t>
            </a:r>
          </a:p>
        </p:txBody>
      </p:sp>
      <p:sp>
        <p:nvSpPr>
          <p:cNvPr id="953" name="Text 8"/>
          <p:cNvSpPr txBox="1"/>
          <p:nvPr/>
        </p:nvSpPr>
        <p:spPr>
          <a:xfrm>
            <a:off x="12725399" y="4270850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Красный — левый +</a:t>
            </a:r>
          </a:p>
        </p:txBody>
      </p:sp>
      <p:sp>
        <p:nvSpPr>
          <p:cNvPr id="954" name="Shape 9"/>
          <p:cNvSpPr/>
          <p:nvPr/>
        </p:nvSpPr>
        <p:spPr>
          <a:xfrm>
            <a:off x="9525000" y="477202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55" name="Text 10"/>
          <p:cNvSpPr txBox="1"/>
          <p:nvPr/>
        </p:nvSpPr>
        <p:spPr>
          <a:xfrm>
            <a:off x="9525000" y="4945062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L−</a:t>
            </a:r>
          </a:p>
        </p:txBody>
      </p:sp>
      <p:sp>
        <p:nvSpPr>
          <p:cNvPr id="956" name="Text 11"/>
          <p:cNvSpPr txBox="1"/>
          <p:nvPr/>
        </p:nvSpPr>
        <p:spPr>
          <a:xfrm>
            <a:off x="12725399" y="4945062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Чёрный — левая масса</a:t>
            </a:r>
          </a:p>
        </p:txBody>
      </p:sp>
      <p:sp>
        <p:nvSpPr>
          <p:cNvPr id="957" name="Shape 12"/>
          <p:cNvSpPr/>
          <p:nvPr/>
        </p:nvSpPr>
        <p:spPr>
          <a:xfrm>
            <a:off x="9525000" y="544623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58" name="Text 13"/>
          <p:cNvSpPr txBox="1"/>
          <p:nvPr/>
        </p:nvSpPr>
        <p:spPr>
          <a:xfrm>
            <a:off x="9525000" y="561927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R+</a:t>
            </a:r>
          </a:p>
        </p:txBody>
      </p:sp>
      <p:sp>
        <p:nvSpPr>
          <p:cNvPr id="959" name="Text 14"/>
          <p:cNvSpPr txBox="1"/>
          <p:nvPr/>
        </p:nvSpPr>
        <p:spPr>
          <a:xfrm>
            <a:off x="12725399" y="561927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Красный — правый +</a:t>
            </a:r>
          </a:p>
        </p:txBody>
      </p:sp>
      <p:sp>
        <p:nvSpPr>
          <p:cNvPr id="960" name="Shape 15"/>
          <p:cNvSpPr/>
          <p:nvPr/>
        </p:nvSpPr>
        <p:spPr>
          <a:xfrm>
            <a:off x="9525000" y="612044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1" name="Text 16"/>
          <p:cNvSpPr txBox="1"/>
          <p:nvPr/>
        </p:nvSpPr>
        <p:spPr>
          <a:xfrm>
            <a:off x="9525000" y="629348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R−</a:t>
            </a:r>
          </a:p>
        </p:txBody>
      </p:sp>
      <p:sp>
        <p:nvSpPr>
          <p:cNvPr id="962" name="Text 17"/>
          <p:cNvSpPr txBox="1"/>
          <p:nvPr/>
        </p:nvSpPr>
        <p:spPr>
          <a:xfrm>
            <a:off x="12725399" y="629348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Чёрный — правая масса</a:t>
            </a:r>
          </a:p>
        </p:txBody>
      </p:sp>
      <p:sp>
        <p:nvSpPr>
          <p:cNvPr id="963" name="Shape 18"/>
          <p:cNvSpPr/>
          <p:nvPr/>
        </p:nvSpPr>
        <p:spPr>
          <a:xfrm>
            <a:off x="9525000" y="679465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4" name="Text 19"/>
          <p:cNvSpPr txBox="1"/>
          <p:nvPr/>
        </p:nvSpPr>
        <p:spPr>
          <a:xfrm>
            <a:off x="9525000" y="6967695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СЕЧЕНИЕ</a:t>
            </a:r>
          </a:p>
        </p:txBody>
      </p:sp>
      <p:sp>
        <p:nvSpPr>
          <p:cNvPr id="965" name="Text 20"/>
          <p:cNvSpPr txBox="1"/>
          <p:nvPr/>
        </p:nvSpPr>
        <p:spPr>
          <a:xfrm>
            <a:off x="12725399" y="6967695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1.5—2.5 мм²</a:t>
            </a:r>
          </a:p>
        </p:txBody>
      </p:sp>
      <p:sp>
        <p:nvSpPr>
          <p:cNvPr id="966" name="Shape 21"/>
          <p:cNvSpPr/>
          <p:nvPr/>
        </p:nvSpPr>
        <p:spPr>
          <a:xfrm>
            <a:off x="9525000" y="813355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7" name="Shape 22"/>
          <p:cNvSpPr/>
          <p:nvPr/>
        </p:nvSpPr>
        <p:spPr>
          <a:xfrm>
            <a:off x="9525000" y="746886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68" name="Text 23"/>
          <p:cNvSpPr txBox="1"/>
          <p:nvPr/>
        </p:nvSpPr>
        <p:spPr>
          <a:xfrm>
            <a:off x="9525000" y="7641907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ДЛИНА</a:t>
            </a:r>
          </a:p>
        </p:txBody>
      </p:sp>
      <p:sp>
        <p:nvSpPr>
          <p:cNvPr id="969" name="Text 24"/>
          <p:cNvSpPr txBox="1"/>
          <p:nvPr/>
        </p:nvSpPr>
        <p:spPr>
          <a:xfrm>
            <a:off x="12725399" y="7641907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до 8 м</a:t>
            </a:r>
          </a:p>
        </p:txBody>
      </p:sp>
      <p:sp>
        <p:nvSpPr>
          <p:cNvPr id="970" name="Text 25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</a:t>
            </a:r>
            <a:r>
              <a:rPr lang="ru-RU" dirty="0"/>
              <a:t>39</a:t>
            </a:r>
            <a:r>
              <a:rPr dirty="0"/>
              <a:t> / 100</a:t>
            </a:r>
          </a:p>
        </p:txBody>
      </p:sp>
      <p:sp>
        <p:nvSpPr>
          <p:cNvPr id="971" name="Text 26"/>
          <p:cNvSpPr txBox="1"/>
          <p:nvPr/>
        </p:nvSpPr>
        <p:spPr>
          <a:xfrm>
            <a:off x="15378112" y="9672638"/>
            <a:ext cx="241458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§06 ПОДКЛЮЧЕНИЕ</a:t>
            </a:r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Text 0"/>
          <p:cNvSpPr txBox="1"/>
          <p:nvPr/>
        </p:nvSpPr>
        <p:spPr>
          <a:xfrm>
            <a:off x="571499" y="380999"/>
            <a:ext cx="347627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041 §06 ПОДКЛЮЧЕНИЕ</a:t>
            </a:r>
          </a:p>
        </p:txBody>
      </p:sp>
      <p:sp>
        <p:nvSpPr>
          <p:cNvPr id="974" name="Text 1"/>
          <p:cNvSpPr txBox="1"/>
          <p:nvPr/>
        </p:nvSpPr>
        <p:spPr>
          <a:xfrm>
            <a:off x="16469360" y="380999"/>
            <a:ext cx="132334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WIRELESS</a:t>
            </a:r>
          </a:p>
        </p:txBody>
      </p:sp>
      <p:sp>
        <p:nvSpPr>
          <p:cNvPr id="975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СПОСОБ 03</a:t>
            </a:r>
          </a:p>
        </p:txBody>
      </p:sp>
      <p:sp>
        <p:nvSpPr>
          <p:cNvPr id="976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Подключите беспроводной модуль</a:t>
            </a:r>
          </a:p>
        </p:txBody>
      </p:sp>
      <p:sp>
        <p:nvSpPr>
          <p:cNvPr id="977" name="Shape 4"/>
          <p:cNvSpPr/>
          <p:nvPr/>
        </p:nvSpPr>
        <p:spPr>
          <a:xfrm>
            <a:off x="1143000" y="2719070"/>
            <a:ext cx="7620000" cy="7620001"/>
          </a:xfrm>
          <a:prstGeom prst="rect">
            <a:avLst/>
          </a:prstGeom>
          <a:solidFill>
            <a:srgbClr val="F4F2EE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97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2620" y="3488690"/>
            <a:ext cx="6080760" cy="6080760"/>
          </a:xfrm>
          <a:prstGeom prst="rect">
            <a:avLst/>
          </a:prstGeom>
          <a:ln w="12700">
            <a:miter lim="400000"/>
          </a:ln>
        </p:spPr>
      </p:pic>
      <p:sp>
        <p:nvSpPr>
          <p:cNvPr id="979" name="Text 5"/>
          <p:cNvSpPr txBox="1"/>
          <p:nvPr/>
        </p:nvSpPr>
        <p:spPr>
          <a:xfrm>
            <a:off x="1381124" y="2919095"/>
            <a:ext cx="3050818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RESONA LINK 5.8 GHZ</a:t>
            </a:r>
          </a:p>
        </p:txBody>
      </p:sp>
      <p:sp>
        <p:nvSpPr>
          <p:cNvPr id="980" name="Shape 6"/>
          <p:cNvSpPr/>
          <p:nvPr/>
        </p:nvSpPr>
        <p:spPr>
          <a:xfrm>
            <a:off x="9525000" y="484187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1" name="Text 7"/>
          <p:cNvSpPr txBox="1"/>
          <p:nvPr/>
        </p:nvSpPr>
        <p:spPr>
          <a:xfrm>
            <a:off x="9525000" y="5014912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ПРОТОКОЛ</a:t>
            </a:r>
          </a:p>
        </p:txBody>
      </p:sp>
      <p:sp>
        <p:nvSpPr>
          <p:cNvPr id="982" name="Text 8"/>
          <p:cNvSpPr txBox="1"/>
          <p:nvPr/>
        </p:nvSpPr>
        <p:spPr>
          <a:xfrm>
            <a:off x="12725399" y="5014912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RESONA Link 5.8 GHz</a:t>
            </a:r>
          </a:p>
        </p:txBody>
      </p:sp>
      <p:sp>
        <p:nvSpPr>
          <p:cNvPr id="983" name="Shape 9"/>
          <p:cNvSpPr/>
          <p:nvPr/>
        </p:nvSpPr>
        <p:spPr>
          <a:xfrm>
            <a:off x="9525000" y="551608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4" name="Text 10"/>
          <p:cNvSpPr txBox="1"/>
          <p:nvPr/>
        </p:nvSpPr>
        <p:spPr>
          <a:xfrm>
            <a:off x="9525000" y="568912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ЗАДЕРЖКА</a:t>
            </a:r>
          </a:p>
        </p:txBody>
      </p:sp>
      <p:sp>
        <p:nvSpPr>
          <p:cNvPr id="985" name="Text 11"/>
          <p:cNvSpPr txBox="1"/>
          <p:nvPr/>
        </p:nvSpPr>
        <p:spPr>
          <a:xfrm>
            <a:off x="12725399" y="568912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&lt; 10 мс</a:t>
            </a:r>
          </a:p>
        </p:txBody>
      </p:sp>
      <p:sp>
        <p:nvSpPr>
          <p:cNvPr id="986" name="Shape 12"/>
          <p:cNvSpPr/>
          <p:nvPr/>
        </p:nvSpPr>
        <p:spPr>
          <a:xfrm>
            <a:off x="9525000" y="619029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87" name="Text 13"/>
          <p:cNvSpPr txBox="1"/>
          <p:nvPr/>
        </p:nvSpPr>
        <p:spPr>
          <a:xfrm>
            <a:off x="9525000" y="636333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ДАЛЬНОСТЬ</a:t>
            </a:r>
          </a:p>
        </p:txBody>
      </p:sp>
      <p:sp>
        <p:nvSpPr>
          <p:cNvPr id="988" name="Text 14"/>
          <p:cNvSpPr txBox="1"/>
          <p:nvPr/>
        </p:nvSpPr>
        <p:spPr>
          <a:xfrm>
            <a:off x="12725399" y="636333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12 м, open-space</a:t>
            </a:r>
          </a:p>
        </p:txBody>
      </p:sp>
      <p:sp>
        <p:nvSpPr>
          <p:cNvPr id="989" name="Shape 15"/>
          <p:cNvSpPr/>
          <p:nvPr/>
        </p:nvSpPr>
        <p:spPr>
          <a:xfrm>
            <a:off x="9525000" y="686450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0" name="Text 16"/>
          <p:cNvSpPr txBox="1"/>
          <p:nvPr/>
        </p:nvSpPr>
        <p:spPr>
          <a:xfrm>
            <a:off x="9525000" y="7037545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РАЗРЯДНОСТЬ</a:t>
            </a:r>
          </a:p>
        </p:txBody>
      </p:sp>
      <p:sp>
        <p:nvSpPr>
          <p:cNvPr id="991" name="Text 17"/>
          <p:cNvSpPr txBox="1"/>
          <p:nvPr/>
        </p:nvSpPr>
        <p:spPr>
          <a:xfrm>
            <a:off x="12725399" y="7037545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24 бит / 96 кГц</a:t>
            </a:r>
          </a:p>
        </p:txBody>
      </p:sp>
      <p:sp>
        <p:nvSpPr>
          <p:cNvPr id="992" name="Shape 18"/>
          <p:cNvSpPr/>
          <p:nvPr/>
        </p:nvSpPr>
        <p:spPr>
          <a:xfrm>
            <a:off x="9525000" y="820340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3" name="Shape 19"/>
          <p:cNvSpPr/>
          <p:nvPr/>
        </p:nvSpPr>
        <p:spPr>
          <a:xfrm>
            <a:off x="9525000" y="753871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994" name="Text 20"/>
          <p:cNvSpPr txBox="1"/>
          <p:nvPr/>
        </p:nvSpPr>
        <p:spPr>
          <a:xfrm>
            <a:off x="9525000" y="7711757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ПАРНЫЕ УСТРОЙСТВА</a:t>
            </a:r>
          </a:p>
        </p:txBody>
      </p:sp>
      <p:sp>
        <p:nvSpPr>
          <p:cNvPr id="995" name="Text 21"/>
          <p:cNvSpPr txBox="1"/>
          <p:nvPr/>
        </p:nvSpPr>
        <p:spPr>
          <a:xfrm>
            <a:off x="12725399" y="7711757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до 2 сабов</a:t>
            </a:r>
          </a:p>
        </p:txBody>
      </p:sp>
      <p:sp>
        <p:nvSpPr>
          <p:cNvPr id="996" name="Text 22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0</a:t>
            </a:r>
            <a:r>
              <a:rPr dirty="0"/>
              <a:t> / 100</a:t>
            </a:r>
          </a:p>
        </p:txBody>
      </p:sp>
      <p:sp>
        <p:nvSpPr>
          <p:cNvPr id="997" name="Text 23"/>
          <p:cNvSpPr txBox="1"/>
          <p:nvPr/>
        </p:nvSpPr>
        <p:spPr>
          <a:xfrm>
            <a:off x="15378112" y="9672638"/>
            <a:ext cx="241458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§06 ПОДКЛЮЧЕНИЕ</a:t>
            </a:r>
          </a:p>
        </p:txBody>
      </p:sp>
    </p:spTree>
  </p:cSld>
  <p:clrMapOvr>
    <a:masterClrMapping/>
  </p:clrMapOvr>
  <p:transition spd="med"/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9" name="Text 0"/>
          <p:cNvSpPr txBox="1"/>
          <p:nvPr/>
        </p:nvSpPr>
        <p:spPr>
          <a:xfrm>
            <a:off x="571499" y="380999"/>
            <a:ext cx="347627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042 §06 ПОДКЛЮЧЕНИЕ</a:t>
            </a:r>
          </a:p>
        </p:txBody>
      </p:sp>
      <p:sp>
        <p:nvSpPr>
          <p:cNvPr id="1000" name="Text 1"/>
          <p:cNvSpPr txBox="1"/>
          <p:nvPr/>
        </p:nvSpPr>
        <p:spPr>
          <a:xfrm>
            <a:off x="17248823" y="380999"/>
            <a:ext cx="5438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CAR</a:t>
            </a:r>
          </a:p>
        </p:txBody>
      </p:sp>
      <p:sp>
        <p:nvSpPr>
          <p:cNvPr id="1001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АВТОСАБВУФЕР</a:t>
            </a:r>
          </a:p>
        </p:txBody>
      </p:sp>
      <p:sp>
        <p:nvSpPr>
          <p:cNvPr id="1002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Используйте две шины для авто-сабвуфера</a:t>
            </a:r>
          </a:p>
        </p:txBody>
      </p:sp>
      <p:sp>
        <p:nvSpPr>
          <p:cNvPr id="1003" name="Shape 4"/>
          <p:cNvSpPr/>
          <p:nvPr/>
        </p:nvSpPr>
        <p:spPr>
          <a:xfrm>
            <a:off x="1143000" y="3191192"/>
            <a:ext cx="7620000" cy="5861527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00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571" y="3492817"/>
            <a:ext cx="6840857" cy="5258118"/>
          </a:xfrm>
          <a:prstGeom prst="rect">
            <a:avLst/>
          </a:prstGeom>
          <a:ln w="12700">
            <a:miter lim="400000"/>
          </a:ln>
        </p:spPr>
      </p:pic>
      <p:sp>
        <p:nvSpPr>
          <p:cNvPr id="1005" name="Text 5"/>
          <p:cNvSpPr txBox="1"/>
          <p:nvPr/>
        </p:nvSpPr>
        <p:spPr>
          <a:xfrm>
            <a:off x="1381125" y="3391217"/>
            <a:ext cx="163512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CAR WIRING</a:t>
            </a:r>
          </a:p>
        </p:txBody>
      </p:sp>
      <p:sp>
        <p:nvSpPr>
          <p:cNvPr id="1006" name="Shape 6"/>
          <p:cNvSpPr/>
          <p:nvPr/>
        </p:nvSpPr>
        <p:spPr>
          <a:xfrm>
            <a:off x="9525000" y="347154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07" name="Text 7"/>
          <p:cNvSpPr txBox="1"/>
          <p:nvPr/>
        </p:nvSpPr>
        <p:spPr>
          <a:xfrm>
            <a:off x="9525000" y="3754596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1008" name="Text 8"/>
          <p:cNvSpPr txBox="1"/>
          <p:nvPr/>
        </p:nvSpPr>
        <p:spPr>
          <a:xfrm>
            <a:off x="10668000" y="3692207"/>
            <a:ext cx="6671310" cy="830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13816">
              <a:lnSpc>
                <a:spcPct val="130000"/>
              </a:lnSpc>
              <a:defRPr sz="2136" spc="-89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Силовой +12 В через предохранитель 60 А в 30 см от АКБ</a:t>
            </a:r>
          </a:p>
        </p:txBody>
      </p:sp>
      <p:sp>
        <p:nvSpPr>
          <p:cNvPr id="1009" name="Shape 9"/>
          <p:cNvSpPr/>
          <p:nvPr/>
        </p:nvSpPr>
        <p:spPr>
          <a:xfrm>
            <a:off x="9525000" y="495934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0" name="Text 10"/>
          <p:cNvSpPr txBox="1"/>
          <p:nvPr/>
        </p:nvSpPr>
        <p:spPr>
          <a:xfrm>
            <a:off x="9525000" y="5242400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1011" name="Text 11"/>
          <p:cNvSpPr txBox="1"/>
          <p:nvPr/>
        </p:nvSpPr>
        <p:spPr>
          <a:xfrm>
            <a:off x="10668000" y="5180012"/>
            <a:ext cx="6671310" cy="830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13816">
              <a:lnSpc>
                <a:spcPct val="130000"/>
              </a:lnSpc>
              <a:defRPr sz="2136" spc="-89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Масса: сечение ≥ 4 GA, длина ≤ 50 см, контакт с кузовом</a:t>
            </a:r>
          </a:p>
        </p:txBody>
      </p:sp>
      <p:sp>
        <p:nvSpPr>
          <p:cNvPr id="1012" name="Shape 12"/>
          <p:cNvSpPr/>
          <p:nvPr/>
        </p:nvSpPr>
        <p:spPr>
          <a:xfrm>
            <a:off x="9525000" y="644715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3" name="Text 13"/>
          <p:cNvSpPr txBox="1"/>
          <p:nvPr/>
        </p:nvSpPr>
        <p:spPr>
          <a:xfrm>
            <a:off x="9525000" y="6730206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1014" name="Text 14"/>
          <p:cNvSpPr txBox="1"/>
          <p:nvPr/>
        </p:nvSpPr>
        <p:spPr>
          <a:xfrm>
            <a:off x="10668000" y="6667817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REM-провод от магнитолы, 0.5 мм²</a:t>
            </a:r>
          </a:p>
        </p:txBody>
      </p:sp>
      <p:sp>
        <p:nvSpPr>
          <p:cNvPr id="1015" name="Shape 15"/>
          <p:cNvSpPr/>
          <p:nvPr/>
        </p:nvSpPr>
        <p:spPr>
          <a:xfrm>
            <a:off x="9525000" y="875982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6" name="Shape 16"/>
          <p:cNvSpPr/>
          <p:nvPr/>
        </p:nvSpPr>
        <p:spPr>
          <a:xfrm>
            <a:off x="9525000" y="753871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17" name="Text 17"/>
          <p:cNvSpPr txBox="1"/>
          <p:nvPr/>
        </p:nvSpPr>
        <p:spPr>
          <a:xfrm>
            <a:off x="9525000" y="7821770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1018" name="Text 18"/>
          <p:cNvSpPr txBox="1"/>
          <p:nvPr/>
        </p:nvSpPr>
        <p:spPr>
          <a:xfrm>
            <a:off x="10668000" y="7759382"/>
            <a:ext cx="6671310" cy="830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13816">
              <a:lnSpc>
                <a:spcPct val="130000"/>
              </a:lnSpc>
              <a:defRPr sz="2136" spc="-89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Сигнал: RCA от процессора или high-level из магнитолы</a:t>
            </a:r>
          </a:p>
        </p:txBody>
      </p:sp>
      <p:sp>
        <p:nvSpPr>
          <p:cNvPr id="1019" name="Text 19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1</a:t>
            </a:r>
            <a:r>
              <a:rPr dirty="0"/>
              <a:t> / 100</a:t>
            </a:r>
          </a:p>
        </p:txBody>
      </p:sp>
      <p:sp>
        <p:nvSpPr>
          <p:cNvPr id="1020" name="Text 20"/>
          <p:cNvSpPr txBox="1"/>
          <p:nvPr/>
        </p:nvSpPr>
        <p:spPr>
          <a:xfrm>
            <a:off x="15378112" y="9672638"/>
            <a:ext cx="241458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§06 ПОДКЛЮЧЕНИЕ</a:t>
            </a:r>
          </a:p>
        </p:txBody>
      </p:sp>
    </p:spTree>
  </p:cSld>
  <p:clrMapOvr>
    <a:masterClrMapping/>
  </p:clrMapOvr>
  <p:transition spd="med"/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2" name="Text 0"/>
          <p:cNvSpPr txBox="1"/>
          <p:nvPr/>
        </p:nvSpPr>
        <p:spPr>
          <a:xfrm>
            <a:off x="571499" y="380999"/>
            <a:ext cx="347627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043 §06 ПОДКЛЮЧЕНИЕ</a:t>
            </a:r>
          </a:p>
        </p:txBody>
      </p:sp>
      <p:sp>
        <p:nvSpPr>
          <p:cNvPr id="1023" name="Text 1"/>
          <p:cNvSpPr txBox="1"/>
          <p:nvPr/>
        </p:nvSpPr>
        <p:spPr>
          <a:xfrm>
            <a:off x="17248823" y="380999"/>
            <a:ext cx="5438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XLR</a:t>
            </a:r>
          </a:p>
        </p:txBody>
      </p:sp>
      <p:sp>
        <p:nvSpPr>
          <p:cNvPr id="1024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PA / STUDIO</a:t>
            </a:r>
          </a:p>
        </p:txBody>
      </p:sp>
      <p:sp>
        <p:nvSpPr>
          <p:cNvPr id="1025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Подключите PA-саб по балансному XLR</a:t>
            </a:r>
          </a:p>
        </p:txBody>
      </p:sp>
      <p:sp>
        <p:nvSpPr>
          <p:cNvPr id="1026" name="Text 4"/>
          <p:cNvSpPr txBox="1"/>
          <p:nvPr/>
        </p:nvSpPr>
        <p:spPr>
          <a:xfrm>
            <a:off x="1143000" y="4278471"/>
            <a:ext cx="7848600" cy="1349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96111">
              <a:lnSpc>
                <a:spcPct val="135000"/>
              </a:lnSpc>
              <a:defRPr sz="2450" spc="-97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Балансный XLR обязателен на кабелях длиннее 5 м и при прокладке рядом со сценическим светом. Распайка:</a:t>
            </a:r>
          </a:p>
        </p:txBody>
      </p:sp>
      <p:sp>
        <p:nvSpPr>
          <p:cNvPr id="1027" name="Shape 5"/>
          <p:cNvSpPr/>
          <p:nvPr/>
        </p:nvSpPr>
        <p:spPr>
          <a:xfrm>
            <a:off x="1143000" y="582183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28" name="Text 6"/>
          <p:cNvSpPr txBox="1"/>
          <p:nvPr/>
        </p:nvSpPr>
        <p:spPr>
          <a:xfrm>
            <a:off x="1143000" y="5994875"/>
            <a:ext cx="3296412" cy="407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PIN 1</a:t>
            </a:r>
          </a:p>
        </p:txBody>
      </p:sp>
      <p:sp>
        <p:nvSpPr>
          <p:cNvPr id="1029" name="Text 7"/>
          <p:cNvSpPr txBox="1"/>
          <p:nvPr/>
        </p:nvSpPr>
        <p:spPr>
          <a:xfrm>
            <a:off x="4343399" y="5994875"/>
            <a:ext cx="4552190" cy="407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/>
          </a:bodyPr>
          <a:lstStyle>
            <a:lvl1pPr>
              <a:lnSpc>
                <a:spcPct val="135000"/>
              </a:lnSpc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Shield / GND</a:t>
            </a:r>
          </a:p>
        </p:txBody>
      </p:sp>
      <p:sp>
        <p:nvSpPr>
          <p:cNvPr id="1030" name="Shape 8"/>
          <p:cNvSpPr/>
          <p:nvPr/>
        </p:nvSpPr>
        <p:spPr>
          <a:xfrm>
            <a:off x="1143000" y="653430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31" name="Text 9"/>
          <p:cNvSpPr txBox="1"/>
          <p:nvPr/>
        </p:nvSpPr>
        <p:spPr>
          <a:xfrm>
            <a:off x="1143000" y="6707345"/>
            <a:ext cx="3296412" cy="407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PIN 2</a:t>
            </a:r>
          </a:p>
        </p:txBody>
      </p:sp>
      <p:sp>
        <p:nvSpPr>
          <p:cNvPr id="1032" name="Text 10"/>
          <p:cNvSpPr txBox="1"/>
          <p:nvPr/>
        </p:nvSpPr>
        <p:spPr>
          <a:xfrm>
            <a:off x="4343399" y="6707345"/>
            <a:ext cx="4552190" cy="407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/>
          </a:bodyPr>
          <a:lstStyle>
            <a:lvl1pPr>
              <a:lnSpc>
                <a:spcPct val="135000"/>
              </a:lnSpc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Hot (+)</a:t>
            </a:r>
          </a:p>
        </p:txBody>
      </p:sp>
      <p:sp>
        <p:nvSpPr>
          <p:cNvPr id="1033" name="Shape 11"/>
          <p:cNvSpPr/>
          <p:nvPr/>
        </p:nvSpPr>
        <p:spPr>
          <a:xfrm>
            <a:off x="1143000" y="7949723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34" name="Shape 12"/>
          <p:cNvSpPr/>
          <p:nvPr/>
        </p:nvSpPr>
        <p:spPr>
          <a:xfrm>
            <a:off x="1143000" y="724677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35" name="Text 13"/>
          <p:cNvSpPr txBox="1"/>
          <p:nvPr/>
        </p:nvSpPr>
        <p:spPr>
          <a:xfrm>
            <a:off x="1143000" y="7419816"/>
            <a:ext cx="3296412" cy="407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PIN 3</a:t>
            </a:r>
          </a:p>
        </p:txBody>
      </p:sp>
      <p:sp>
        <p:nvSpPr>
          <p:cNvPr id="1036" name="Text 14"/>
          <p:cNvSpPr txBox="1"/>
          <p:nvPr/>
        </p:nvSpPr>
        <p:spPr>
          <a:xfrm>
            <a:off x="4343399" y="7419816"/>
            <a:ext cx="4552190" cy="407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/>
          </a:bodyPr>
          <a:lstStyle>
            <a:lvl1pPr>
              <a:lnSpc>
                <a:spcPct val="135000"/>
              </a:lnSpc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Cold (−)</a:t>
            </a:r>
          </a:p>
        </p:txBody>
      </p:sp>
      <p:sp>
        <p:nvSpPr>
          <p:cNvPr id="1037" name="Shape 15"/>
          <p:cNvSpPr/>
          <p:nvPr/>
        </p:nvSpPr>
        <p:spPr>
          <a:xfrm>
            <a:off x="9525000" y="2947035"/>
            <a:ext cx="7620000" cy="63500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03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94619" y="3589654"/>
            <a:ext cx="6080761" cy="5064761"/>
          </a:xfrm>
          <a:prstGeom prst="rect">
            <a:avLst/>
          </a:prstGeom>
          <a:ln w="12700">
            <a:miter lim="400000"/>
          </a:ln>
        </p:spPr>
      </p:pic>
      <p:sp>
        <p:nvSpPr>
          <p:cNvPr id="1039" name="Text 16"/>
          <p:cNvSpPr txBox="1"/>
          <p:nvPr/>
        </p:nvSpPr>
        <p:spPr>
          <a:xfrm>
            <a:off x="9763125" y="3147060"/>
            <a:ext cx="163512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XLR FEMALE</a:t>
            </a:r>
          </a:p>
        </p:txBody>
      </p:sp>
      <p:sp>
        <p:nvSpPr>
          <p:cNvPr id="1040" name="Text 17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2</a:t>
            </a:r>
            <a:r>
              <a:rPr dirty="0"/>
              <a:t> / 100</a:t>
            </a:r>
          </a:p>
        </p:txBody>
      </p:sp>
      <p:sp>
        <p:nvSpPr>
          <p:cNvPr id="1041" name="Text 18"/>
          <p:cNvSpPr txBox="1"/>
          <p:nvPr/>
        </p:nvSpPr>
        <p:spPr>
          <a:xfrm>
            <a:off x="15378112" y="9672638"/>
            <a:ext cx="241458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§06 ПОДКЛЮЧЕНИЕ</a:t>
            </a:r>
          </a:p>
        </p:txBody>
      </p:sp>
    </p:spTree>
  </p:cSld>
  <p:clrMapOvr>
    <a:masterClrMapping/>
  </p:clrMapOvr>
  <p:transition spd="med"/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3" name="Text 0"/>
          <p:cNvSpPr txBox="1"/>
          <p:nvPr/>
        </p:nvSpPr>
        <p:spPr>
          <a:xfrm>
            <a:off x="571499" y="380999"/>
            <a:ext cx="347627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044 §06 ПОДКЛЮЧЕНИЕ</a:t>
            </a:r>
          </a:p>
        </p:txBody>
      </p:sp>
      <p:sp>
        <p:nvSpPr>
          <p:cNvPr id="1044" name="Text 1"/>
          <p:cNvSpPr txBox="1"/>
          <p:nvPr/>
        </p:nvSpPr>
        <p:spPr>
          <a:xfrm>
            <a:off x="16157575" y="380999"/>
            <a:ext cx="1635125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32104">
              <a:defRPr sz="1638" spc="91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ПОЛЯРНОСТЬ</a:t>
            </a:r>
          </a:p>
        </p:txBody>
      </p:sp>
      <p:sp>
        <p:nvSpPr>
          <p:cNvPr id="1045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СТУДИЯ</a:t>
            </a:r>
          </a:p>
        </p:txBody>
      </p:sp>
      <p:sp>
        <p:nvSpPr>
          <p:cNvPr id="1046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Проверьте полярность в студийной системе</a:t>
            </a:r>
          </a:p>
        </p:txBody>
      </p:sp>
      <p:sp>
        <p:nvSpPr>
          <p:cNvPr id="1047" name="Shape 4"/>
          <p:cNvSpPr/>
          <p:nvPr/>
        </p:nvSpPr>
        <p:spPr>
          <a:xfrm>
            <a:off x="1143000" y="279368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48" name="Text 5"/>
          <p:cNvSpPr txBox="1"/>
          <p:nvPr/>
        </p:nvSpPr>
        <p:spPr>
          <a:xfrm>
            <a:off x="1143000" y="307673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1049" name="Text 6"/>
          <p:cNvSpPr txBox="1"/>
          <p:nvPr/>
        </p:nvSpPr>
        <p:spPr>
          <a:xfrm>
            <a:off x="2286000" y="301434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Подключите саб параллельно мониторам</a:t>
            </a:r>
          </a:p>
        </p:txBody>
      </p:sp>
      <p:sp>
        <p:nvSpPr>
          <p:cNvPr id="1050" name="Shape 7"/>
          <p:cNvSpPr/>
          <p:nvPr/>
        </p:nvSpPr>
        <p:spPr>
          <a:xfrm>
            <a:off x="1143000" y="388524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1" name="Text 8"/>
          <p:cNvSpPr txBox="1"/>
          <p:nvPr/>
        </p:nvSpPr>
        <p:spPr>
          <a:xfrm>
            <a:off x="1143000" y="4168299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1052" name="Text 9"/>
          <p:cNvSpPr txBox="1"/>
          <p:nvPr/>
        </p:nvSpPr>
        <p:spPr>
          <a:xfrm>
            <a:off x="2286000" y="4105909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Воспроизведите polarity-тест (импульс 50—100 Гц)</a:t>
            </a:r>
          </a:p>
        </p:txBody>
      </p:sp>
      <p:sp>
        <p:nvSpPr>
          <p:cNvPr id="1053" name="Shape 10"/>
          <p:cNvSpPr/>
          <p:nvPr/>
        </p:nvSpPr>
        <p:spPr>
          <a:xfrm>
            <a:off x="1143000" y="497681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4" name="Text 11"/>
          <p:cNvSpPr txBox="1"/>
          <p:nvPr/>
        </p:nvSpPr>
        <p:spPr>
          <a:xfrm>
            <a:off x="1143000" y="525986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1055" name="Text 12"/>
          <p:cNvSpPr txBox="1"/>
          <p:nvPr/>
        </p:nvSpPr>
        <p:spPr>
          <a:xfrm>
            <a:off x="2286000" y="5197474"/>
            <a:ext cx="15304770" cy="434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Сравните положительный и инвертированный фронт</a:t>
            </a:r>
          </a:p>
        </p:txBody>
      </p:sp>
      <p:sp>
        <p:nvSpPr>
          <p:cNvPr id="1056" name="Shape 13"/>
          <p:cNvSpPr/>
          <p:nvPr/>
        </p:nvSpPr>
        <p:spPr>
          <a:xfrm>
            <a:off x="1143000" y="606837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57" name="Text 14"/>
          <p:cNvSpPr txBox="1"/>
          <p:nvPr/>
        </p:nvSpPr>
        <p:spPr>
          <a:xfrm>
            <a:off x="1143000" y="6351428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1058" name="Text 15"/>
          <p:cNvSpPr txBox="1"/>
          <p:nvPr/>
        </p:nvSpPr>
        <p:spPr>
          <a:xfrm>
            <a:off x="2286000" y="6289040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Если бас «исчезает» — инвертируйте фазу</a:t>
            </a:r>
          </a:p>
        </p:txBody>
      </p:sp>
      <p:sp>
        <p:nvSpPr>
          <p:cNvPr id="1059" name="Shape 16"/>
          <p:cNvSpPr/>
          <p:nvPr/>
        </p:nvSpPr>
        <p:spPr>
          <a:xfrm>
            <a:off x="1143000" y="798480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0" name="Shape 17"/>
          <p:cNvSpPr/>
          <p:nvPr/>
        </p:nvSpPr>
        <p:spPr>
          <a:xfrm>
            <a:off x="1143000" y="715994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61" name="Text 18"/>
          <p:cNvSpPr txBox="1"/>
          <p:nvPr/>
        </p:nvSpPr>
        <p:spPr>
          <a:xfrm>
            <a:off x="1143000" y="744299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</a:t>
            </a:r>
          </a:p>
        </p:txBody>
      </p:sp>
      <p:sp>
        <p:nvSpPr>
          <p:cNvPr id="1062" name="Text 19"/>
          <p:cNvSpPr txBox="1"/>
          <p:nvPr/>
        </p:nvSpPr>
        <p:spPr>
          <a:xfrm>
            <a:off x="2286000" y="738060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Закрепите измеренную задержку в DSP</a:t>
            </a:r>
          </a:p>
        </p:txBody>
      </p:sp>
      <p:sp>
        <p:nvSpPr>
          <p:cNvPr id="1063" name="Text 20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3</a:t>
            </a:r>
            <a:r>
              <a:rPr dirty="0"/>
              <a:t> / 100</a:t>
            </a:r>
          </a:p>
        </p:txBody>
      </p:sp>
      <p:sp>
        <p:nvSpPr>
          <p:cNvPr id="1064" name="Text 21"/>
          <p:cNvSpPr txBox="1"/>
          <p:nvPr/>
        </p:nvSpPr>
        <p:spPr>
          <a:xfrm>
            <a:off x="15378112" y="9672638"/>
            <a:ext cx="241458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§06 ПОДКЛЮЧЕНИЕ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Text 0"/>
          <p:cNvSpPr txBox="1"/>
          <p:nvPr/>
        </p:nvSpPr>
        <p:spPr>
          <a:xfrm>
            <a:off x="571499" y="380999"/>
            <a:ext cx="347627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045 §06 ПОДКЛЮЧЕНИЕ</a:t>
            </a:r>
          </a:p>
        </p:txBody>
      </p:sp>
      <p:sp>
        <p:nvSpPr>
          <p:cNvPr id="1067" name="Text 1"/>
          <p:cNvSpPr txBox="1"/>
          <p:nvPr/>
        </p:nvSpPr>
        <p:spPr>
          <a:xfrm>
            <a:off x="16157575" y="380999"/>
            <a:ext cx="1635125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41247">
              <a:defRPr sz="1656" spc="91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ЗАЗЕМЛЕНИЕ</a:t>
            </a:r>
          </a:p>
        </p:txBody>
      </p:sp>
      <p:sp>
        <p:nvSpPr>
          <p:cNvPr id="1068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ЗЕМЛЯНЫЕ ПЕТЛИ</a:t>
            </a:r>
          </a:p>
        </p:txBody>
      </p:sp>
      <p:sp>
        <p:nvSpPr>
          <p:cNvPr id="1069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Заземлите систему, чтобы убрать гул</a:t>
            </a:r>
          </a:p>
        </p:txBody>
      </p:sp>
      <p:sp>
        <p:nvSpPr>
          <p:cNvPr id="1070" name="Text 4"/>
          <p:cNvSpPr txBox="1"/>
          <p:nvPr/>
        </p:nvSpPr>
        <p:spPr>
          <a:xfrm>
            <a:off x="1143000" y="4988242"/>
            <a:ext cx="7848600" cy="912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/>
          </a:bodyPr>
          <a:lstStyle>
            <a:lvl1pPr defTabSz="896111">
              <a:lnSpc>
                <a:spcPct val="135000"/>
              </a:lnSpc>
              <a:defRPr sz="2450" spc="-97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Гул 50/60 Гц — почти всегда земляная петля. Два правила:</a:t>
            </a:r>
          </a:p>
        </p:txBody>
      </p:sp>
      <p:sp>
        <p:nvSpPr>
          <p:cNvPr id="1071" name="Text 5"/>
          <p:cNvSpPr txBox="1"/>
          <p:nvPr/>
        </p:nvSpPr>
        <p:spPr>
          <a:xfrm>
            <a:off x="1209675" y="6091237"/>
            <a:ext cx="7629525" cy="1323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/>
          <a:p>
            <a:pPr marL="192023" indent="-192023" defTabSz="877823">
              <a:lnSpc>
                <a:spcPct val="150000"/>
              </a:lnSpc>
              <a:buSzPct val="100000"/>
              <a:buChar char="•"/>
              <a:tabLst>
                <a:tab pos="177800" algn="l"/>
              </a:tabLst>
              <a:defRPr sz="2112" spc="-96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Все компоненты — в один сетевой фильтр</a:t>
            </a:r>
          </a:p>
          <a:p>
            <a:pPr marL="192023" indent="-192023" defTabSz="877823">
              <a:lnSpc>
                <a:spcPct val="150000"/>
              </a:lnSpc>
              <a:buSzPct val="100000"/>
              <a:buChar char="•"/>
              <a:tabLst>
                <a:tab pos="177800" algn="l"/>
              </a:tabLst>
              <a:defRPr sz="2112" spc="-96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Питание и сигнал — по разным сторонам стойки</a:t>
            </a:r>
          </a:p>
          <a:p>
            <a:pPr marL="192023" indent="-192023" defTabSz="877823">
              <a:lnSpc>
                <a:spcPct val="150000"/>
              </a:lnSpc>
              <a:buSzPct val="100000"/>
              <a:buChar char="•"/>
              <a:tabLst>
                <a:tab pos="177800" algn="l"/>
              </a:tabLst>
              <a:defRPr sz="2112" spc="-96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Если гул остался — ground-lift изолятор на входе саба</a:t>
            </a:r>
          </a:p>
        </p:txBody>
      </p:sp>
      <p:sp>
        <p:nvSpPr>
          <p:cNvPr id="1072" name="Shape 6"/>
          <p:cNvSpPr/>
          <p:nvPr/>
        </p:nvSpPr>
        <p:spPr>
          <a:xfrm>
            <a:off x="9525000" y="2719069"/>
            <a:ext cx="7620000" cy="6927217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07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4573" y="3074035"/>
            <a:ext cx="6840856" cy="6217285"/>
          </a:xfrm>
          <a:prstGeom prst="rect">
            <a:avLst/>
          </a:prstGeom>
          <a:ln w="12700">
            <a:miter lim="400000"/>
          </a:ln>
        </p:spPr>
      </p:pic>
      <p:sp>
        <p:nvSpPr>
          <p:cNvPr id="1074" name="Text 7"/>
          <p:cNvSpPr txBox="1"/>
          <p:nvPr/>
        </p:nvSpPr>
        <p:spPr>
          <a:xfrm>
            <a:off x="9763124" y="2919095"/>
            <a:ext cx="225869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STAR GROUNDING</a:t>
            </a:r>
          </a:p>
        </p:txBody>
      </p:sp>
      <p:sp>
        <p:nvSpPr>
          <p:cNvPr id="1075" name="Text 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4</a:t>
            </a:r>
            <a:r>
              <a:rPr dirty="0"/>
              <a:t> / 100</a:t>
            </a:r>
          </a:p>
        </p:txBody>
      </p:sp>
      <p:sp>
        <p:nvSpPr>
          <p:cNvPr id="1076" name="Text 9"/>
          <p:cNvSpPr txBox="1"/>
          <p:nvPr/>
        </p:nvSpPr>
        <p:spPr>
          <a:xfrm>
            <a:off x="15378112" y="9672638"/>
            <a:ext cx="241458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§06 ПОДКЛЮЧЕНИЕ</a:t>
            </a:r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Text 0"/>
          <p:cNvSpPr txBox="1"/>
          <p:nvPr/>
        </p:nvSpPr>
        <p:spPr>
          <a:xfrm>
            <a:off x="571499" y="380999"/>
            <a:ext cx="347627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046 §06 ПОДКЛЮЧЕНИЕ</a:t>
            </a:r>
          </a:p>
        </p:txBody>
      </p:sp>
      <p:sp>
        <p:nvSpPr>
          <p:cNvPr id="1079" name="Text 1"/>
          <p:cNvSpPr txBox="1"/>
          <p:nvPr/>
        </p:nvSpPr>
        <p:spPr>
          <a:xfrm>
            <a:off x="16781144" y="380999"/>
            <a:ext cx="1011556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КАБЕЛИ</a:t>
            </a:r>
          </a:p>
        </p:txBody>
      </p:sp>
      <p:sp>
        <p:nvSpPr>
          <p:cNvPr id="1080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ПРОКЛАДКА</a:t>
            </a:r>
          </a:p>
        </p:txBody>
      </p:sp>
      <p:sp>
        <p:nvSpPr>
          <p:cNvPr id="1081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Прокладывайте кабели вдали от силовых</a:t>
            </a:r>
          </a:p>
        </p:txBody>
      </p:sp>
      <p:sp>
        <p:nvSpPr>
          <p:cNvPr id="1082" name="Text 4"/>
          <p:cNvSpPr txBox="1"/>
          <p:nvPr/>
        </p:nvSpPr>
        <p:spPr>
          <a:xfrm>
            <a:off x="1143000" y="4914741"/>
            <a:ext cx="7848600" cy="1349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41247">
              <a:lnSpc>
                <a:spcPct val="135000"/>
              </a:lnSpc>
              <a:defRPr sz="2300" spc="-91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Сигнальные и силовые кабели не должны идти параллельно ближе 30 см. Если пересекаются — строго под 90°.</a:t>
            </a:r>
          </a:p>
        </p:txBody>
      </p:sp>
      <p:sp>
        <p:nvSpPr>
          <p:cNvPr id="1083" name="Text 5"/>
          <p:cNvSpPr txBox="1"/>
          <p:nvPr/>
        </p:nvSpPr>
        <p:spPr>
          <a:xfrm>
            <a:off x="1143000" y="6454933"/>
            <a:ext cx="7848600" cy="912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96111">
              <a:lnSpc>
                <a:spcPct val="135000"/>
              </a:lnSpc>
              <a:defRPr sz="2450" spc="-97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Крепите кабели на стяжки каждые 40—60 см. Избегайте петель — они работают как антенны.</a:t>
            </a:r>
          </a:p>
        </p:txBody>
      </p:sp>
      <p:sp>
        <p:nvSpPr>
          <p:cNvPr id="1084" name="Shape 6"/>
          <p:cNvSpPr/>
          <p:nvPr/>
        </p:nvSpPr>
        <p:spPr>
          <a:xfrm>
            <a:off x="9525000" y="2947035"/>
            <a:ext cx="7620000" cy="6350001"/>
          </a:xfrm>
          <a:prstGeom prst="rect">
            <a:avLst/>
          </a:prstGeom>
          <a:solidFill>
            <a:srgbClr val="F4F2EE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08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4573" y="3273107"/>
            <a:ext cx="6840856" cy="5697856"/>
          </a:xfrm>
          <a:prstGeom prst="rect">
            <a:avLst/>
          </a:prstGeom>
          <a:ln w="12700">
            <a:miter lim="400000"/>
          </a:ln>
        </p:spPr>
      </p:pic>
      <p:sp>
        <p:nvSpPr>
          <p:cNvPr id="1086" name="Text 7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5</a:t>
            </a:r>
            <a:r>
              <a:rPr dirty="0"/>
              <a:t> / 100</a:t>
            </a:r>
          </a:p>
        </p:txBody>
      </p:sp>
      <p:sp>
        <p:nvSpPr>
          <p:cNvPr id="1087" name="Text 8"/>
          <p:cNvSpPr txBox="1"/>
          <p:nvPr/>
        </p:nvSpPr>
        <p:spPr>
          <a:xfrm>
            <a:off x="15378112" y="9672638"/>
            <a:ext cx="241458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§06 ПОДКЛЮЧЕНИЕ</a:t>
            </a:r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9" name="Text 0"/>
          <p:cNvSpPr txBox="1"/>
          <p:nvPr/>
        </p:nvSpPr>
        <p:spPr>
          <a:xfrm>
            <a:off x="1143000" y="5169217"/>
            <a:ext cx="667131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РАЗДЕЛ 07</a:t>
            </a:r>
          </a:p>
        </p:txBody>
      </p:sp>
      <p:sp>
        <p:nvSpPr>
          <p:cNvPr id="1090" name="Text 1"/>
          <p:cNvSpPr txBox="1"/>
          <p:nvPr/>
        </p:nvSpPr>
        <p:spPr>
          <a:xfrm>
            <a:off x="1143000" y="5707379"/>
            <a:ext cx="6671310" cy="347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40079">
              <a:lnSpc>
                <a:spcPct val="82000"/>
              </a:lnSpc>
              <a:defRPr sz="23100" spc="-133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07</a:t>
            </a:r>
          </a:p>
        </p:txBody>
      </p:sp>
      <p:sp>
        <p:nvSpPr>
          <p:cNvPr id="1091" name="Text 2"/>
          <p:cNvSpPr txBox="1"/>
          <p:nvPr/>
        </p:nvSpPr>
        <p:spPr>
          <a:xfrm>
            <a:off x="8381999" y="2559049"/>
            <a:ext cx="9025892" cy="758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04999"/>
              </a:lnSpc>
              <a:defRPr sz="4860" spc="-18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Настройка</a:t>
            </a:r>
          </a:p>
        </p:txBody>
      </p:sp>
      <p:sp>
        <p:nvSpPr>
          <p:cNvPr id="1092" name="Text 3"/>
          <p:cNvSpPr txBox="1"/>
          <p:nvPr/>
        </p:nvSpPr>
        <p:spPr>
          <a:xfrm>
            <a:off x="8382000" y="3583940"/>
            <a:ext cx="6867525" cy="1272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68680">
              <a:lnSpc>
                <a:spcPct val="135000"/>
              </a:lnSpc>
              <a:defRPr sz="2280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lang="ru-RU" dirty="0"/>
              <a:t>Семь</a:t>
            </a:r>
            <a:r>
              <a:rPr dirty="0"/>
              <a:t> </a:t>
            </a:r>
            <a:r>
              <a:rPr dirty="0" err="1"/>
              <a:t>страниц</a:t>
            </a:r>
            <a:r>
              <a:rPr dirty="0"/>
              <a:t> о </a:t>
            </a:r>
            <a:r>
              <a:rPr dirty="0" err="1"/>
              <a:t>том</a:t>
            </a:r>
            <a:r>
              <a:rPr dirty="0"/>
              <a:t>,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настроить</a:t>
            </a:r>
            <a:r>
              <a:rPr dirty="0"/>
              <a:t> </a:t>
            </a:r>
            <a:r>
              <a:rPr dirty="0" err="1"/>
              <a:t>кроссовер</a:t>
            </a:r>
            <a:r>
              <a:rPr dirty="0"/>
              <a:t>, </a:t>
            </a:r>
            <a:r>
              <a:rPr dirty="0" err="1"/>
              <a:t>фазу</a:t>
            </a:r>
            <a:r>
              <a:rPr dirty="0"/>
              <a:t>, </a:t>
            </a:r>
            <a:r>
              <a:rPr dirty="0" err="1"/>
              <a:t>уровень</a:t>
            </a:r>
            <a:r>
              <a:rPr dirty="0"/>
              <a:t>, EQ и </a:t>
            </a:r>
            <a:r>
              <a:rPr dirty="0" err="1"/>
              <a:t>пресеты</a:t>
            </a:r>
            <a:r>
              <a:rPr dirty="0"/>
              <a:t> </a:t>
            </a:r>
            <a:r>
              <a:rPr dirty="0" err="1"/>
              <a:t>под</a:t>
            </a:r>
            <a:r>
              <a:rPr dirty="0"/>
              <a:t> </a:t>
            </a:r>
            <a:r>
              <a:rPr dirty="0" err="1"/>
              <a:t>ваши</a:t>
            </a:r>
            <a:r>
              <a:rPr dirty="0"/>
              <a:t> </a:t>
            </a:r>
            <a:r>
              <a:rPr dirty="0" err="1"/>
              <a:t>сценарии</a:t>
            </a:r>
            <a:r>
              <a:rPr dirty="0"/>
              <a:t>.</a:t>
            </a:r>
          </a:p>
        </p:txBody>
      </p:sp>
      <p:sp>
        <p:nvSpPr>
          <p:cNvPr id="1093" name="Shape 4"/>
          <p:cNvSpPr/>
          <p:nvPr/>
        </p:nvSpPr>
        <p:spPr>
          <a:xfrm>
            <a:off x="8382000" y="508349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4" name="Text 5"/>
          <p:cNvSpPr txBox="1"/>
          <p:nvPr/>
        </p:nvSpPr>
        <p:spPr>
          <a:xfrm>
            <a:off x="8382000" y="525525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7</a:t>
            </a:r>
            <a:endParaRPr dirty="0"/>
          </a:p>
        </p:txBody>
      </p:sp>
      <p:sp>
        <p:nvSpPr>
          <p:cNvPr id="1095" name="Text 6"/>
          <p:cNvSpPr txBox="1"/>
          <p:nvPr/>
        </p:nvSpPr>
        <p:spPr>
          <a:xfrm>
            <a:off x="9239249" y="522795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Кроссовер под сателлиты</a:t>
            </a:r>
          </a:p>
        </p:txBody>
      </p:sp>
      <p:sp>
        <p:nvSpPr>
          <p:cNvPr id="1096" name="Shape 7"/>
          <p:cNvSpPr/>
          <p:nvPr/>
        </p:nvSpPr>
        <p:spPr>
          <a:xfrm>
            <a:off x="8382000" y="566197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097" name="Text 8"/>
          <p:cNvSpPr txBox="1"/>
          <p:nvPr/>
        </p:nvSpPr>
        <p:spPr>
          <a:xfrm>
            <a:off x="8382000" y="5833745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8</a:t>
            </a:r>
            <a:endParaRPr dirty="0"/>
          </a:p>
        </p:txBody>
      </p:sp>
      <p:sp>
        <p:nvSpPr>
          <p:cNvPr id="1098" name="Text 9"/>
          <p:cNvSpPr txBox="1"/>
          <p:nvPr/>
        </p:nvSpPr>
        <p:spPr>
          <a:xfrm>
            <a:off x="9239249" y="580644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Фаза 0° или 180°</a:t>
            </a:r>
          </a:p>
        </p:txBody>
      </p:sp>
      <p:sp>
        <p:nvSpPr>
          <p:cNvPr id="1099" name="Shape 10"/>
          <p:cNvSpPr/>
          <p:nvPr/>
        </p:nvSpPr>
        <p:spPr>
          <a:xfrm>
            <a:off x="8382000" y="624046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0" name="Text 11"/>
          <p:cNvSpPr txBox="1"/>
          <p:nvPr/>
        </p:nvSpPr>
        <p:spPr>
          <a:xfrm>
            <a:off x="8382000" y="641222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</a:t>
            </a:r>
            <a:r>
              <a:rPr lang="ru-RU" dirty="0"/>
              <a:t>49</a:t>
            </a:r>
            <a:endParaRPr dirty="0"/>
          </a:p>
        </p:txBody>
      </p:sp>
      <p:sp>
        <p:nvSpPr>
          <p:cNvPr id="1101" name="Text 12"/>
          <p:cNvSpPr txBox="1"/>
          <p:nvPr/>
        </p:nvSpPr>
        <p:spPr>
          <a:xfrm>
            <a:off x="9239249" y="6384924"/>
            <a:ext cx="6180775" cy="340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Уровень относительно пары</a:t>
            </a:r>
          </a:p>
        </p:txBody>
      </p:sp>
      <p:sp>
        <p:nvSpPr>
          <p:cNvPr id="1102" name="Shape 13"/>
          <p:cNvSpPr/>
          <p:nvPr/>
        </p:nvSpPr>
        <p:spPr>
          <a:xfrm>
            <a:off x="8382000" y="681894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3" name="Text 14"/>
          <p:cNvSpPr txBox="1"/>
          <p:nvPr/>
        </p:nvSpPr>
        <p:spPr>
          <a:xfrm>
            <a:off x="8382000" y="6990715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0</a:t>
            </a:r>
            <a:endParaRPr dirty="0"/>
          </a:p>
        </p:txBody>
      </p:sp>
      <p:sp>
        <p:nvSpPr>
          <p:cNvPr id="1104" name="Text 15"/>
          <p:cNvSpPr txBox="1"/>
          <p:nvPr/>
        </p:nvSpPr>
        <p:spPr>
          <a:xfrm>
            <a:off x="9239249" y="6963409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Polarity в сложных комнатах</a:t>
            </a:r>
          </a:p>
        </p:txBody>
      </p:sp>
      <p:sp>
        <p:nvSpPr>
          <p:cNvPr id="1105" name="Shape 16"/>
          <p:cNvSpPr/>
          <p:nvPr/>
        </p:nvSpPr>
        <p:spPr>
          <a:xfrm>
            <a:off x="8382000" y="739743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6" name="Text 17"/>
          <p:cNvSpPr txBox="1"/>
          <p:nvPr/>
        </p:nvSpPr>
        <p:spPr>
          <a:xfrm>
            <a:off x="8382000" y="7569199"/>
            <a:ext cx="93345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1</a:t>
            </a:r>
            <a:endParaRPr dirty="0"/>
          </a:p>
        </p:txBody>
      </p:sp>
      <p:sp>
        <p:nvSpPr>
          <p:cNvPr id="1107" name="Text 18"/>
          <p:cNvSpPr txBox="1"/>
          <p:nvPr/>
        </p:nvSpPr>
        <p:spPr>
          <a:xfrm>
            <a:off x="9239249" y="754189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EQ: провалы и пики</a:t>
            </a:r>
          </a:p>
        </p:txBody>
      </p:sp>
      <p:sp>
        <p:nvSpPr>
          <p:cNvPr id="1108" name="Shape 19"/>
          <p:cNvSpPr/>
          <p:nvPr/>
        </p:nvSpPr>
        <p:spPr>
          <a:xfrm>
            <a:off x="8382000" y="797591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09" name="Text 20"/>
          <p:cNvSpPr txBox="1"/>
          <p:nvPr/>
        </p:nvSpPr>
        <p:spPr>
          <a:xfrm>
            <a:off x="8382000" y="8147684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2</a:t>
            </a:r>
            <a:endParaRPr dirty="0"/>
          </a:p>
        </p:txBody>
      </p:sp>
      <p:sp>
        <p:nvSpPr>
          <p:cNvPr id="1110" name="Text 21"/>
          <p:cNvSpPr txBox="1"/>
          <p:nvPr/>
        </p:nvSpPr>
        <p:spPr>
          <a:xfrm>
            <a:off x="9239249" y="812038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Night Mode</a:t>
            </a:r>
          </a:p>
        </p:txBody>
      </p:sp>
      <p:sp>
        <p:nvSpPr>
          <p:cNvPr id="1111" name="Shape 22"/>
          <p:cNvSpPr/>
          <p:nvPr/>
        </p:nvSpPr>
        <p:spPr>
          <a:xfrm>
            <a:off x="8382000" y="913288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2" name="Shape 23"/>
          <p:cNvSpPr/>
          <p:nvPr/>
        </p:nvSpPr>
        <p:spPr>
          <a:xfrm>
            <a:off x="8382000" y="855440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13" name="Text 24"/>
          <p:cNvSpPr txBox="1"/>
          <p:nvPr/>
        </p:nvSpPr>
        <p:spPr>
          <a:xfrm>
            <a:off x="8382000" y="872616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3</a:t>
            </a:r>
            <a:endParaRPr dirty="0"/>
          </a:p>
        </p:txBody>
      </p:sp>
      <p:sp>
        <p:nvSpPr>
          <p:cNvPr id="1114" name="Text 25"/>
          <p:cNvSpPr txBox="1"/>
          <p:nvPr/>
        </p:nvSpPr>
        <p:spPr>
          <a:xfrm>
            <a:off x="9239249" y="8698865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Пресеты под контент</a:t>
            </a:r>
          </a:p>
        </p:txBody>
      </p:sp>
      <p:sp>
        <p:nvSpPr>
          <p:cNvPr id="1115" name="Text 26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6</a:t>
            </a:r>
            <a:r>
              <a:rPr dirty="0"/>
              <a:t> / 100</a:t>
            </a:r>
          </a:p>
        </p:txBody>
      </p:sp>
      <p:sp>
        <p:nvSpPr>
          <p:cNvPr id="1116" name="Text 27"/>
          <p:cNvSpPr txBox="1"/>
          <p:nvPr/>
        </p:nvSpPr>
        <p:spPr>
          <a:xfrm>
            <a:off x="15689898" y="9672638"/>
            <a:ext cx="2102803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§07 НАСТРОЙКА</a:t>
            </a:r>
          </a:p>
        </p:txBody>
      </p:sp>
    </p:spTree>
  </p:cSld>
  <p:clrMapOvr>
    <a:masterClrMapping/>
  </p:clrMapOvr>
  <p:transition spd="med"/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8" name="Text 0"/>
          <p:cNvSpPr txBox="1"/>
          <p:nvPr/>
        </p:nvSpPr>
        <p:spPr>
          <a:xfrm>
            <a:off x="571499" y="380999"/>
            <a:ext cx="315513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048 §07 НАСТРОЙКА</a:t>
            </a:r>
          </a:p>
        </p:txBody>
      </p:sp>
      <p:sp>
        <p:nvSpPr>
          <p:cNvPr id="1119" name="Text 1"/>
          <p:cNvSpPr txBox="1"/>
          <p:nvPr/>
        </p:nvSpPr>
        <p:spPr>
          <a:xfrm>
            <a:off x="16313466" y="380999"/>
            <a:ext cx="147923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41247">
              <a:defRPr sz="1656" spc="91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КРОССОВЕР</a:t>
            </a:r>
          </a:p>
        </p:txBody>
      </p:sp>
      <p:sp>
        <p:nvSpPr>
          <p:cNvPr id="1120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КРОССОВЕР</a:t>
            </a:r>
          </a:p>
        </p:txBody>
      </p:sp>
      <p:sp>
        <p:nvSpPr>
          <p:cNvPr id="1121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Установите кроссовер под сателлиты</a:t>
            </a:r>
          </a:p>
        </p:txBody>
      </p:sp>
      <p:sp>
        <p:nvSpPr>
          <p:cNvPr id="1122" name="Text 4"/>
          <p:cNvSpPr txBox="1"/>
          <p:nvPr/>
        </p:nvSpPr>
        <p:spPr>
          <a:xfrm>
            <a:off x="1143000" y="3842067"/>
            <a:ext cx="7848600" cy="912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96111">
              <a:lnSpc>
                <a:spcPct val="135000"/>
              </a:lnSpc>
              <a:defRPr sz="2450" spc="-97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Ориентир — частота среза +10 Гц от –3 дБ ваших сателлитов.</a:t>
            </a:r>
          </a:p>
        </p:txBody>
      </p:sp>
      <p:sp>
        <p:nvSpPr>
          <p:cNvPr id="1123" name="Shape 5"/>
          <p:cNvSpPr/>
          <p:nvPr/>
        </p:nvSpPr>
        <p:spPr>
          <a:xfrm>
            <a:off x="1143000" y="502443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24" name="Text 6"/>
          <p:cNvSpPr txBox="1"/>
          <p:nvPr/>
        </p:nvSpPr>
        <p:spPr>
          <a:xfrm>
            <a:off x="1143000" y="5197474"/>
            <a:ext cx="3296412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BOOK-SHELF 5″</a:t>
            </a:r>
          </a:p>
        </p:txBody>
      </p:sp>
      <p:sp>
        <p:nvSpPr>
          <p:cNvPr id="1125" name="Text 7"/>
          <p:cNvSpPr txBox="1"/>
          <p:nvPr/>
        </p:nvSpPr>
        <p:spPr>
          <a:xfrm>
            <a:off x="4343399" y="5197474"/>
            <a:ext cx="4552190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80—100 Гц</a:t>
            </a:r>
          </a:p>
        </p:txBody>
      </p:sp>
      <p:sp>
        <p:nvSpPr>
          <p:cNvPr id="1126" name="Shape 8"/>
          <p:cNvSpPr/>
          <p:nvPr/>
        </p:nvSpPr>
        <p:spPr>
          <a:xfrm>
            <a:off x="1143000" y="569864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27" name="Text 9"/>
          <p:cNvSpPr txBox="1"/>
          <p:nvPr/>
        </p:nvSpPr>
        <p:spPr>
          <a:xfrm>
            <a:off x="1143000" y="5871686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СТОЙКА 6.5″</a:t>
            </a:r>
          </a:p>
        </p:txBody>
      </p:sp>
      <p:sp>
        <p:nvSpPr>
          <p:cNvPr id="1128" name="Text 10"/>
          <p:cNvSpPr txBox="1"/>
          <p:nvPr/>
        </p:nvSpPr>
        <p:spPr>
          <a:xfrm>
            <a:off x="4343399" y="5871686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60—80 Гц</a:t>
            </a:r>
          </a:p>
        </p:txBody>
      </p:sp>
      <p:sp>
        <p:nvSpPr>
          <p:cNvPr id="1129" name="Shape 11"/>
          <p:cNvSpPr/>
          <p:nvPr/>
        </p:nvSpPr>
        <p:spPr>
          <a:xfrm>
            <a:off x="1143000" y="6372860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0" name="Text 12"/>
          <p:cNvSpPr txBox="1"/>
          <p:nvPr/>
        </p:nvSpPr>
        <p:spPr>
          <a:xfrm>
            <a:off x="1143000" y="6545898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FLOOR-STANDING</a:t>
            </a:r>
          </a:p>
        </p:txBody>
      </p:sp>
      <p:sp>
        <p:nvSpPr>
          <p:cNvPr id="1131" name="Text 13"/>
          <p:cNvSpPr txBox="1"/>
          <p:nvPr/>
        </p:nvSpPr>
        <p:spPr>
          <a:xfrm>
            <a:off x="4343399" y="6545898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40—60 Гц</a:t>
            </a:r>
          </a:p>
        </p:txBody>
      </p:sp>
      <p:sp>
        <p:nvSpPr>
          <p:cNvPr id="1132" name="Shape 14"/>
          <p:cNvSpPr/>
          <p:nvPr/>
        </p:nvSpPr>
        <p:spPr>
          <a:xfrm>
            <a:off x="1143000" y="704707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3" name="Text 15"/>
          <p:cNvSpPr txBox="1"/>
          <p:nvPr/>
        </p:nvSpPr>
        <p:spPr>
          <a:xfrm>
            <a:off x="1143000" y="7220108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СТУДИЙНЫЙ 8″</a:t>
            </a:r>
          </a:p>
        </p:txBody>
      </p:sp>
      <p:sp>
        <p:nvSpPr>
          <p:cNvPr id="1134" name="Text 16"/>
          <p:cNvSpPr txBox="1"/>
          <p:nvPr/>
        </p:nvSpPr>
        <p:spPr>
          <a:xfrm>
            <a:off x="4343399" y="7220108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60—80 Гц</a:t>
            </a:r>
          </a:p>
        </p:txBody>
      </p:sp>
      <p:sp>
        <p:nvSpPr>
          <p:cNvPr id="1135" name="Shape 17"/>
          <p:cNvSpPr/>
          <p:nvPr/>
        </p:nvSpPr>
        <p:spPr>
          <a:xfrm>
            <a:off x="1143000" y="838596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6" name="Shape 18"/>
          <p:cNvSpPr/>
          <p:nvPr/>
        </p:nvSpPr>
        <p:spPr>
          <a:xfrm>
            <a:off x="1143000" y="7721282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37" name="Text 19"/>
          <p:cNvSpPr txBox="1"/>
          <p:nvPr/>
        </p:nvSpPr>
        <p:spPr>
          <a:xfrm>
            <a:off x="1143000" y="7894319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CAR MID-BASS</a:t>
            </a:r>
          </a:p>
        </p:txBody>
      </p:sp>
      <p:sp>
        <p:nvSpPr>
          <p:cNvPr id="1138" name="Text 20"/>
          <p:cNvSpPr txBox="1"/>
          <p:nvPr/>
        </p:nvSpPr>
        <p:spPr>
          <a:xfrm>
            <a:off x="4343399" y="7894319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80—100 Гц</a:t>
            </a:r>
          </a:p>
        </p:txBody>
      </p:sp>
      <p:sp>
        <p:nvSpPr>
          <p:cNvPr id="1139" name="Shape 21"/>
          <p:cNvSpPr/>
          <p:nvPr/>
        </p:nvSpPr>
        <p:spPr>
          <a:xfrm>
            <a:off x="9525000" y="2947035"/>
            <a:ext cx="7620000" cy="63500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4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4573" y="3273107"/>
            <a:ext cx="6840856" cy="5697856"/>
          </a:xfrm>
          <a:prstGeom prst="rect">
            <a:avLst/>
          </a:prstGeom>
          <a:ln w="12700">
            <a:miter lim="400000"/>
          </a:ln>
        </p:spPr>
      </p:pic>
      <p:sp>
        <p:nvSpPr>
          <p:cNvPr id="1141" name="Text 22"/>
          <p:cNvSpPr txBox="1"/>
          <p:nvPr/>
        </p:nvSpPr>
        <p:spPr>
          <a:xfrm>
            <a:off x="9763125" y="3147060"/>
            <a:ext cx="2729678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LPF / HPF AT 80HZ</a:t>
            </a:r>
          </a:p>
        </p:txBody>
      </p:sp>
      <p:sp>
        <p:nvSpPr>
          <p:cNvPr id="1142" name="Text 23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7</a:t>
            </a:r>
            <a:r>
              <a:rPr dirty="0"/>
              <a:t> / 100</a:t>
            </a:r>
          </a:p>
        </p:txBody>
      </p:sp>
      <p:sp>
        <p:nvSpPr>
          <p:cNvPr id="1143" name="Text 24"/>
          <p:cNvSpPr txBox="1"/>
          <p:nvPr/>
        </p:nvSpPr>
        <p:spPr>
          <a:xfrm>
            <a:off x="15689898" y="9672638"/>
            <a:ext cx="2102803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§07 НАСТРОЙКА</a:t>
            </a:r>
          </a:p>
        </p:txBody>
      </p:sp>
    </p:spTree>
  </p:cSld>
  <p:clrMapOvr>
    <a:masterClrMapping/>
  </p:clrMapOvr>
  <p:transition spd="med"/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Text 0"/>
          <p:cNvSpPr txBox="1"/>
          <p:nvPr/>
        </p:nvSpPr>
        <p:spPr>
          <a:xfrm>
            <a:off x="571499" y="380999"/>
            <a:ext cx="315513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049 §07 НАСТРОЙКА</a:t>
            </a:r>
          </a:p>
        </p:txBody>
      </p:sp>
      <p:sp>
        <p:nvSpPr>
          <p:cNvPr id="1146" name="Text 1"/>
          <p:cNvSpPr txBox="1"/>
          <p:nvPr/>
        </p:nvSpPr>
        <p:spPr>
          <a:xfrm>
            <a:off x="17092930" y="380999"/>
            <a:ext cx="69977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0391">
              <a:defRPr sz="1674" spc="93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ФАЗА</a:t>
            </a:r>
          </a:p>
        </p:txBody>
      </p:sp>
      <p:sp>
        <p:nvSpPr>
          <p:cNvPr id="1147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ФАЗА</a:t>
            </a:r>
          </a:p>
        </p:txBody>
      </p:sp>
      <p:sp>
        <p:nvSpPr>
          <p:cNvPr id="1148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Настройте фазу 0° или 180°</a:t>
            </a:r>
          </a:p>
        </p:txBody>
      </p:sp>
      <p:sp>
        <p:nvSpPr>
          <p:cNvPr id="1149" name="Text 4"/>
          <p:cNvSpPr txBox="1"/>
          <p:nvPr/>
        </p:nvSpPr>
        <p:spPr>
          <a:xfrm>
            <a:off x="1143000" y="5197633"/>
            <a:ext cx="7848600" cy="1349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68095">
              <a:lnSpc>
                <a:spcPct val="135000"/>
              </a:lnSpc>
              <a:defRPr sz="2100" spc="-84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Простой тест: играйте тон на частоте кроссовера (обычно 80 Гц). Переключайте фазу 0°↔180°. Позиция, где бас громче — правильная.</a:t>
            </a:r>
          </a:p>
        </p:txBody>
      </p:sp>
      <p:sp>
        <p:nvSpPr>
          <p:cNvPr id="1150" name="Text 5"/>
          <p:cNvSpPr txBox="1"/>
          <p:nvPr/>
        </p:nvSpPr>
        <p:spPr>
          <a:xfrm>
            <a:off x="1143000" y="6737825"/>
            <a:ext cx="7848600" cy="346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>
              <a:lnSpc>
                <a:spcPct val="135000"/>
              </a:lnSpc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РАСШИРЕННЫЙ РЕЖИМ: 0—180° С ШАГОМ 15°</a:t>
            </a:r>
          </a:p>
        </p:txBody>
      </p:sp>
      <p:sp>
        <p:nvSpPr>
          <p:cNvPr id="1151" name="Shape 6"/>
          <p:cNvSpPr/>
          <p:nvPr/>
        </p:nvSpPr>
        <p:spPr>
          <a:xfrm>
            <a:off x="9525000" y="3191192"/>
            <a:ext cx="7620000" cy="5861527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52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4573" y="3492817"/>
            <a:ext cx="6840856" cy="5258118"/>
          </a:xfrm>
          <a:prstGeom prst="rect">
            <a:avLst/>
          </a:prstGeom>
          <a:ln w="12700">
            <a:miter lim="400000"/>
          </a:ln>
        </p:spPr>
      </p:pic>
      <p:sp>
        <p:nvSpPr>
          <p:cNvPr id="1153" name="Text 7"/>
          <p:cNvSpPr txBox="1"/>
          <p:nvPr/>
        </p:nvSpPr>
        <p:spPr>
          <a:xfrm>
            <a:off x="9763124" y="3391217"/>
            <a:ext cx="225869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PHASE 0 VS 180</a:t>
            </a:r>
          </a:p>
        </p:txBody>
      </p:sp>
      <p:sp>
        <p:nvSpPr>
          <p:cNvPr id="1154" name="Text 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04</a:t>
            </a:r>
            <a:r>
              <a:rPr lang="ru-RU" dirty="0"/>
              <a:t>8</a:t>
            </a:r>
            <a:r>
              <a:rPr dirty="0"/>
              <a:t> / 100</a:t>
            </a:r>
          </a:p>
        </p:txBody>
      </p:sp>
      <p:sp>
        <p:nvSpPr>
          <p:cNvPr id="1155" name="Text 9"/>
          <p:cNvSpPr txBox="1"/>
          <p:nvPr/>
        </p:nvSpPr>
        <p:spPr>
          <a:xfrm>
            <a:off x="15689898" y="9672638"/>
            <a:ext cx="2102803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§07 НАСТРОЙКА</a:t>
            </a:r>
          </a:p>
        </p:txBody>
      </p:sp>
    </p:spTree>
  </p:cSld>
  <p:clrMapOvr>
    <a:masterClrMapping/>
  </p:clrMapOvr>
  <p:transition spd="med"/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" name="Text 0"/>
          <p:cNvSpPr txBox="1"/>
          <p:nvPr/>
        </p:nvSpPr>
        <p:spPr>
          <a:xfrm>
            <a:off x="571499" y="380999"/>
            <a:ext cx="315513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050 §07 НАСТРОЙКА</a:t>
            </a:r>
          </a:p>
        </p:txBody>
      </p:sp>
      <p:sp>
        <p:nvSpPr>
          <p:cNvPr id="1158" name="Text 1"/>
          <p:cNvSpPr txBox="1"/>
          <p:nvPr/>
        </p:nvSpPr>
        <p:spPr>
          <a:xfrm>
            <a:off x="16625253" y="380999"/>
            <a:ext cx="116744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defRPr sz="1692" spc="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УРОВЕНЬ</a:t>
            </a:r>
          </a:p>
        </p:txBody>
      </p:sp>
      <p:sp>
        <p:nvSpPr>
          <p:cNvPr id="1159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УРОВЕНЬ</a:t>
            </a:r>
          </a:p>
        </p:txBody>
      </p:sp>
      <p:sp>
        <p:nvSpPr>
          <p:cNvPr id="1160" name="Text 3"/>
          <p:cNvSpPr txBox="1"/>
          <p:nvPr/>
        </p:nvSpPr>
        <p:spPr>
          <a:xfrm>
            <a:off x="1143000" y="1490662"/>
            <a:ext cx="14716125" cy="1428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4010"/>
              </a:lnSpc>
              <a:defRPr sz="48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Отрегулируйте уровень относительно главной пары</a:t>
            </a:r>
          </a:p>
        </p:txBody>
      </p:sp>
      <p:sp>
        <p:nvSpPr>
          <p:cNvPr id="1161" name="Shape 4"/>
          <p:cNvSpPr/>
          <p:nvPr/>
        </p:nvSpPr>
        <p:spPr>
          <a:xfrm>
            <a:off x="1143000" y="3488690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62" name="Text 5"/>
          <p:cNvSpPr txBox="1"/>
          <p:nvPr/>
        </p:nvSpPr>
        <p:spPr>
          <a:xfrm>
            <a:off x="1143000" y="3771741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1163" name="Text 6"/>
          <p:cNvSpPr txBox="1"/>
          <p:nvPr/>
        </p:nvSpPr>
        <p:spPr>
          <a:xfrm>
            <a:off x="2286000" y="3709353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Воспроизведите pink noise −20 dBFS</a:t>
            </a:r>
          </a:p>
        </p:txBody>
      </p:sp>
      <p:sp>
        <p:nvSpPr>
          <p:cNvPr id="1164" name="Shape 7"/>
          <p:cNvSpPr/>
          <p:nvPr/>
        </p:nvSpPr>
        <p:spPr>
          <a:xfrm>
            <a:off x="1143000" y="4580254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65" name="Text 8"/>
          <p:cNvSpPr txBox="1"/>
          <p:nvPr/>
        </p:nvSpPr>
        <p:spPr>
          <a:xfrm>
            <a:off x="1143000" y="4863305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1166" name="Text 9"/>
          <p:cNvSpPr txBox="1"/>
          <p:nvPr/>
        </p:nvSpPr>
        <p:spPr>
          <a:xfrm>
            <a:off x="2286000" y="4800917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Измерьте SPL главной пары в точке прослушивания</a:t>
            </a:r>
          </a:p>
        </p:txBody>
      </p:sp>
      <p:sp>
        <p:nvSpPr>
          <p:cNvPr id="1167" name="Shape 10"/>
          <p:cNvSpPr/>
          <p:nvPr/>
        </p:nvSpPr>
        <p:spPr>
          <a:xfrm>
            <a:off x="1143000" y="5671819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68" name="Text 11"/>
          <p:cNvSpPr txBox="1"/>
          <p:nvPr/>
        </p:nvSpPr>
        <p:spPr>
          <a:xfrm>
            <a:off x="1143000" y="5954871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1169" name="Text 12"/>
          <p:cNvSpPr txBox="1"/>
          <p:nvPr/>
        </p:nvSpPr>
        <p:spPr>
          <a:xfrm>
            <a:off x="2286000" y="5892482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Выключите пару, включите саб — добейтесь того же SPL</a:t>
            </a:r>
          </a:p>
        </p:txBody>
      </p:sp>
      <p:sp>
        <p:nvSpPr>
          <p:cNvPr id="1170" name="Shape 13"/>
          <p:cNvSpPr/>
          <p:nvPr/>
        </p:nvSpPr>
        <p:spPr>
          <a:xfrm>
            <a:off x="1143000" y="6763385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1" name="Text 14"/>
          <p:cNvSpPr txBox="1"/>
          <p:nvPr/>
        </p:nvSpPr>
        <p:spPr>
          <a:xfrm>
            <a:off x="1143000" y="7046435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1172" name="Text 15"/>
          <p:cNvSpPr txBox="1"/>
          <p:nvPr/>
        </p:nvSpPr>
        <p:spPr>
          <a:xfrm>
            <a:off x="2286000" y="6984048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Для кино добавьте +3…+10 дБ (на вкус)</a:t>
            </a:r>
          </a:p>
        </p:txBody>
      </p:sp>
      <p:sp>
        <p:nvSpPr>
          <p:cNvPr id="1173" name="Shape 16"/>
          <p:cNvSpPr/>
          <p:nvPr/>
        </p:nvSpPr>
        <p:spPr>
          <a:xfrm>
            <a:off x="1143000" y="8679814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4" name="Shape 17"/>
          <p:cNvSpPr/>
          <p:nvPr/>
        </p:nvSpPr>
        <p:spPr>
          <a:xfrm>
            <a:off x="1143000" y="7854949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75" name="Text 18"/>
          <p:cNvSpPr txBox="1"/>
          <p:nvPr/>
        </p:nvSpPr>
        <p:spPr>
          <a:xfrm>
            <a:off x="1143000" y="8138000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</a:t>
            </a:r>
          </a:p>
        </p:txBody>
      </p:sp>
      <p:sp>
        <p:nvSpPr>
          <p:cNvPr id="1176" name="Text 19"/>
          <p:cNvSpPr txBox="1"/>
          <p:nvPr/>
        </p:nvSpPr>
        <p:spPr>
          <a:xfrm>
            <a:off x="2286000" y="8075611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Для музыки удерживайте саб на −3 дБ ниже пары</a:t>
            </a:r>
          </a:p>
        </p:txBody>
      </p:sp>
      <p:sp>
        <p:nvSpPr>
          <p:cNvPr id="1177" name="Text 20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</a:t>
            </a:r>
            <a:r>
              <a:rPr lang="ru-RU" dirty="0"/>
              <a:t>49</a:t>
            </a:r>
            <a:r>
              <a:rPr dirty="0"/>
              <a:t> / 100</a:t>
            </a:r>
          </a:p>
        </p:txBody>
      </p:sp>
      <p:sp>
        <p:nvSpPr>
          <p:cNvPr id="1178" name="Text 21"/>
          <p:cNvSpPr txBox="1"/>
          <p:nvPr/>
        </p:nvSpPr>
        <p:spPr>
          <a:xfrm>
            <a:off x="15689898" y="9672638"/>
            <a:ext cx="2102803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§07 НАСТРОЙКА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Text 0"/>
          <p:cNvSpPr txBox="1"/>
          <p:nvPr/>
        </p:nvSpPr>
        <p:spPr>
          <a:xfrm>
            <a:off x="571499" y="380999"/>
            <a:ext cx="315513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051 §07 НАСТРОЙКА</a:t>
            </a:r>
          </a:p>
        </p:txBody>
      </p:sp>
      <p:sp>
        <p:nvSpPr>
          <p:cNvPr id="1181" name="Text 1"/>
          <p:cNvSpPr txBox="1"/>
          <p:nvPr/>
        </p:nvSpPr>
        <p:spPr>
          <a:xfrm>
            <a:off x="16469360" y="380999"/>
            <a:ext cx="132334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POLARITY</a:t>
            </a:r>
          </a:p>
        </p:txBody>
      </p:sp>
      <p:sp>
        <p:nvSpPr>
          <p:cNvPr id="1182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СЛОЖНЫЕ КОМНАТЫ</a:t>
            </a:r>
          </a:p>
        </p:txBody>
      </p:sp>
      <p:sp>
        <p:nvSpPr>
          <p:cNvPr id="1183" name="Text 3"/>
          <p:cNvSpPr txBox="1"/>
          <p:nvPr/>
        </p:nvSpPr>
        <p:spPr>
          <a:xfrm>
            <a:off x="1143000" y="1490662"/>
            <a:ext cx="14716125" cy="1428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41247">
              <a:lnSpc>
                <a:spcPct val="114010"/>
              </a:lnSpc>
              <a:defRPr sz="4416" spc="-92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Используйте переключатель polarity в сложных комнатах</a:t>
            </a:r>
          </a:p>
        </p:txBody>
      </p:sp>
      <p:sp>
        <p:nvSpPr>
          <p:cNvPr id="1184" name="Text 4"/>
          <p:cNvSpPr txBox="1"/>
          <p:nvPr/>
        </p:nvSpPr>
        <p:spPr>
          <a:xfrm>
            <a:off x="1143000" y="5734684"/>
            <a:ext cx="7848600" cy="1786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22959">
              <a:lnSpc>
                <a:spcPct val="135000"/>
              </a:lnSpc>
              <a:defRPr sz="2250" spc="-9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Polarity и phase — разные вещи. Polarity — мгновенная инверсия (+/−), phase — задержка. В помещениях с сильными модами иногда polarity 180° даёт более ровный отклик, чем 0°.</a:t>
            </a:r>
          </a:p>
        </p:txBody>
      </p:sp>
      <p:sp>
        <p:nvSpPr>
          <p:cNvPr id="1185" name="Text 5"/>
          <p:cNvSpPr txBox="1"/>
          <p:nvPr/>
        </p:nvSpPr>
        <p:spPr>
          <a:xfrm>
            <a:off x="1143000" y="7712074"/>
            <a:ext cx="7848600" cy="34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>
              <a:lnSpc>
                <a:spcPct val="135000"/>
              </a:lnSpc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ПЕРЕКЛЮЧАТЕЛЬ: ЗАДНЯЯ ПАНЕЛЬ, NORM / INV</a:t>
            </a:r>
          </a:p>
        </p:txBody>
      </p:sp>
      <p:sp>
        <p:nvSpPr>
          <p:cNvPr id="1186" name="Shape 6"/>
          <p:cNvSpPr/>
          <p:nvPr/>
        </p:nvSpPr>
        <p:spPr>
          <a:xfrm>
            <a:off x="9525000" y="3414077"/>
            <a:ext cx="7620000" cy="6927217"/>
          </a:xfrm>
          <a:prstGeom prst="rect">
            <a:avLst/>
          </a:prstGeom>
          <a:solidFill>
            <a:srgbClr val="F4F2EE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187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643" y="4287044"/>
            <a:ext cx="5700714" cy="5181125"/>
          </a:xfrm>
          <a:prstGeom prst="rect">
            <a:avLst/>
          </a:prstGeom>
          <a:ln w="12700">
            <a:miter lim="400000"/>
          </a:ln>
        </p:spPr>
      </p:pic>
      <p:sp>
        <p:nvSpPr>
          <p:cNvPr id="1188" name="Text 7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0</a:t>
            </a:r>
            <a:r>
              <a:rPr dirty="0"/>
              <a:t> / 100</a:t>
            </a:r>
          </a:p>
        </p:txBody>
      </p:sp>
      <p:sp>
        <p:nvSpPr>
          <p:cNvPr id="1189" name="Text 8"/>
          <p:cNvSpPr txBox="1"/>
          <p:nvPr/>
        </p:nvSpPr>
        <p:spPr>
          <a:xfrm>
            <a:off x="15689898" y="9672638"/>
            <a:ext cx="2102803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§07 НАСТРОЙКА</a:t>
            </a:r>
          </a:p>
        </p:txBody>
      </p:sp>
    </p:spTree>
  </p:cSld>
  <p:clrMapOvr>
    <a:masterClrMapping/>
  </p:clrMapOvr>
  <p:transition spd="med"/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1" name="Text 0"/>
          <p:cNvSpPr txBox="1"/>
          <p:nvPr/>
        </p:nvSpPr>
        <p:spPr>
          <a:xfrm>
            <a:off x="571499" y="380999"/>
            <a:ext cx="315513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052 §07 НАСТРОЙКА</a:t>
            </a:r>
          </a:p>
        </p:txBody>
      </p:sp>
      <p:sp>
        <p:nvSpPr>
          <p:cNvPr id="1192" name="Text 1"/>
          <p:cNvSpPr txBox="1"/>
          <p:nvPr/>
        </p:nvSpPr>
        <p:spPr>
          <a:xfrm>
            <a:off x="17248823" y="380999"/>
            <a:ext cx="5438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PEQ</a:t>
            </a:r>
          </a:p>
        </p:txBody>
      </p:sp>
      <p:sp>
        <p:nvSpPr>
          <p:cNvPr id="1193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ПАРАМЕТРИЧЕСКИЙ EQ</a:t>
            </a:r>
          </a:p>
        </p:txBody>
      </p:sp>
      <p:sp>
        <p:nvSpPr>
          <p:cNvPr id="1194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Настройте EQ для провалов и пиков</a:t>
            </a:r>
          </a:p>
        </p:txBody>
      </p:sp>
      <p:sp>
        <p:nvSpPr>
          <p:cNvPr id="1195" name="Text 4"/>
          <p:cNvSpPr txBox="1"/>
          <p:nvPr/>
        </p:nvSpPr>
        <p:spPr>
          <a:xfrm>
            <a:off x="1143000" y="3955891"/>
            <a:ext cx="7848600" cy="1359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841247">
              <a:lnSpc>
                <a:spcPct val="135000"/>
              </a:lnSpc>
              <a:defRPr sz="2300" spc="-91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Правило: </a:t>
            </a:r>
            <a:r>
              <a:rPr b="1"/>
              <a:t>сглаживайте пики, не поднимайте провалы </a:t>
            </a:r>
            <a:r>
              <a:t>. Провалы часто вызваны cancellation — EQ не поможет, нужно переставить саб.</a:t>
            </a:r>
          </a:p>
        </p:txBody>
      </p:sp>
      <p:sp>
        <p:nvSpPr>
          <p:cNvPr id="1196" name="Shape 5"/>
          <p:cNvSpPr/>
          <p:nvPr/>
        </p:nvSpPr>
        <p:spPr>
          <a:xfrm>
            <a:off x="1143000" y="5584983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197" name="Text 6"/>
          <p:cNvSpPr txBox="1"/>
          <p:nvPr/>
        </p:nvSpPr>
        <p:spPr>
          <a:xfrm>
            <a:off x="1143000" y="5758021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ПОЛОСЫ</a:t>
            </a:r>
          </a:p>
        </p:txBody>
      </p:sp>
      <p:sp>
        <p:nvSpPr>
          <p:cNvPr id="1198" name="Text 7"/>
          <p:cNvSpPr txBox="1"/>
          <p:nvPr/>
        </p:nvSpPr>
        <p:spPr>
          <a:xfrm>
            <a:off x="4343399" y="5758021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10 × PEQ</a:t>
            </a:r>
          </a:p>
        </p:txBody>
      </p:sp>
      <p:sp>
        <p:nvSpPr>
          <p:cNvPr id="1199" name="Shape 8"/>
          <p:cNvSpPr/>
          <p:nvPr/>
        </p:nvSpPr>
        <p:spPr>
          <a:xfrm>
            <a:off x="1143000" y="625919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0" name="Text 9"/>
          <p:cNvSpPr txBox="1"/>
          <p:nvPr/>
        </p:nvSpPr>
        <p:spPr>
          <a:xfrm>
            <a:off x="1143000" y="6432232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ДИАПАЗОН</a:t>
            </a:r>
          </a:p>
        </p:txBody>
      </p:sp>
      <p:sp>
        <p:nvSpPr>
          <p:cNvPr id="1201" name="Text 10"/>
          <p:cNvSpPr txBox="1"/>
          <p:nvPr/>
        </p:nvSpPr>
        <p:spPr>
          <a:xfrm>
            <a:off x="4343399" y="6432232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15—300 Гц</a:t>
            </a:r>
          </a:p>
        </p:txBody>
      </p:sp>
      <p:sp>
        <p:nvSpPr>
          <p:cNvPr id="1202" name="Shape 11"/>
          <p:cNvSpPr/>
          <p:nvPr/>
        </p:nvSpPr>
        <p:spPr>
          <a:xfrm>
            <a:off x="1143000" y="693340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3" name="Text 12"/>
          <p:cNvSpPr txBox="1"/>
          <p:nvPr/>
        </p:nvSpPr>
        <p:spPr>
          <a:xfrm>
            <a:off x="1143000" y="7106443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УСИЛЕНИЕ</a:t>
            </a:r>
          </a:p>
        </p:txBody>
      </p:sp>
      <p:sp>
        <p:nvSpPr>
          <p:cNvPr id="1204" name="Text 13"/>
          <p:cNvSpPr txBox="1"/>
          <p:nvPr/>
        </p:nvSpPr>
        <p:spPr>
          <a:xfrm>
            <a:off x="4343399" y="7106443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−24 … +6 дБ</a:t>
            </a:r>
          </a:p>
        </p:txBody>
      </p:sp>
      <p:sp>
        <p:nvSpPr>
          <p:cNvPr id="1205" name="Shape 14"/>
          <p:cNvSpPr/>
          <p:nvPr/>
        </p:nvSpPr>
        <p:spPr>
          <a:xfrm>
            <a:off x="1143000" y="8272303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6" name="Shape 15"/>
          <p:cNvSpPr/>
          <p:nvPr/>
        </p:nvSpPr>
        <p:spPr>
          <a:xfrm>
            <a:off x="1143000" y="760761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07" name="Text 16"/>
          <p:cNvSpPr txBox="1"/>
          <p:nvPr/>
        </p:nvSpPr>
        <p:spPr>
          <a:xfrm>
            <a:off x="1143000" y="7780655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ДОБРОТНОСТЬ Q</a:t>
            </a:r>
          </a:p>
        </p:txBody>
      </p:sp>
      <p:sp>
        <p:nvSpPr>
          <p:cNvPr id="1208" name="Text 17"/>
          <p:cNvSpPr txBox="1"/>
          <p:nvPr/>
        </p:nvSpPr>
        <p:spPr>
          <a:xfrm>
            <a:off x="4343399" y="7780655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0.1 — 10.0</a:t>
            </a:r>
          </a:p>
        </p:txBody>
      </p:sp>
      <p:sp>
        <p:nvSpPr>
          <p:cNvPr id="1209" name="Shape 18"/>
          <p:cNvSpPr/>
          <p:nvPr/>
        </p:nvSpPr>
        <p:spPr>
          <a:xfrm>
            <a:off x="9525000" y="2947035"/>
            <a:ext cx="7620000" cy="63500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21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4573" y="3273107"/>
            <a:ext cx="6840856" cy="5697856"/>
          </a:xfrm>
          <a:prstGeom prst="rect">
            <a:avLst/>
          </a:prstGeom>
          <a:ln w="12700">
            <a:miter lim="400000"/>
          </a:ln>
        </p:spPr>
      </p:pic>
      <p:sp>
        <p:nvSpPr>
          <p:cNvPr id="1211" name="Text 19"/>
          <p:cNvSpPr txBox="1"/>
          <p:nvPr/>
        </p:nvSpPr>
        <p:spPr>
          <a:xfrm>
            <a:off x="9763124" y="3147060"/>
            <a:ext cx="2102804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PRE / POST EQ</a:t>
            </a:r>
          </a:p>
        </p:txBody>
      </p:sp>
      <p:sp>
        <p:nvSpPr>
          <p:cNvPr id="1212" name="Text 20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1</a:t>
            </a:r>
            <a:r>
              <a:rPr dirty="0"/>
              <a:t> / 100</a:t>
            </a:r>
          </a:p>
        </p:txBody>
      </p:sp>
      <p:sp>
        <p:nvSpPr>
          <p:cNvPr id="1213" name="Text 21"/>
          <p:cNvSpPr txBox="1"/>
          <p:nvPr/>
        </p:nvSpPr>
        <p:spPr>
          <a:xfrm>
            <a:off x="15689898" y="9672638"/>
            <a:ext cx="2102803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§07 НАСТРОЙКА</a:t>
            </a:r>
          </a:p>
        </p:txBody>
      </p:sp>
    </p:spTree>
  </p:cSld>
  <p:clrMapOvr>
    <a:masterClrMapping/>
  </p:clrMapOvr>
  <p:transition spd="med"/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5" name="Text 0"/>
          <p:cNvSpPr txBox="1"/>
          <p:nvPr/>
        </p:nvSpPr>
        <p:spPr>
          <a:xfrm>
            <a:off x="571499" y="380999"/>
            <a:ext cx="315513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053 §07 НАСТРОЙКА</a:t>
            </a:r>
          </a:p>
        </p:txBody>
      </p:sp>
      <p:sp>
        <p:nvSpPr>
          <p:cNvPr id="1216" name="Text 1"/>
          <p:cNvSpPr txBox="1"/>
          <p:nvPr/>
        </p:nvSpPr>
        <p:spPr>
          <a:xfrm>
            <a:off x="16937037" y="380999"/>
            <a:ext cx="855663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NIGHT</a:t>
            </a:r>
          </a:p>
        </p:txBody>
      </p:sp>
      <p:sp>
        <p:nvSpPr>
          <p:cNvPr id="1217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60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NIGHT MODE</a:t>
            </a:r>
          </a:p>
        </p:txBody>
      </p:sp>
      <p:sp>
        <p:nvSpPr>
          <p:cNvPr id="1218" name="Text 3"/>
          <p:cNvSpPr txBox="1"/>
          <p:nvPr/>
        </p:nvSpPr>
        <p:spPr>
          <a:xfrm>
            <a:off x="1143000" y="1490663"/>
            <a:ext cx="14716125" cy="174815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77240">
              <a:lnSpc>
                <a:spcPct val="102008"/>
              </a:lnSpc>
              <a:defRPr sz="5610" spc="-17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Включите Night Mode для тихого прослушивания</a:t>
            </a:r>
          </a:p>
        </p:txBody>
      </p:sp>
      <p:sp>
        <p:nvSpPr>
          <p:cNvPr id="1219" name="Text 4"/>
          <p:cNvSpPr txBox="1"/>
          <p:nvPr/>
        </p:nvSpPr>
        <p:spPr>
          <a:xfrm>
            <a:off x="1143000" y="5140800"/>
            <a:ext cx="7848600" cy="14401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04087">
              <a:lnSpc>
                <a:spcPct val="92000"/>
              </a:lnSpc>
              <a:defRPr sz="9239" spc="-385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−12 дБ</a:t>
            </a:r>
          </a:p>
        </p:txBody>
      </p:sp>
      <p:sp>
        <p:nvSpPr>
          <p:cNvPr id="1220" name="Text 5"/>
          <p:cNvSpPr txBox="1"/>
          <p:nvPr/>
        </p:nvSpPr>
        <p:spPr>
          <a:xfrm>
            <a:off x="1143000" y="6657181"/>
            <a:ext cx="7848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ПОНИЖЕНИЕ НА 40 ГЦ</a:t>
            </a:r>
          </a:p>
        </p:txBody>
      </p:sp>
      <p:sp>
        <p:nvSpPr>
          <p:cNvPr id="1221" name="Text 6"/>
          <p:cNvSpPr txBox="1"/>
          <p:nvPr/>
        </p:nvSpPr>
        <p:spPr>
          <a:xfrm>
            <a:off x="1143000" y="7233443"/>
            <a:ext cx="7456169" cy="1786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z="2500" spc="-100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Компенсирует кривые равной громкости Fletcher-Munson на низких уровнях и автоматически ограничивает пики. Соседи не заметят.</a:t>
            </a:r>
          </a:p>
        </p:txBody>
      </p:sp>
      <p:sp>
        <p:nvSpPr>
          <p:cNvPr id="1222" name="Shape 7"/>
          <p:cNvSpPr/>
          <p:nvPr/>
        </p:nvSpPr>
        <p:spPr>
          <a:xfrm>
            <a:off x="9525000" y="3886517"/>
            <a:ext cx="7620000" cy="6350001"/>
          </a:xfrm>
          <a:prstGeom prst="rect">
            <a:avLst/>
          </a:prstGeom>
          <a:solidFill>
            <a:srgbClr val="141416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22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4573" y="4212590"/>
            <a:ext cx="6840856" cy="5697856"/>
          </a:xfrm>
          <a:prstGeom prst="rect">
            <a:avLst/>
          </a:prstGeom>
          <a:ln w="12700">
            <a:miter lim="400000"/>
          </a:ln>
        </p:spPr>
      </p:pic>
      <p:sp>
        <p:nvSpPr>
          <p:cNvPr id="1224" name="Text 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2</a:t>
            </a:r>
            <a:r>
              <a:rPr dirty="0"/>
              <a:t> / 100</a:t>
            </a:r>
          </a:p>
        </p:txBody>
      </p:sp>
      <p:sp>
        <p:nvSpPr>
          <p:cNvPr id="1225" name="Text 9"/>
          <p:cNvSpPr txBox="1"/>
          <p:nvPr/>
        </p:nvSpPr>
        <p:spPr>
          <a:xfrm>
            <a:off x="15689898" y="9672638"/>
            <a:ext cx="2102803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§07 НАСТРОЙКА</a:t>
            </a:r>
          </a:p>
        </p:txBody>
      </p:sp>
    </p:spTree>
  </p:cSld>
  <p:clrMapOvr>
    <a:masterClrMapping/>
  </p:clrMapOvr>
  <p:transition spd="med"/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7" name="Text 0"/>
          <p:cNvSpPr txBox="1"/>
          <p:nvPr/>
        </p:nvSpPr>
        <p:spPr>
          <a:xfrm>
            <a:off x="571499" y="380999"/>
            <a:ext cx="315513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054 §07 НАСТРОЙКА</a:t>
            </a:r>
          </a:p>
        </p:txBody>
      </p:sp>
      <p:sp>
        <p:nvSpPr>
          <p:cNvPr id="1228" name="Text 1"/>
          <p:cNvSpPr txBox="1"/>
          <p:nvPr/>
        </p:nvSpPr>
        <p:spPr>
          <a:xfrm>
            <a:off x="16625253" y="380999"/>
            <a:ext cx="116744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41247">
              <a:defRPr sz="1656" spc="91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ПРЕСЕТЫ</a:t>
            </a:r>
          </a:p>
        </p:txBody>
      </p:sp>
      <p:sp>
        <p:nvSpPr>
          <p:cNvPr id="1229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ПРЕСЕТЫ</a:t>
            </a:r>
          </a:p>
        </p:txBody>
      </p:sp>
      <p:sp>
        <p:nvSpPr>
          <p:cNvPr id="1230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Сохраните пресеты под контент</a:t>
            </a:r>
          </a:p>
        </p:txBody>
      </p:sp>
      <p:sp>
        <p:nvSpPr>
          <p:cNvPr id="1231" name="Text 4"/>
          <p:cNvSpPr txBox="1"/>
          <p:nvPr/>
        </p:nvSpPr>
        <p:spPr>
          <a:xfrm>
            <a:off x="1142999" y="2871470"/>
            <a:ext cx="376733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PRESET 01</a:t>
            </a:r>
          </a:p>
        </p:txBody>
      </p:sp>
      <p:sp>
        <p:nvSpPr>
          <p:cNvPr id="1232" name="Text 5"/>
          <p:cNvSpPr txBox="1"/>
          <p:nvPr/>
        </p:nvSpPr>
        <p:spPr>
          <a:xfrm>
            <a:off x="1142999" y="3333432"/>
            <a:ext cx="3767330" cy="501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27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Movie</a:t>
            </a:r>
          </a:p>
        </p:txBody>
      </p:sp>
      <p:sp>
        <p:nvSpPr>
          <p:cNvPr id="1233" name="Text 6"/>
          <p:cNvSpPr txBox="1"/>
          <p:nvPr/>
        </p:nvSpPr>
        <p:spPr>
          <a:xfrm>
            <a:off x="1142999" y="3986846"/>
            <a:ext cx="3767330" cy="758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z="2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+8 dB @ 30 Hz XO 80 Hz</a:t>
            </a:r>
          </a:p>
        </p:txBody>
      </p:sp>
      <p:sp>
        <p:nvSpPr>
          <p:cNvPr id="1234" name="Text 7"/>
          <p:cNvSpPr txBox="1"/>
          <p:nvPr/>
        </p:nvSpPr>
        <p:spPr>
          <a:xfrm>
            <a:off x="5257799" y="2871470"/>
            <a:ext cx="376733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PRESET 02</a:t>
            </a:r>
          </a:p>
        </p:txBody>
      </p:sp>
      <p:sp>
        <p:nvSpPr>
          <p:cNvPr id="1235" name="Text 8"/>
          <p:cNvSpPr txBox="1"/>
          <p:nvPr/>
        </p:nvSpPr>
        <p:spPr>
          <a:xfrm>
            <a:off x="5257799" y="3333432"/>
            <a:ext cx="3767330" cy="501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27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Music</a:t>
            </a:r>
          </a:p>
        </p:txBody>
      </p:sp>
      <p:sp>
        <p:nvSpPr>
          <p:cNvPr id="1236" name="Text 9"/>
          <p:cNvSpPr txBox="1"/>
          <p:nvPr/>
        </p:nvSpPr>
        <p:spPr>
          <a:xfrm>
            <a:off x="5257799" y="3986846"/>
            <a:ext cx="3767330" cy="758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z="2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Flat XO 60 Hz</a:t>
            </a:r>
          </a:p>
        </p:txBody>
      </p:sp>
      <p:sp>
        <p:nvSpPr>
          <p:cNvPr id="1237" name="Text 10"/>
          <p:cNvSpPr txBox="1"/>
          <p:nvPr/>
        </p:nvSpPr>
        <p:spPr>
          <a:xfrm>
            <a:off x="9372599" y="2871470"/>
            <a:ext cx="376733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PRESET 03</a:t>
            </a:r>
          </a:p>
        </p:txBody>
      </p:sp>
      <p:sp>
        <p:nvSpPr>
          <p:cNvPr id="1238" name="Text 11"/>
          <p:cNvSpPr txBox="1"/>
          <p:nvPr/>
        </p:nvSpPr>
        <p:spPr>
          <a:xfrm>
            <a:off x="9372599" y="3333432"/>
            <a:ext cx="3767330" cy="501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27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Game</a:t>
            </a:r>
          </a:p>
        </p:txBody>
      </p:sp>
      <p:sp>
        <p:nvSpPr>
          <p:cNvPr id="1239" name="Text 12"/>
          <p:cNvSpPr txBox="1"/>
          <p:nvPr/>
        </p:nvSpPr>
        <p:spPr>
          <a:xfrm>
            <a:off x="9372599" y="3986846"/>
            <a:ext cx="3767330" cy="758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z="2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+5 dB @ 40 Hz XO 90 Hz</a:t>
            </a:r>
          </a:p>
        </p:txBody>
      </p:sp>
      <p:sp>
        <p:nvSpPr>
          <p:cNvPr id="1240" name="Text 13"/>
          <p:cNvSpPr txBox="1"/>
          <p:nvPr/>
        </p:nvSpPr>
        <p:spPr>
          <a:xfrm>
            <a:off x="13487399" y="2871470"/>
            <a:ext cx="376733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PRESET 04</a:t>
            </a:r>
          </a:p>
        </p:txBody>
      </p:sp>
      <p:sp>
        <p:nvSpPr>
          <p:cNvPr id="1241" name="Text 14"/>
          <p:cNvSpPr txBox="1"/>
          <p:nvPr/>
        </p:nvSpPr>
        <p:spPr>
          <a:xfrm>
            <a:off x="13487399" y="3333432"/>
            <a:ext cx="3767330" cy="5010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27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Night</a:t>
            </a:r>
          </a:p>
        </p:txBody>
      </p:sp>
      <p:sp>
        <p:nvSpPr>
          <p:cNvPr id="1242" name="Text 15"/>
          <p:cNvSpPr txBox="1"/>
          <p:nvPr/>
        </p:nvSpPr>
        <p:spPr>
          <a:xfrm>
            <a:off x="13487399" y="3986846"/>
            <a:ext cx="3767330" cy="758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z="2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−12 dB @ 40 Hz Limit −10 dB</a:t>
            </a:r>
          </a:p>
        </p:txBody>
      </p:sp>
      <p:sp>
        <p:nvSpPr>
          <p:cNvPr id="1243" name="Text 16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3</a:t>
            </a:r>
            <a:r>
              <a:rPr dirty="0"/>
              <a:t> / 100</a:t>
            </a:r>
          </a:p>
        </p:txBody>
      </p:sp>
      <p:sp>
        <p:nvSpPr>
          <p:cNvPr id="1244" name="Text 17"/>
          <p:cNvSpPr txBox="1"/>
          <p:nvPr/>
        </p:nvSpPr>
        <p:spPr>
          <a:xfrm>
            <a:off x="15689898" y="9672638"/>
            <a:ext cx="2102803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§07 НАСТРОЙКА</a:t>
            </a:r>
          </a:p>
        </p:txBody>
      </p:sp>
    </p:spTree>
  </p:cSld>
  <p:clrMapOvr>
    <a:masterClrMapping/>
  </p:clrMapOvr>
  <p:transition spd="med"/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6" name="Text 0"/>
          <p:cNvSpPr txBox="1"/>
          <p:nvPr/>
        </p:nvSpPr>
        <p:spPr>
          <a:xfrm>
            <a:off x="1143000" y="5169217"/>
            <a:ext cx="667131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РАЗДЕЛ 08</a:t>
            </a:r>
          </a:p>
        </p:txBody>
      </p:sp>
      <p:sp>
        <p:nvSpPr>
          <p:cNvPr id="1247" name="Text 1"/>
          <p:cNvSpPr txBox="1"/>
          <p:nvPr/>
        </p:nvSpPr>
        <p:spPr>
          <a:xfrm>
            <a:off x="1143000" y="5707379"/>
            <a:ext cx="6671310" cy="347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40079">
              <a:lnSpc>
                <a:spcPct val="82000"/>
              </a:lnSpc>
              <a:defRPr sz="23100" spc="-133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08</a:t>
            </a:r>
          </a:p>
        </p:txBody>
      </p:sp>
      <p:sp>
        <p:nvSpPr>
          <p:cNvPr id="1248" name="Text 2"/>
          <p:cNvSpPr txBox="1"/>
          <p:nvPr/>
        </p:nvSpPr>
        <p:spPr>
          <a:xfrm>
            <a:off x="8381999" y="2559049"/>
            <a:ext cx="9025892" cy="758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04999"/>
              </a:lnSpc>
              <a:defRPr sz="4860" spc="-18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Калибровка</a:t>
            </a:r>
          </a:p>
        </p:txBody>
      </p:sp>
      <p:sp>
        <p:nvSpPr>
          <p:cNvPr id="1249" name="Text 3"/>
          <p:cNvSpPr txBox="1"/>
          <p:nvPr/>
        </p:nvSpPr>
        <p:spPr>
          <a:xfrm>
            <a:off x="8382000" y="3583940"/>
            <a:ext cx="6867525" cy="1272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0391">
              <a:lnSpc>
                <a:spcPct val="135000"/>
              </a:lnSpc>
              <a:defRPr sz="2232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lang="ru-RU" dirty="0"/>
              <a:t>Семь</a:t>
            </a:r>
            <a:r>
              <a:rPr dirty="0"/>
              <a:t> </a:t>
            </a:r>
            <a:r>
              <a:rPr dirty="0" err="1"/>
              <a:t>страниц</a:t>
            </a:r>
            <a:r>
              <a:rPr dirty="0"/>
              <a:t> — </a:t>
            </a:r>
            <a:r>
              <a:rPr dirty="0" err="1"/>
              <a:t>от</a:t>
            </a:r>
            <a:r>
              <a:rPr dirty="0"/>
              <a:t> </a:t>
            </a:r>
            <a:r>
              <a:rPr dirty="0" err="1"/>
              <a:t>измерительного</a:t>
            </a:r>
            <a:r>
              <a:rPr dirty="0"/>
              <a:t> </a:t>
            </a:r>
            <a:r>
              <a:rPr dirty="0" err="1"/>
              <a:t>микрофона</a:t>
            </a:r>
            <a:r>
              <a:rPr dirty="0"/>
              <a:t> </a:t>
            </a:r>
            <a:r>
              <a:rPr dirty="0" err="1"/>
              <a:t>до</a:t>
            </a:r>
            <a:r>
              <a:rPr dirty="0"/>
              <a:t> </a:t>
            </a:r>
            <a:r>
              <a:rPr dirty="0" err="1"/>
              <a:t>финального</a:t>
            </a:r>
            <a:r>
              <a:rPr dirty="0"/>
              <a:t> </a:t>
            </a:r>
            <a:r>
              <a:rPr dirty="0" err="1"/>
              <a:t>теста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музыке</a:t>
            </a:r>
            <a:r>
              <a:rPr dirty="0"/>
              <a:t> и </a:t>
            </a:r>
            <a:r>
              <a:rPr dirty="0" err="1"/>
              <a:t>кино</a:t>
            </a:r>
            <a:r>
              <a:rPr dirty="0"/>
              <a:t>.</a:t>
            </a:r>
          </a:p>
        </p:txBody>
      </p:sp>
      <p:sp>
        <p:nvSpPr>
          <p:cNvPr id="1250" name="Shape 4"/>
          <p:cNvSpPr/>
          <p:nvPr/>
        </p:nvSpPr>
        <p:spPr>
          <a:xfrm>
            <a:off x="8382000" y="508349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51" name="Text 5"/>
          <p:cNvSpPr txBox="1"/>
          <p:nvPr/>
        </p:nvSpPr>
        <p:spPr>
          <a:xfrm>
            <a:off x="8382000" y="525525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5</a:t>
            </a:r>
            <a:endParaRPr dirty="0"/>
          </a:p>
        </p:txBody>
      </p:sp>
      <p:sp>
        <p:nvSpPr>
          <p:cNvPr id="1252" name="Text 6"/>
          <p:cNvSpPr txBox="1"/>
          <p:nvPr/>
        </p:nvSpPr>
        <p:spPr>
          <a:xfrm>
            <a:off x="9239249" y="522795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Измерительный микрофон</a:t>
            </a:r>
          </a:p>
        </p:txBody>
      </p:sp>
      <p:sp>
        <p:nvSpPr>
          <p:cNvPr id="1253" name="Shape 7"/>
          <p:cNvSpPr/>
          <p:nvPr/>
        </p:nvSpPr>
        <p:spPr>
          <a:xfrm>
            <a:off x="8382000" y="566197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54" name="Text 8"/>
          <p:cNvSpPr txBox="1"/>
          <p:nvPr/>
        </p:nvSpPr>
        <p:spPr>
          <a:xfrm>
            <a:off x="8382000" y="5833745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6</a:t>
            </a:r>
            <a:endParaRPr dirty="0"/>
          </a:p>
        </p:txBody>
      </p:sp>
      <p:sp>
        <p:nvSpPr>
          <p:cNvPr id="1255" name="Text 9"/>
          <p:cNvSpPr txBox="1"/>
          <p:nvPr/>
        </p:nvSpPr>
        <p:spPr>
          <a:xfrm>
            <a:off x="9239249" y="580644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REW или Room Correction</a:t>
            </a:r>
          </a:p>
        </p:txBody>
      </p:sp>
      <p:sp>
        <p:nvSpPr>
          <p:cNvPr id="1256" name="Shape 10"/>
          <p:cNvSpPr/>
          <p:nvPr/>
        </p:nvSpPr>
        <p:spPr>
          <a:xfrm>
            <a:off x="8382000" y="624046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57" name="Text 11"/>
          <p:cNvSpPr txBox="1"/>
          <p:nvPr/>
        </p:nvSpPr>
        <p:spPr>
          <a:xfrm>
            <a:off x="8382000" y="641222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7</a:t>
            </a:r>
            <a:endParaRPr dirty="0"/>
          </a:p>
        </p:txBody>
      </p:sp>
      <p:sp>
        <p:nvSpPr>
          <p:cNvPr id="1258" name="Text 12"/>
          <p:cNvSpPr txBox="1"/>
          <p:nvPr/>
        </p:nvSpPr>
        <p:spPr>
          <a:xfrm>
            <a:off x="9239249" y="6384924"/>
            <a:ext cx="6180775" cy="340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Базовая АЧХ</a:t>
            </a:r>
          </a:p>
        </p:txBody>
      </p:sp>
      <p:sp>
        <p:nvSpPr>
          <p:cNvPr id="1259" name="Shape 13"/>
          <p:cNvSpPr/>
          <p:nvPr/>
        </p:nvSpPr>
        <p:spPr>
          <a:xfrm>
            <a:off x="8382000" y="681894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60" name="Text 14"/>
          <p:cNvSpPr txBox="1"/>
          <p:nvPr/>
        </p:nvSpPr>
        <p:spPr>
          <a:xfrm>
            <a:off x="8382000" y="6990715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8</a:t>
            </a:r>
            <a:endParaRPr dirty="0"/>
          </a:p>
        </p:txBody>
      </p:sp>
      <p:sp>
        <p:nvSpPr>
          <p:cNvPr id="1261" name="Text 15"/>
          <p:cNvSpPr txBox="1"/>
          <p:nvPr/>
        </p:nvSpPr>
        <p:spPr>
          <a:xfrm>
            <a:off x="9239249" y="6963409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Сглаживание пиков</a:t>
            </a:r>
          </a:p>
        </p:txBody>
      </p:sp>
      <p:sp>
        <p:nvSpPr>
          <p:cNvPr id="1262" name="Shape 16"/>
          <p:cNvSpPr/>
          <p:nvPr/>
        </p:nvSpPr>
        <p:spPr>
          <a:xfrm>
            <a:off x="8382000" y="739743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63" name="Text 17"/>
          <p:cNvSpPr txBox="1"/>
          <p:nvPr/>
        </p:nvSpPr>
        <p:spPr>
          <a:xfrm>
            <a:off x="8382000" y="7569199"/>
            <a:ext cx="93345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</a:t>
            </a:r>
            <a:r>
              <a:rPr lang="ru-RU" dirty="0"/>
              <a:t>59</a:t>
            </a:r>
            <a:endParaRPr dirty="0"/>
          </a:p>
        </p:txBody>
      </p:sp>
      <p:sp>
        <p:nvSpPr>
          <p:cNvPr id="1264" name="Text 18"/>
          <p:cNvSpPr txBox="1"/>
          <p:nvPr/>
        </p:nvSpPr>
        <p:spPr>
          <a:xfrm>
            <a:off x="9239249" y="754189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Фаза с сателлитами</a:t>
            </a:r>
          </a:p>
        </p:txBody>
      </p:sp>
      <p:sp>
        <p:nvSpPr>
          <p:cNvPr id="1265" name="Shape 19"/>
          <p:cNvSpPr/>
          <p:nvPr/>
        </p:nvSpPr>
        <p:spPr>
          <a:xfrm>
            <a:off x="8382000" y="797591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66" name="Text 20"/>
          <p:cNvSpPr txBox="1"/>
          <p:nvPr/>
        </p:nvSpPr>
        <p:spPr>
          <a:xfrm>
            <a:off x="8382000" y="8147684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0</a:t>
            </a:r>
            <a:endParaRPr dirty="0"/>
          </a:p>
        </p:txBody>
      </p:sp>
      <p:sp>
        <p:nvSpPr>
          <p:cNvPr id="1267" name="Text 21"/>
          <p:cNvSpPr txBox="1"/>
          <p:nvPr/>
        </p:nvSpPr>
        <p:spPr>
          <a:xfrm>
            <a:off x="9239249" y="812038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Проверка на музыке/кино</a:t>
            </a:r>
          </a:p>
        </p:txBody>
      </p:sp>
      <p:sp>
        <p:nvSpPr>
          <p:cNvPr id="1268" name="Shape 22"/>
          <p:cNvSpPr/>
          <p:nvPr/>
        </p:nvSpPr>
        <p:spPr>
          <a:xfrm>
            <a:off x="8382000" y="913288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69" name="Shape 23"/>
          <p:cNvSpPr/>
          <p:nvPr/>
        </p:nvSpPr>
        <p:spPr>
          <a:xfrm>
            <a:off x="8382000" y="855440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70" name="Text 24"/>
          <p:cNvSpPr txBox="1"/>
          <p:nvPr/>
        </p:nvSpPr>
        <p:spPr>
          <a:xfrm>
            <a:off x="8382000" y="872616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1</a:t>
            </a:r>
            <a:endParaRPr dirty="0"/>
          </a:p>
        </p:txBody>
      </p:sp>
      <p:sp>
        <p:nvSpPr>
          <p:cNvPr id="1271" name="Text 25"/>
          <p:cNvSpPr txBox="1"/>
          <p:nvPr/>
        </p:nvSpPr>
        <p:spPr>
          <a:xfrm>
            <a:off x="9239249" y="8698865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Документируйте пресеты</a:t>
            </a:r>
          </a:p>
        </p:txBody>
      </p:sp>
      <p:sp>
        <p:nvSpPr>
          <p:cNvPr id="1272" name="Text 26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4</a:t>
            </a:r>
            <a:r>
              <a:rPr dirty="0"/>
              <a:t> / 100</a:t>
            </a:r>
          </a:p>
        </p:txBody>
      </p:sp>
      <p:sp>
        <p:nvSpPr>
          <p:cNvPr id="1273" name="Text 27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§08 КАЛИБРОВКА</a:t>
            </a:r>
          </a:p>
        </p:txBody>
      </p:sp>
    </p:spTree>
  </p:cSld>
  <p:clrMapOvr>
    <a:masterClrMapping/>
  </p:clrMapOvr>
  <p:transition spd="med"/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5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056 §08 КАЛИБРОВКА</a:t>
            </a:r>
          </a:p>
        </p:txBody>
      </p:sp>
      <p:sp>
        <p:nvSpPr>
          <p:cNvPr id="1276" name="Text 1"/>
          <p:cNvSpPr txBox="1"/>
          <p:nvPr/>
        </p:nvSpPr>
        <p:spPr>
          <a:xfrm>
            <a:off x="16469360" y="380999"/>
            <a:ext cx="132334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86384">
              <a:defRPr sz="1548" spc="86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МИКРОФОН</a:t>
            </a:r>
          </a:p>
        </p:txBody>
      </p:sp>
      <p:sp>
        <p:nvSpPr>
          <p:cNvPr id="1277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ИНСТРУМЕНТ</a:t>
            </a:r>
          </a:p>
        </p:txBody>
      </p:sp>
      <p:sp>
        <p:nvSpPr>
          <p:cNvPr id="1278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Подготовьте измерительный микрофон</a:t>
            </a:r>
          </a:p>
        </p:txBody>
      </p:sp>
      <p:sp>
        <p:nvSpPr>
          <p:cNvPr id="1279" name="Shape 4"/>
          <p:cNvSpPr/>
          <p:nvPr/>
        </p:nvSpPr>
        <p:spPr>
          <a:xfrm>
            <a:off x="1143000" y="2719070"/>
            <a:ext cx="7620000" cy="76200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28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2667" y="3868737"/>
            <a:ext cx="5320666" cy="5320667"/>
          </a:xfrm>
          <a:prstGeom prst="rect">
            <a:avLst/>
          </a:prstGeom>
          <a:ln w="12700">
            <a:miter lim="400000"/>
          </a:ln>
        </p:spPr>
      </p:pic>
      <p:sp>
        <p:nvSpPr>
          <p:cNvPr id="1281" name="Text 5"/>
          <p:cNvSpPr txBox="1"/>
          <p:nvPr/>
        </p:nvSpPr>
        <p:spPr>
          <a:xfrm>
            <a:off x="1381124" y="2919095"/>
            <a:ext cx="241459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MEASUREMENT MIC</a:t>
            </a:r>
          </a:p>
        </p:txBody>
      </p:sp>
      <p:sp>
        <p:nvSpPr>
          <p:cNvPr id="1282" name="Shape 6"/>
          <p:cNvSpPr/>
          <p:nvPr/>
        </p:nvSpPr>
        <p:spPr>
          <a:xfrm>
            <a:off x="9525000" y="484187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83" name="Text 7"/>
          <p:cNvSpPr txBox="1"/>
          <p:nvPr/>
        </p:nvSpPr>
        <p:spPr>
          <a:xfrm>
            <a:off x="9525000" y="5014912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ТИП</a:t>
            </a:r>
          </a:p>
        </p:txBody>
      </p:sp>
      <p:sp>
        <p:nvSpPr>
          <p:cNvPr id="1284" name="Text 8"/>
          <p:cNvSpPr txBox="1"/>
          <p:nvPr/>
        </p:nvSpPr>
        <p:spPr>
          <a:xfrm>
            <a:off x="12725399" y="5014912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Omni, 1/4″ или 1/2″</a:t>
            </a:r>
          </a:p>
        </p:txBody>
      </p:sp>
      <p:sp>
        <p:nvSpPr>
          <p:cNvPr id="1285" name="Shape 9"/>
          <p:cNvSpPr/>
          <p:nvPr/>
        </p:nvSpPr>
        <p:spPr>
          <a:xfrm>
            <a:off x="9525000" y="551608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86" name="Text 10"/>
          <p:cNvSpPr txBox="1"/>
          <p:nvPr/>
        </p:nvSpPr>
        <p:spPr>
          <a:xfrm>
            <a:off x="9525000" y="568912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ДИАПАЗОН</a:t>
            </a:r>
          </a:p>
        </p:txBody>
      </p:sp>
      <p:sp>
        <p:nvSpPr>
          <p:cNvPr id="1287" name="Text 11"/>
          <p:cNvSpPr txBox="1"/>
          <p:nvPr/>
        </p:nvSpPr>
        <p:spPr>
          <a:xfrm>
            <a:off x="12725399" y="568912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10 Гц — 20 кГц</a:t>
            </a:r>
          </a:p>
        </p:txBody>
      </p:sp>
      <p:sp>
        <p:nvSpPr>
          <p:cNvPr id="1288" name="Shape 12"/>
          <p:cNvSpPr/>
          <p:nvPr/>
        </p:nvSpPr>
        <p:spPr>
          <a:xfrm>
            <a:off x="9525000" y="619029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89" name="Text 13"/>
          <p:cNvSpPr txBox="1"/>
          <p:nvPr/>
        </p:nvSpPr>
        <p:spPr>
          <a:xfrm>
            <a:off x="9525000" y="636333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КАЛИБРОВОЧНЫЙ ФАЙЛ</a:t>
            </a:r>
          </a:p>
        </p:txBody>
      </p:sp>
      <p:sp>
        <p:nvSpPr>
          <p:cNvPr id="1290" name="Text 14"/>
          <p:cNvSpPr txBox="1"/>
          <p:nvPr/>
        </p:nvSpPr>
        <p:spPr>
          <a:xfrm>
            <a:off x="12725399" y="636333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серийный, .CAL</a:t>
            </a:r>
          </a:p>
        </p:txBody>
      </p:sp>
      <p:sp>
        <p:nvSpPr>
          <p:cNvPr id="1291" name="Shape 15"/>
          <p:cNvSpPr/>
          <p:nvPr/>
        </p:nvSpPr>
        <p:spPr>
          <a:xfrm>
            <a:off x="9525000" y="686450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92" name="Text 16"/>
          <p:cNvSpPr txBox="1"/>
          <p:nvPr/>
        </p:nvSpPr>
        <p:spPr>
          <a:xfrm>
            <a:off x="9525000" y="7037545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ПОДКЛЮЧЕНИЕ</a:t>
            </a:r>
          </a:p>
        </p:txBody>
      </p:sp>
      <p:sp>
        <p:nvSpPr>
          <p:cNvPr id="1293" name="Text 17"/>
          <p:cNvSpPr txBox="1"/>
          <p:nvPr/>
        </p:nvSpPr>
        <p:spPr>
          <a:xfrm>
            <a:off x="12725399" y="7037545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USB или XLR + AD</a:t>
            </a:r>
          </a:p>
        </p:txBody>
      </p:sp>
      <p:sp>
        <p:nvSpPr>
          <p:cNvPr id="1294" name="Shape 18"/>
          <p:cNvSpPr/>
          <p:nvPr/>
        </p:nvSpPr>
        <p:spPr>
          <a:xfrm>
            <a:off x="9525000" y="820340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95" name="Shape 19"/>
          <p:cNvSpPr/>
          <p:nvPr/>
        </p:nvSpPr>
        <p:spPr>
          <a:xfrm>
            <a:off x="9525000" y="753871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296" name="Text 20"/>
          <p:cNvSpPr txBox="1"/>
          <p:nvPr/>
        </p:nvSpPr>
        <p:spPr>
          <a:xfrm>
            <a:off x="9525000" y="7711757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СТОЙКА</a:t>
            </a:r>
          </a:p>
        </p:txBody>
      </p:sp>
      <p:sp>
        <p:nvSpPr>
          <p:cNvPr id="1297" name="Text 21"/>
          <p:cNvSpPr txBox="1"/>
          <p:nvPr/>
        </p:nvSpPr>
        <p:spPr>
          <a:xfrm>
            <a:off x="12725399" y="7711757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штатив, высота уха</a:t>
            </a:r>
          </a:p>
        </p:txBody>
      </p:sp>
      <p:sp>
        <p:nvSpPr>
          <p:cNvPr id="1298" name="Text 22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5</a:t>
            </a:r>
            <a:r>
              <a:rPr dirty="0"/>
              <a:t> / 100</a:t>
            </a:r>
          </a:p>
        </p:txBody>
      </p:sp>
      <p:sp>
        <p:nvSpPr>
          <p:cNvPr id="1299" name="Text 23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§08 КАЛИБРОВКА</a:t>
            </a: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1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057 §08 КАЛИБРОВКА</a:t>
            </a:r>
          </a:p>
        </p:txBody>
      </p:sp>
      <p:sp>
        <p:nvSpPr>
          <p:cNvPr id="1302" name="Text 1"/>
          <p:cNvSpPr txBox="1"/>
          <p:nvPr/>
        </p:nvSpPr>
        <p:spPr>
          <a:xfrm>
            <a:off x="17248823" y="380999"/>
            <a:ext cx="5438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04672">
              <a:defRPr sz="1584" spc="88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REW</a:t>
            </a:r>
          </a:p>
        </p:txBody>
      </p:sp>
      <p:sp>
        <p:nvSpPr>
          <p:cNvPr id="1303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ПО</a:t>
            </a:r>
          </a:p>
        </p:txBody>
      </p:sp>
      <p:sp>
        <p:nvSpPr>
          <p:cNvPr id="1304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Запустите REW или встроенный Room Correction</a:t>
            </a:r>
          </a:p>
        </p:txBody>
      </p:sp>
      <p:sp>
        <p:nvSpPr>
          <p:cNvPr id="1305" name="Text 4"/>
          <p:cNvSpPr txBox="1"/>
          <p:nvPr/>
        </p:nvSpPr>
        <p:spPr>
          <a:xfrm>
            <a:off x="1143000" y="4979034"/>
            <a:ext cx="7848600" cy="1786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z="25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REW (Room EQ Wizard) — бесплатный инструмент-стандарт индустрии. Альтернатива — встроенный модуль RESONA Room в приложении.</a:t>
            </a:r>
          </a:p>
        </p:txBody>
      </p:sp>
      <p:sp>
        <p:nvSpPr>
          <p:cNvPr id="1306" name="Text 5"/>
          <p:cNvSpPr txBox="1"/>
          <p:nvPr/>
        </p:nvSpPr>
        <p:spPr>
          <a:xfrm>
            <a:off x="1143000" y="6956424"/>
            <a:ext cx="7848600" cy="3467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>
              <a:lnSpc>
                <a:spcPct val="135000"/>
              </a:lnSpc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МЕТОД: SINE SWEEP 10 HZ → 500 HZ, 30 S</a:t>
            </a:r>
          </a:p>
        </p:txBody>
      </p:sp>
      <p:sp>
        <p:nvSpPr>
          <p:cNvPr id="1307" name="Shape 6"/>
          <p:cNvSpPr/>
          <p:nvPr/>
        </p:nvSpPr>
        <p:spPr>
          <a:xfrm>
            <a:off x="9525000" y="3191192"/>
            <a:ext cx="7620000" cy="5861527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30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4573" y="3492817"/>
            <a:ext cx="6840856" cy="5258118"/>
          </a:xfrm>
          <a:prstGeom prst="rect">
            <a:avLst/>
          </a:prstGeom>
          <a:ln w="12700">
            <a:miter lim="400000"/>
          </a:ln>
        </p:spPr>
      </p:pic>
      <p:sp>
        <p:nvSpPr>
          <p:cNvPr id="1309" name="Text 7"/>
          <p:cNvSpPr txBox="1"/>
          <p:nvPr/>
        </p:nvSpPr>
        <p:spPr>
          <a:xfrm>
            <a:off x="9763124" y="3391217"/>
            <a:ext cx="2102804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REW INTERFACE</a:t>
            </a:r>
          </a:p>
        </p:txBody>
      </p:sp>
      <p:sp>
        <p:nvSpPr>
          <p:cNvPr id="1310" name="Text 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6</a:t>
            </a:r>
            <a:r>
              <a:rPr dirty="0"/>
              <a:t> / 100</a:t>
            </a:r>
          </a:p>
        </p:txBody>
      </p:sp>
      <p:sp>
        <p:nvSpPr>
          <p:cNvPr id="1311" name="Text 9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§08 КАЛИБРОВКА</a:t>
            </a:r>
          </a:p>
        </p:txBody>
      </p:sp>
    </p:spTree>
  </p:cSld>
  <p:clrMapOvr>
    <a:masterClrMapping/>
  </p:clrMapOvr>
  <p:transition spd="med"/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3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058 §08 КАЛИБРОВКА</a:t>
            </a:r>
          </a:p>
        </p:txBody>
      </p:sp>
      <p:sp>
        <p:nvSpPr>
          <p:cNvPr id="1314" name="Text 1"/>
          <p:cNvSpPr txBox="1"/>
          <p:nvPr/>
        </p:nvSpPr>
        <p:spPr>
          <a:xfrm>
            <a:off x="16001683" y="380999"/>
            <a:ext cx="179101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БАЗОВАЯ АЧХ</a:t>
            </a:r>
          </a:p>
        </p:txBody>
      </p:sp>
      <p:sp>
        <p:nvSpPr>
          <p:cNvPr id="1315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ШАГ 01</a:t>
            </a:r>
          </a:p>
        </p:txBody>
      </p:sp>
      <p:sp>
        <p:nvSpPr>
          <p:cNvPr id="1316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Измерьте базовую АЧХ</a:t>
            </a:r>
          </a:p>
        </p:txBody>
      </p:sp>
      <p:sp>
        <p:nvSpPr>
          <p:cNvPr id="1317" name="Shape 4"/>
          <p:cNvSpPr/>
          <p:nvPr/>
        </p:nvSpPr>
        <p:spPr>
          <a:xfrm>
            <a:off x="1143000" y="3656646"/>
            <a:ext cx="10166350" cy="5083176"/>
          </a:xfrm>
          <a:prstGeom prst="rect">
            <a:avLst/>
          </a:prstGeom>
          <a:solidFill>
            <a:srgbClr val="F4F2EE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31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206" y="3792696"/>
            <a:ext cx="9639936" cy="4810920"/>
          </a:xfrm>
          <a:prstGeom prst="rect">
            <a:avLst/>
          </a:prstGeom>
          <a:ln w="12700">
            <a:miter lim="400000"/>
          </a:ln>
        </p:spPr>
      </p:pic>
      <p:sp>
        <p:nvSpPr>
          <p:cNvPr id="1319" name="Text 5"/>
          <p:cNvSpPr txBox="1"/>
          <p:nvPr/>
        </p:nvSpPr>
        <p:spPr>
          <a:xfrm>
            <a:off x="12071349" y="4439444"/>
            <a:ext cx="5225862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ПРОЧИТАЙТЕ НА ГРАФИКЕ</a:t>
            </a:r>
          </a:p>
        </p:txBody>
      </p:sp>
      <p:sp>
        <p:nvSpPr>
          <p:cNvPr id="1320" name="Shape 6"/>
          <p:cNvSpPr/>
          <p:nvPr/>
        </p:nvSpPr>
        <p:spPr>
          <a:xfrm>
            <a:off x="12071350" y="4937918"/>
            <a:ext cx="507365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21" name="Text 7"/>
          <p:cNvSpPr txBox="1"/>
          <p:nvPr/>
        </p:nvSpPr>
        <p:spPr>
          <a:xfrm>
            <a:off x="12071350" y="5220970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A</a:t>
            </a:r>
          </a:p>
        </p:txBody>
      </p:sp>
      <p:sp>
        <p:nvSpPr>
          <p:cNvPr id="1322" name="Text 8"/>
          <p:cNvSpPr txBox="1"/>
          <p:nvPr/>
        </p:nvSpPr>
        <p:spPr>
          <a:xfrm>
            <a:off x="13214350" y="5158580"/>
            <a:ext cx="40485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Пики от мод</a:t>
            </a:r>
          </a:p>
        </p:txBody>
      </p:sp>
      <p:sp>
        <p:nvSpPr>
          <p:cNvPr id="1323" name="Shape 9"/>
          <p:cNvSpPr/>
          <p:nvPr/>
        </p:nvSpPr>
        <p:spPr>
          <a:xfrm>
            <a:off x="12071350" y="6029483"/>
            <a:ext cx="507365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24" name="Text 10"/>
          <p:cNvSpPr txBox="1"/>
          <p:nvPr/>
        </p:nvSpPr>
        <p:spPr>
          <a:xfrm>
            <a:off x="12071350" y="6312534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B</a:t>
            </a:r>
          </a:p>
        </p:txBody>
      </p:sp>
      <p:sp>
        <p:nvSpPr>
          <p:cNvPr id="1325" name="Text 11"/>
          <p:cNvSpPr txBox="1"/>
          <p:nvPr/>
        </p:nvSpPr>
        <p:spPr>
          <a:xfrm>
            <a:off x="13214350" y="6250146"/>
            <a:ext cx="40485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Провалы от SBIR</a:t>
            </a:r>
          </a:p>
        </p:txBody>
      </p:sp>
      <p:sp>
        <p:nvSpPr>
          <p:cNvPr id="1326" name="Shape 12"/>
          <p:cNvSpPr/>
          <p:nvPr/>
        </p:nvSpPr>
        <p:spPr>
          <a:xfrm>
            <a:off x="12071350" y="7945913"/>
            <a:ext cx="507365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27" name="Shape 13"/>
          <p:cNvSpPr/>
          <p:nvPr/>
        </p:nvSpPr>
        <p:spPr>
          <a:xfrm>
            <a:off x="12071350" y="7121048"/>
            <a:ext cx="507365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28" name="Text 14"/>
          <p:cNvSpPr txBox="1"/>
          <p:nvPr/>
        </p:nvSpPr>
        <p:spPr>
          <a:xfrm>
            <a:off x="12071350" y="7404100"/>
            <a:ext cx="914400" cy="3524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</a:t>
            </a:r>
          </a:p>
        </p:txBody>
      </p:sp>
      <p:sp>
        <p:nvSpPr>
          <p:cNvPr id="1329" name="Text 15"/>
          <p:cNvSpPr txBox="1"/>
          <p:nvPr/>
        </p:nvSpPr>
        <p:spPr>
          <a:xfrm>
            <a:off x="13214350" y="7341710"/>
            <a:ext cx="40485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Roll-off снизу</a:t>
            </a:r>
          </a:p>
        </p:txBody>
      </p:sp>
      <p:sp>
        <p:nvSpPr>
          <p:cNvPr id="1330" name="Text 16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7</a:t>
            </a:r>
            <a:r>
              <a:rPr dirty="0"/>
              <a:t> / 100</a:t>
            </a:r>
          </a:p>
        </p:txBody>
      </p:sp>
      <p:sp>
        <p:nvSpPr>
          <p:cNvPr id="1331" name="Text 17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§08 КАЛИБРОВКА</a:t>
            </a:r>
          </a:p>
        </p:txBody>
      </p:sp>
    </p:spTree>
  </p:cSld>
  <p:clrMapOvr>
    <a:masterClrMapping/>
  </p:clrMapOvr>
  <p:transition spd="med"/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059 §08 КАЛИБРОВКА</a:t>
            </a:r>
          </a:p>
        </p:txBody>
      </p:sp>
      <p:sp>
        <p:nvSpPr>
          <p:cNvPr id="1334" name="Text 1"/>
          <p:cNvSpPr txBox="1"/>
          <p:nvPr/>
        </p:nvSpPr>
        <p:spPr>
          <a:xfrm>
            <a:off x="17404714" y="380999"/>
            <a:ext cx="387986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EQ</a:t>
            </a:r>
          </a:p>
        </p:txBody>
      </p:sp>
      <p:sp>
        <p:nvSpPr>
          <p:cNvPr id="1335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ШАГ 02</a:t>
            </a:r>
          </a:p>
        </p:txBody>
      </p:sp>
      <p:sp>
        <p:nvSpPr>
          <p:cNvPr id="1336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Сгладьте пики, не поднимайте провалы</a:t>
            </a:r>
          </a:p>
        </p:txBody>
      </p:sp>
      <p:sp>
        <p:nvSpPr>
          <p:cNvPr id="1337" name="Text 4"/>
          <p:cNvSpPr txBox="1"/>
          <p:nvPr/>
        </p:nvSpPr>
        <p:spPr>
          <a:xfrm>
            <a:off x="1143000" y="4824729"/>
            <a:ext cx="7848600" cy="1786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z="25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Причина: пики — это энергия, которую усилитель уже воспроизводит. Провалы — это cancellation. Подъём EQ просто уничтожает headroom без слышимого эффекта.</a:t>
            </a:r>
          </a:p>
        </p:txBody>
      </p:sp>
      <p:sp>
        <p:nvSpPr>
          <p:cNvPr id="1338" name="Text 5"/>
          <p:cNvSpPr txBox="1"/>
          <p:nvPr/>
        </p:nvSpPr>
        <p:spPr>
          <a:xfrm>
            <a:off x="1143000" y="6802119"/>
            <a:ext cx="7848600" cy="6553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lnSpc>
                <a:spcPct val="135000"/>
              </a:lnSpc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ТИПИЧНЫЙ ПРОВАЛ: 150—200 ГЦ, SBIR ОТ ПОЛА ИЛИ ЗАДНЕЙ СТЕНЫ</a:t>
            </a:r>
          </a:p>
        </p:txBody>
      </p:sp>
      <p:sp>
        <p:nvSpPr>
          <p:cNvPr id="1339" name="Shape 6"/>
          <p:cNvSpPr/>
          <p:nvPr/>
        </p:nvSpPr>
        <p:spPr>
          <a:xfrm>
            <a:off x="9525000" y="3191192"/>
            <a:ext cx="7620000" cy="5861527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34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4573" y="3492817"/>
            <a:ext cx="6840856" cy="5258118"/>
          </a:xfrm>
          <a:prstGeom prst="rect">
            <a:avLst/>
          </a:prstGeom>
          <a:ln w="12700">
            <a:miter lim="400000"/>
          </a:ln>
        </p:spPr>
      </p:pic>
      <p:sp>
        <p:nvSpPr>
          <p:cNvPr id="1341" name="Text 7"/>
          <p:cNvSpPr txBox="1"/>
          <p:nvPr/>
        </p:nvSpPr>
        <p:spPr>
          <a:xfrm>
            <a:off x="9763124" y="3391217"/>
            <a:ext cx="225869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BEFORE / AFTER</a:t>
            </a:r>
          </a:p>
        </p:txBody>
      </p:sp>
      <p:sp>
        <p:nvSpPr>
          <p:cNvPr id="1342" name="Text 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05</a:t>
            </a:r>
            <a:r>
              <a:rPr lang="ru-RU" dirty="0"/>
              <a:t>8</a:t>
            </a:r>
            <a:r>
              <a:rPr dirty="0"/>
              <a:t> / 100</a:t>
            </a:r>
          </a:p>
        </p:txBody>
      </p:sp>
      <p:sp>
        <p:nvSpPr>
          <p:cNvPr id="1343" name="Text 9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§08 КАЛИБРОВКА</a:t>
            </a:r>
          </a:p>
        </p:txBody>
      </p:sp>
    </p:spTree>
  </p:cSld>
  <p:clrMapOvr>
    <a:masterClrMapping/>
  </p:clrMapOvr>
  <p:transition spd="med"/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060 §08 КАЛИБРОВКА</a:t>
            </a:r>
          </a:p>
        </p:txBody>
      </p:sp>
      <p:sp>
        <p:nvSpPr>
          <p:cNvPr id="1346" name="Text 1"/>
          <p:cNvSpPr txBox="1"/>
          <p:nvPr/>
        </p:nvSpPr>
        <p:spPr>
          <a:xfrm>
            <a:off x="17092930" y="380999"/>
            <a:ext cx="69977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0391">
              <a:defRPr sz="1674" spc="93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ФАЗА</a:t>
            </a:r>
          </a:p>
        </p:txBody>
      </p:sp>
      <p:sp>
        <p:nvSpPr>
          <p:cNvPr id="1347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ШАГ 03</a:t>
            </a:r>
          </a:p>
        </p:txBody>
      </p:sp>
      <p:sp>
        <p:nvSpPr>
          <p:cNvPr id="1348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Совместите фазу с сателлитами</a:t>
            </a:r>
          </a:p>
        </p:txBody>
      </p:sp>
      <p:sp>
        <p:nvSpPr>
          <p:cNvPr id="1349" name="Shape 4"/>
          <p:cNvSpPr/>
          <p:nvPr/>
        </p:nvSpPr>
        <p:spPr>
          <a:xfrm>
            <a:off x="1143000" y="279368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0" name="Text 5"/>
          <p:cNvSpPr txBox="1"/>
          <p:nvPr/>
        </p:nvSpPr>
        <p:spPr>
          <a:xfrm>
            <a:off x="1143000" y="307673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1351" name="Text 6"/>
          <p:cNvSpPr txBox="1"/>
          <p:nvPr/>
        </p:nvSpPr>
        <p:spPr>
          <a:xfrm>
            <a:off x="2286000" y="301434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Измерьте сателлит и саб отдельно в одной точке</a:t>
            </a:r>
          </a:p>
        </p:txBody>
      </p:sp>
      <p:sp>
        <p:nvSpPr>
          <p:cNvPr id="1352" name="Shape 7"/>
          <p:cNvSpPr/>
          <p:nvPr/>
        </p:nvSpPr>
        <p:spPr>
          <a:xfrm>
            <a:off x="1143000" y="388524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3" name="Text 8"/>
          <p:cNvSpPr txBox="1"/>
          <p:nvPr/>
        </p:nvSpPr>
        <p:spPr>
          <a:xfrm>
            <a:off x="1143000" y="4168299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1354" name="Text 9"/>
          <p:cNvSpPr txBox="1"/>
          <p:nvPr/>
        </p:nvSpPr>
        <p:spPr>
          <a:xfrm>
            <a:off x="2286000" y="4105909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Откройте phase-response в REW</a:t>
            </a:r>
          </a:p>
        </p:txBody>
      </p:sp>
      <p:sp>
        <p:nvSpPr>
          <p:cNvPr id="1355" name="Shape 10"/>
          <p:cNvSpPr/>
          <p:nvPr/>
        </p:nvSpPr>
        <p:spPr>
          <a:xfrm>
            <a:off x="1143000" y="497681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6" name="Text 11"/>
          <p:cNvSpPr txBox="1"/>
          <p:nvPr/>
        </p:nvSpPr>
        <p:spPr>
          <a:xfrm>
            <a:off x="1143000" y="525986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1357" name="Text 12"/>
          <p:cNvSpPr txBox="1"/>
          <p:nvPr/>
        </p:nvSpPr>
        <p:spPr>
          <a:xfrm>
            <a:off x="2286000" y="5197474"/>
            <a:ext cx="15304770" cy="434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На частоте кроссовера фазы должны совпасть ±45°</a:t>
            </a:r>
          </a:p>
        </p:txBody>
      </p:sp>
      <p:sp>
        <p:nvSpPr>
          <p:cNvPr id="1358" name="Shape 13"/>
          <p:cNvSpPr/>
          <p:nvPr/>
        </p:nvSpPr>
        <p:spPr>
          <a:xfrm>
            <a:off x="1143000" y="606837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59" name="Text 14"/>
          <p:cNvSpPr txBox="1"/>
          <p:nvPr/>
        </p:nvSpPr>
        <p:spPr>
          <a:xfrm>
            <a:off x="1143000" y="6351428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1360" name="Text 15"/>
          <p:cNvSpPr txBox="1"/>
          <p:nvPr/>
        </p:nvSpPr>
        <p:spPr>
          <a:xfrm>
            <a:off x="2286000" y="6289040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Если не совпадают — крутите phase-контрол саба или добавьте задержку</a:t>
            </a:r>
          </a:p>
        </p:txBody>
      </p:sp>
      <p:sp>
        <p:nvSpPr>
          <p:cNvPr id="1361" name="Shape 16"/>
          <p:cNvSpPr/>
          <p:nvPr/>
        </p:nvSpPr>
        <p:spPr>
          <a:xfrm>
            <a:off x="1143000" y="798480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62" name="Shape 17"/>
          <p:cNvSpPr/>
          <p:nvPr/>
        </p:nvSpPr>
        <p:spPr>
          <a:xfrm>
            <a:off x="1143000" y="715994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63" name="Text 18"/>
          <p:cNvSpPr txBox="1"/>
          <p:nvPr/>
        </p:nvSpPr>
        <p:spPr>
          <a:xfrm>
            <a:off x="1143000" y="744299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</a:t>
            </a:r>
          </a:p>
        </p:txBody>
      </p:sp>
      <p:sp>
        <p:nvSpPr>
          <p:cNvPr id="1364" name="Text 19"/>
          <p:cNvSpPr txBox="1"/>
          <p:nvPr/>
        </p:nvSpPr>
        <p:spPr>
          <a:xfrm>
            <a:off x="2286000" y="738060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Сделайте третий замер: сумма должна дать +6 дБ</a:t>
            </a:r>
          </a:p>
        </p:txBody>
      </p:sp>
      <p:sp>
        <p:nvSpPr>
          <p:cNvPr id="1365" name="Text 20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</a:t>
            </a:r>
            <a:r>
              <a:rPr lang="ru-RU" dirty="0"/>
              <a:t>59</a:t>
            </a:r>
            <a:r>
              <a:rPr dirty="0"/>
              <a:t> / 100</a:t>
            </a:r>
          </a:p>
        </p:txBody>
      </p:sp>
      <p:sp>
        <p:nvSpPr>
          <p:cNvPr id="1366" name="Text 21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§08 КАЛИБРОВКА</a:t>
            </a:r>
          </a:p>
        </p:txBody>
      </p:sp>
    </p:spTree>
  </p:cSld>
  <p:clrMapOvr>
    <a:masterClrMapping/>
  </p:clrMapOvr>
  <p:transition spd="med"/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061 §08 КАЛИБРОВКА</a:t>
            </a:r>
          </a:p>
        </p:txBody>
      </p:sp>
      <p:sp>
        <p:nvSpPr>
          <p:cNvPr id="1369" name="Text 1"/>
          <p:cNvSpPr txBox="1"/>
          <p:nvPr/>
        </p:nvSpPr>
        <p:spPr>
          <a:xfrm>
            <a:off x="17092930" y="380999"/>
            <a:ext cx="69977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ТЕСТ</a:t>
            </a:r>
          </a:p>
        </p:txBody>
      </p:sp>
      <p:sp>
        <p:nvSpPr>
          <p:cNvPr id="1370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ШАГ 04</a:t>
            </a:r>
          </a:p>
        </p:txBody>
      </p:sp>
      <p:sp>
        <p:nvSpPr>
          <p:cNvPr id="1371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Проверьте результат на музыке и кино</a:t>
            </a:r>
          </a:p>
        </p:txBody>
      </p:sp>
      <p:sp>
        <p:nvSpPr>
          <p:cNvPr id="1372" name="Text 4"/>
          <p:cNvSpPr txBox="1"/>
          <p:nvPr/>
        </p:nvSpPr>
        <p:spPr>
          <a:xfrm>
            <a:off x="1143000" y="2719070"/>
            <a:ext cx="7848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ТРЕКИ ДЛЯ ТЕСТА</a:t>
            </a:r>
          </a:p>
        </p:txBody>
      </p:sp>
      <p:sp>
        <p:nvSpPr>
          <p:cNvPr id="1373" name="Text 5"/>
          <p:cNvSpPr txBox="1"/>
          <p:nvPr/>
        </p:nvSpPr>
        <p:spPr>
          <a:xfrm>
            <a:off x="1209675" y="3219132"/>
            <a:ext cx="7629525" cy="2324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/>
          </a:bodyPr>
          <a:lstStyle/>
          <a:p>
            <a:pPr marL="186023" indent="-186023" defTabSz="850391">
              <a:lnSpc>
                <a:spcPct val="160000"/>
              </a:lnSpc>
              <a:buSzPct val="100000"/>
              <a:buChar char="•"/>
              <a:tabLst>
                <a:tab pos="165100" algn="l"/>
              </a:tabLst>
              <a:defRPr sz="2046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Стоячий бас — длинные ровные ноты</a:t>
            </a:r>
          </a:p>
          <a:p>
            <a:pPr marL="186023" indent="-186023" defTabSz="850391">
              <a:lnSpc>
                <a:spcPct val="160000"/>
              </a:lnSpc>
              <a:buSzPct val="100000"/>
              <a:buChar char="•"/>
              <a:tabLst>
                <a:tab pos="165100" algn="l"/>
              </a:tabLst>
              <a:defRPr sz="2046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Ударные — kick, четкая атака</a:t>
            </a:r>
          </a:p>
          <a:p>
            <a:pPr marL="186023" indent="-186023" defTabSz="850391">
              <a:lnSpc>
                <a:spcPct val="160000"/>
              </a:lnSpc>
              <a:buSzPct val="100000"/>
              <a:buChar char="•"/>
              <a:tabLst>
                <a:tab pos="165100" algn="l"/>
              </a:tabLst>
              <a:defRPr sz="2046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Органная педаль 16—32 Гц</a:t>
            </a:r>
          </a:p>
          <a:p>
            <a:pPr marL="186023" indent="-186023" defTabSz="850391">
              <a:lnSpc>
                <a:spcPct val="160000"/>
              </a:lnSpc>
              <a:buSzPct val="100000"/>
              <a:buChar char="•"/>
              <a:tabLst>
                <a:tab pos="165100" algn="l"/>
              </a:tabLst>
              <a:defRPr sz="2046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Синтетический суб-дроп</a:t>
            </a:r>
          </a:p>
          <a:p>
            <a:pPr marL="186023" indent="-186023" defTabSz="850391">
              <a:lnSpc>
                <a:spcPct val="160000"/>
              </a:lnSpc>
              <a:buSzPct val="100000"/>
              <a:buChar char="•"/>
              <a:tabLst>
                <a:tab pos="165100" algn="l"/>
              </a:tabLst>
              <a:defRPr sz="2046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Сцена взрыва из кино</a:t>
            </a:r>
          </a:p>
        </p:txBody>
      </p:sp>
      <p:sp>
        <p:nvSpPr>
          <p:cNvPr id="1374" name="Text 6"/>
          <p:cNvSpPr txBox="1"/>
          <p:nvPr/>
        </p:nvSpPr>
        <p:spPr>
          <a:xfrm>
            <a:off x="9525000" y="2719070"/>
            <a:ext cx="784860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НА ЧТО ОБРАТИТЬ ВНИМАНИЕ</a:t>
            </a:r>
          </a:p>
        </p:txBody>
      </p:sp>
      <p:sp>
        <p:nvSpPr>
          <p:cNvPr id="1375" name="Text 7"/>
          <p:cNvSpPr txBox="1"/>
          <p:nvPr/>
        </p:nvSpPr>
        <p:spPr>
          <a:xfrm>
            <a:off x="9591675" y="3219132"/>
            <a:ext cx="7629525" cy="1866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marL="186023" indent="-186023" defTabSz="850391">
              <a:lnSpc>
                <a:spcPct val="160000"/>
              </a:lnSpc>
              <a:buSzPct val="100000"/>
              <a:buChar char="•"/>
              <a:tabLst>
                <a:tab pos="165100" algn="l"/>
              </a:tabLst>
              <a:defRPr sz="2046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Нет «одной ноты» (one-note bass)</a:t>
            </a:r>
          </a:p>
          <a:p>
            <a:pPr marL="186023" indent="-186023" defTabSz="850391">
              <a:lnSpc>
                <a:spcPct val="160000"/>
              </a:lnSpc>
              <a:buSzPct val="100000"/>
              <a:buChar char="•"/>
              <a:tabLst>
                <a:tab pos="165100" algn="l"/>
              </a:tabLst>
              <a:defRPr sz="2046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Атака мгновенная, без размытия</a:t>
            </a:r>
          </a:p>
          <a:p>
            <a:pPr marL="186023" indent="-186023" defTabSz="850391">
              <a:lnSpc>
                <a:spcPct val="160000"/>
              </a:lnSpc>
              <a:buSzPct val="100000"/>
              <a:buChar char="•"/>
              <a:tabLst>
                <a:tab pos="165100" algn="l"/>
              </a:tabLst>
              <a:defRPr sz="2046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Бас не «торчит» над миксом</a:t>
            </a:r>
          </a:p>
          <a:p>
            <a:pPr marL="186023" indent="-186023" defTabSz="850391">
              <a:lnSpc>
                <a:spcPct val="160000"/>
              </a:lnSpc>
              <a:buSzPct val="100000"/>
              <a:buChar char="•"/>
              <a:tabLst>
                <a:tab pos="165100" algn="l"/>
              </a:tabLst>
              <a:defRPr sz="2046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Локализация не уходит к сабу</a:t>
            </a:r>
          </a:p>
        </p:txBody>
      </p:sp>
      <p:sp>
        <p:nvSpPr>
          <p:cNvPr id="1376" name="Text 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0</a:t>
            </a:r>
            <a:r>
              <a:rPr dirty="0"/>
              <a:t> / 100</a:t>
            </a:r>
          </a:p>
        </p:txBody>
      </p:sp>
      <p:sp>
        <p:nvSpPr>
          <p:cNvPr id="1377" name="Text 9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§08 КАЛИБРОВКА</a:t>
            </a:r>
          </a:p>
        </p:txBody>
      </p:sp>
    </p:spTree>
  </p:cSld>
  <p:clrMapOvr>
    <a:masterClrMapping/>
  </p:clrMapOvr>
  <p:transition spd="med"/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9" name="Text 0"/>
          <p:cNvSpPr txBox="1"/>
          <p:nvPr/>
        </p:nvSpPr>
        <p:spPr>
          <a:xfrm>
            <a:off x="571500" y="380999"/>
            <a:ext cx="331570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062 §08 КАЛИБРОВКА</a:t>
            </a:r>
          </a:p>
        </p:txBody>
      </p:sp>
      <p:sp>
        <p:nvSpPr>
          <p:cNvPr id="1380" name="Text 1"/>
          <p:cNvSpPr txBox="1"/>
          <p:nvPr/>
        </p:nvSpPr>
        <p:spPr>
          <a:xfrm>
            <a:off x="15845789" y="380999"/>
            <a:ext cx="194691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32104">
              <a:defRPr sz="1638" spc="91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ДОКУМЕНТАЦИЯ</a:t>
            </a:r>
          </a:p>
        </p:txBody>
      </p:sp>
      <p:sp>
        <p:nvSpPr>
          <p:cNvPr id="1381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ШАГ 05</a:t>
            </a:r>
          </a:p>
        </p:txBody>
      </p:sp>
      <p:sp>
        <p:nvSpPr>
          <p:cNvPr id="1382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Документируйте пресеты</a:t>
            </a:r>
          </a:p>
        </p:txBody>
      </p:sp>
      <p:sp>
        <p:nvSpPr>
          <p:cNvPr id="1383" name="Shape 4"/>
          <p:cNvSpPr/>
          <p:nvPr/>
        </p:nvSpPr>
        <p:spPr>
          <a:xfrm>
            <a:off x="1143000" y="2874645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84" name="Text 5"/>
          <p:cNvSpPr txBox="1"/>
          <p:nvPr/>
        </p:nvSpPr>
        <p:spPr>
          <a:xfrm>
            <a:off x="1142999" y="3047682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ДАТА ЗАМЕРА</a:t>
            </a:r>
          </a:p>
        </p:txBody>
      </p:sp>
      <p:sp>
        <p:nvSpPr>
          <p:cNvPr id="1385" name="Text 6"/>
          <p:cNvSpPr txBox="1"/>
          <p:nvPr/>
        </p:nvSpPr>
        <p:spPr>
          <a:xfrm>
            <a:off x="7863840" y="3047682"/>
            <a:ext cx="955959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2026-04-14</a:t>
            </a:r>
          </a:p>
        </p:txBody>
      </p:sp>
      <p:sp>
        <p:nvSpPr>
          <p:cNvPr id="1386" name="Shape 7"/>
          <p:cNvSpPr/>
          <p:nvPr/>
        </p:nvSpPr>
        <p:spPr>
          <a:xfrm>
            <a:off x="1143000" y="3548856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87" name="Text 8"/>
          <p:cNvSpPr txBox="1"/>
          <p:nvPr/>
        </p:nvSpPr>
        <p:spPr>
          <a:xfrm>
            <a:off x="1142999" y="3721894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ТЕМПЕРАТУРА</a:t>
            </a:r>
          </a:p>
        </p:txBody>
      </p:sp>
      <p:sp>
        <p:nvSpPr>
          <p:cNvPr id="1388" name="Text 9"/>
          <p:cNvSpPr txBox="1"/>
          <p:nvPr/>
        </p:nvSpPr>
        <p:spPr>
          <a:xfrm>
            <a:off x="7863840" y="3721894"/>
            <a:ext cx="955959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21.5 °C</a:t>
            </a:r>
          </a:p>
        </p:txBody>
      </p:sp>
      <p:sp>
        <p:nvSpPr>
          <p:cNvPr id="1389" name="Shape 10"/>
          <p:cNvSpPr/>
          <p:nvPr/>
        </p:nvSpPr>
        <p:spPr>
          <a:xfrm>
            <a:off x="1143000" y="422306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0" name="Text 11"/>
          <p:cNvSpPr txBox="1"/>
          <p:nvPr/>
        </p:nvSpPr>
        <p:spPr>
          <a:xfrm>
            <a:off x="1142999" y="4396104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ПОЗИЦИЯ САБА</a:t>
            </a:r>
          </a:p>
        </p:txBody>
      </p:sp>
      <p:sp>
        <p:nvSpPr>
          <p:cNvPr id="1391" name="Text 12"/>
          <p:cNvSpPr txBox="1"/>
          <p:nvPr/>
        </p:nvSpPr>
        <p:spPr>
          <a:xfrm>
            <a:off x="7863840" y="4396104"/>
            <a:ext cx="955959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L/4, +10 см от стены</a:t>
            </a:r>
          </a:p>
        </p:txBody>
      </p:sp>
      <p:sp>
        <p:nvSpPr>
          <p:cNvPr id="1392" name="Shape 13"/>
          <p:cNvSpPr/>
          <p:nvPr/>
        </p:nvSpPr>
        <p:spPr>
          <a:xfrm>
            <a:off x="1143000" y="4897278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3" name="Text 14"/>
          <p:cNvSpPr txBox="1"/>
          <p:nvPr/>
        </p:nvSpPr>
        <p:spPr>
          <a:xfrm>
            <a:off x="1142999" y="5070316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КРОССОВЕР</a:t>
            </a:r>
          </a:p>
        </p:txBody>
      </p:sp>
      <p:sp>
        <p:nvSpPr>
          <p:cNvPr id="1394" name="Text 15"/>
          <p:cNvSpPr txBox="1"/>
          <p:nvPr/>
        </p:nvSpPr>
        <p:spPr>
          <a:xfrm>
            <a:off x="7863840" y="5070316"/>
            <a:ext cx="955959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80 Гц, LR-24</a:t>
            </a:r>
          </a:p>
        </p:txBody>
      </p:sp>
      <p:sp>
        <p:nvSpPr>
          <p:cNvPr id="1395" name="Shape 16"/>
          <p:cNvSpPr/>
          <p:nvPr/>
        </p:nvSpPr>
        <p:spPr>
          <a:xfrm>
            <a:off x="1143000" y="5571489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6" name="Text 17"/>
          <p:cNvSpPr txBox="1"/>
          <p:nvPr/>
        </p:nvSpPr>
        <p:spPr>
          <a:xfrm>
            <a:off x="1142999" y="5744526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PEQ 01</a:t>
            </a:r>
          </a:p>
        </p:txBody>
      </p:sp>
      <p:sp>
        <p:nvSpPr>
          <p:cNvPr id="1397" name="Text 18"/>
          <p:cNvSpPr txBox="1"/>
          <p:nvPr/>
        </p:nvSpPr>
        <p:spPr>
          <a:xfrm>
            <a:off x="7863840" y="5744526"/>
            <a:ext cx="955959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42 Гц / −6 дБ / Q 4.0</a:t>
            </a:r>
          </a:p>
        </p:txBody>
      </p:sp>
      <p:sp>
        <p:nvSpPr>
          <p:cNvPr id="1398" name="Shape 19"/>
          <p:cNvSpPr/>
          <p:nvPr/>
        </p:nvSpPr>
        <p:spPr>
          <a:xfrm>
            <a:off x="1143000" y="6245700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399" name="Text 20"/>
          <p:cNvSpPr txBox="1"/>
          <p:nvPr/>
        </p:nvSpPr>
        <p:spPr>
          <a:xfrm>
            <a:off x="1142999" y="6418738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PEQ 02</a:t>
            </a:r>
          </a:p>
        </p:txBody>
      </p:sp>
      <p:sp>
        <p:nvSpPr>
          <p:cNvPr id="1400" name="Text 21"/>
          <p:cNvSpPr txBox="1"/>
          <p:nvPr/>
        </p:nvSpPr>
        <p:spPr>
          <a:xfrm>
            <a:off x="7863840" y="6418738"/>
            <a:ext cx="955959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78 Гц / −3 дБ / Q 2.8</a:t>
            </a:r>
          </a:p>
        </p:txBody>
      </p:sp>
      <p:sp>
        <p:nvSpPr>
          <p:cNvPr id="1401" name="Shape 22"/>
          <p:cNvSpPr/>
          <p:nvPr/>
        </p:nvSpPr>
        <p:spPr>
          <a:xfrm>
            <a:off x="1143000" y="691991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2" name="Text 23"/>
          <p:cNvSpPr txBox="1"/>
          <p:nvPr/>
        </p:nvSpPr>
        <p:spPr>
          <a:xfrm>
            <a:off x="1142999" y="7092949"/>
            <a:ext cx="6922467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ЗАДЕРЖКА</a:t>
            </a:r>
          </a:p>
        </p:txBody>
      </p:sp>
      <p:sp>
        <p:nvSpPr>
          <p:cNvPr id="1403" name="Text 24"/>
          <p:cNvSpPr txBox="1"/>
          <p:nvPr/>
        </p:nvSpPr>
        <p:spPr>
          <a:xfrm>
            <a:off x="7863840" y="7092949"/>
            <a:ext cx="9559596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4.2 мс</a:t>
            </a:r>
          </a:p>
        </p:txBody>
      </p:sp>
      <p:sp>
        <p:nvSpPr>
          <p:cNvPr id="1404" name="Shape 25"/>
          <p:cNvSpPr/>
          <p:nvPr/>
        </p:nvSpPr>
        <p:spPr>
          <a:xfrm>
            <a:off x="1143000" y="8258810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5" name="Shape 26"/>
          <p:cNvSpPr/>
          <p:nvPr/>
        </p:nvSpPr>
        <p:spPr>
          <a:xfrm>
            <a:off x="1143000" y="7594123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06" name="Text 27"/>
          <p:cNvSpPr txBox="1"/>
          <p:nvPr/>
        </p:nvSpPr>
        <p:spPr>
          <a:xfrm>
            <a:off x="1142999" y="7767160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УРОВЕНЬ</a:t>
            </a:r>
          </a:p>
        </p:txBody>
      </p:sp>
      <p:sp>
        <p:nvSpPr>
          <p:cNvPr id="1407" name="Text 28"/>
          <p:cNvSpPr txBox="1"/>
          <p:nvPr/>
        </p:nvSpPr>
        <p:spPr>
          <a:xfrm>
            <a:off x="7863840" y="7767160"/>
            <a:ext cx="955959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−6 дБ от мастера</a:t>
            </a:r>
          </a:p>
        </p:txBody>
      </p:sp>
      <p:sp>
        <p:nvSpPr>
          <p:cNvPr id="1408" name="Text 29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1</a:t>
            </a:r>
            <a:r>
              <a:rPr dirty="0"/>
              <a:t> / 100</a:t>
            </a:r>
          </a:p>
        </p:txBody>
      </p:sp>
      <p:sp>
        <p:nvSpPr>
          <p:cNvPr id="1409" name="Text 30"/>
          <p:cNvSpPr txBox="1"/>
          <p:nvPr/>
        </p:nvSpPr>
        <p:spPr>
          <a:xfrm>
            <a:off x="15534005" y="9672638"/>
            <a:ext cx="2258696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§08 КАЛИБРОВКА</a:t>
            </a:r>
          </a:p>
        </p:txBody>
      </p:sp>
    </p:spTree>
  </p:cSld>
  <p:clrMapOvr>
    <a:masterClrMapping/>
  </p:clrMapOvr>
  <p:transition spd="med"/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1" name="Text 0"/>
          <p:cNvSpPr txBox="1"/>
          <p:nvPr/>
        </p:nvSpPr>
        <p:spPr>
          <a:xfrm>
            <a:off x="1143000" y="5169217"/>
            <a:ext cx="667131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РАЗДЕЛ 09</a:t>
            </a:r>
          </a:p>
        </p:txBody>
      </p:sp>
      <p:sp>
        <p:nvSpPr>
          <p:cNvPr id="1412" name="Text 1"/>
          <p:cNvSpPr txBox="1"/>
          <p:nvPr/>
        </p:nvSpPr>
        <p:spPr>
          <a:xfrm>
            <a:off x="1143000" y="5707379"/>
            <a:ext cx="6671310" cy="347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40079">
              <a:lnSpc>
                <a:spcPct val="82000"/>
              </a:lnSpc>
              <a:defRPr sz="23100" spc="-133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09</a:t>
            </a:r>
          </a:p>
        </p:txBody>
      </p:sp>
      <p:sp>
        <p:nvSpPr>
          <p:cNvPr id="1413" name="Text 2"/>
          <p:cNvSpPr txBox="1"/>
          <p:nvPr/>
        </p:nvSpPr>
        <p:spPr>
          <a:xfrm>
            <a:off x="8381999" y="1813560"/>
            <a:ext cx="9025892" cy="758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04999"/>
              </a:lnSpc>
              <a:defRPr sz="4860" spc="-18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Использование</a:t>
            </a:r>
          </a:p>
        </p:txBody>
      </p:sp>
      <p:sp>
        <p:nvSpPr>
          <p:cNvPr id="1414" name="Text 3"/>
          <p:cNvSpPr txBox="1"/>
          <p:nvPr/>
        </p:nvSpPr>
        <p:spPr>
          <a:xfrm>
            <a:off x="8382000" y="2838449"/>
            <a:ext cx="6867525" cy="861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35000"/>
              </a:lnSpc>
              <a:defRPr sz="2256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lang="ru-RU" dirty="0"/>
              <a:t>Девять</a:t>
            </a:r>
            <a:r>
              <a:rPr dirty="0"/>
              <a:t> </a:t>
            </a:r>
            <a:r>
              <a:rPr dirty="0" err="1"/>
              <a:t>страниц</a:t>
            </a:r>
            <a:r>
              <a:rPr dirty="0"/>
              <a:t> </a:t>
            </a:r>
            <a:r>
              <a:rPr dirty="0" err="1"/>
              <a:t>сценариев</a:t>
            </a:r>
            <a:r>
              <a:rPr dirty="0"/>
              <a:t>: </a:t>
            </a:r>
            <a:r>
              <a:rPr dirty="0" err="1"/>
              <a:t>кино</a:t>
            </a:r>
            <a:r>
              <a:rPr dirty="0"/>
              <a:t>, </a:t>
            </a:r>
            <a:r>
              <a:rPr dirty="0" err="1"/>
              <a:t>музыка</a:t>
            </a:r>
            <a:r>
              <a:rPr dirty="0"/>
              <a:t>, </a:t>
            </a:r>
            <a:r>
              <a:rPr dirty="0" err="1"/>
              <a:t>игры</a:t>
            </a:r>
            <a:r>
              <a:rPr dirty="0"/>
              <a:t>, ТВ, </a:t>
            </a:r>
            <a:r>
              <a:rPr dirty="0" err="1"/>
              <a:t>ресивер</a:t>
            </a:r>
            <a:r>
              <a:rPr dirty="0"/>
              <a:t>, </a:t>
            </a:r>
            <a:r>
              <a:rPr dirty="0" err="1"/>
              <a:t>стерео</a:t>
            </a:r>
            <a:r>
              <a:rPr dirty="0"/>
              <a:t>, DAW, </a:t>
            </a:r>
            <a:r>
              <a:rPr dirty="0" err="1"/>
              <a:t>авто</a:t>
            </a:r>
            <a:r>
              <a:rPr dirty="0"/>
              <a:t>, PA.</a:t>
            </a:r>
          </a:p>
        </p:txBody>
      </p:sp>
      <p:sp>
        <p:nvSpPr>
          <p:cNvPr id="1415" name="Shape 4"/>
          <p:cNvSpPr/>
          <p:nvPr/>
        </p:nvSpPr>
        <p:spPr>
          <a:xfrm>
            <a:off x="8382000" y="392652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6" name="Text 5"/>
          <p:cNvSpPr txBox="1"/>
          <p:nvPr/>
        </p:nvSpPr>
        <p:spPr>
          <a:xfrm>
            <a:off x="8382000" y="4098290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3</a:t>
            </a:r>
            <a:endParaRPr dirty="0"/>
          </a:p>
        </p:txBody>
      </p:sp>
      <p:sp>
        <p:nvSpPr>
          <p:cNvPr id="1417" name="Text 6"/>
          <p:cNvSpPr txBox="1"/>
          <p:nvPr/>
        </p:nvSpPr>
        <p:spPr>
          <a:xfrm>
            <a:off x="9239249" y="407098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Под фильмы</a:t>
            </a:r>
          </a:p>
        </p:txBody>
      </p:sp>
      <p:sp>
        <p:nvSpPr>
          <p:cNvPr id="1418" name="Shape 7"/>
          <p:cNvSpPr/>
          <p:nvPr/>
        </p:nvSpPr>
        <p:spPr>
          <a:xfrm>
            <a:off x="8382000" y="450500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19" name="Text 8"/>
          <p:cNvSpPr txBox="1"/>
          <p:nvPr/>
        </p:nvSpPr>
        <p:spPr>
          <a:xfrm>
            <a:off x="8382000" y="4676774"/>
            <a:ext cx="93345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4</a:t>
            </a:r>
            <a:endParaRPr dirty="0"/>
          </a:p>
        </p:txBody>
      </p:sp>
      <p:sp>
        <p:nvSpPr>
          <p:cNvPr id="1420" name="Text 9"/>
          <p:cNvSpPr txBox="1"/>
          <p:nvPr/>
        </p:nvSpPr>
        <p:spPr>
          <a:xfrm>
            <a:off x="9239249" y="464947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Под музыку</a:t>
            </a:r>
          </a:p>
        </p:txBody>
      </p:sp>
      <p:sp>
        <p:nvSpPr>
          <p:cNvPr id="1421" name="Shape 10"/>
          <p:cNvSpPr/>
          <p:nvPr/>
        </p:nvSpPr>
        <p:spPr>
          <a:xfrm>
            <a:off x="8382000" y="508349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22" name="Text 11"/>
          <p:cNvSpPr txBox="1"/>
          <p:nvPr/>
        </p:nvSpPr>
        <p:spPr>
          <a:xfrm>
            <a:off x="8382000" y="525525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5</a:t>
            </a:r>
            <a:endParaRPr dirty="0"/>
          </a:p>
        </p:txBody>
      </p:sp>
      <p:sp>
        <p:nvSpPr>
          <p:cNvPr id="1423" name="Text 12"/>
          <p:cNvSpPr txBox="1"/>
          <p:nvPr/>
        </p:nvSpPr>
        <p:spPr>
          <a:xfrm>
            <a:off x="9239249" y="522795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Под игры</a:t>
            </a:r>
          </a:p>
        </p:txBody>
      </p:sp>
      <p:sp>
        <p:nvSpPr>
          <p:cNvPr id="1424" name="Shape 13"/>
          <p:cNvSpPr/>
          <p:nvPr/>
        </p:nvSpPr>
        <p:spPr>
          <a:xfrm>
            <a:off x="8382000" y="566197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25" name="Text 14"/>
          <p:cNvSpPr txBox="1"/>
          <p:nvPr/>
        </p:nvSpPr>
        <p:spPr>
          <a:xfrm>
            <a:off x="8382000" y="5833745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6</a:t>
            </a:r>
            <a:endParaRPr dirty="0"/>
          </a:p>
        </p:txBody>
      </p:sp>
      <p:sp>
        <p:nvSpPr>
          <p:cNvPr id="1426" name="Text 15"/>
          <p:cNvSpPr txBox="1"/>
          <p:nvPr/>
        </p:nvSpPr>
        <p:spPr>
          <a:xfrm>
            <a:off x="9239249" y="580644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ТВ через eARC</a:t>
            </a:r>
          </a:p>
        </p:txBody>
      </p:sp>
      <p:sp>
        <p:nvSpPr>
          <p:cNvPr id="1427" name="Shape 16"/>
          <p:cNvSpPr/>
          <p:nvPr/>
        </p:nvSpPr>
        <p:spPr>
          <a:xfrm>
            <a:off x="8382000" y="624046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28" name="Text 17"/>
          <p:cNvSpPr txBox="1"/>
          <p:nvPr/>
        </p:nvSpPr>
        <p:spPr>
          <a:xfrm>
            <a:off x="8382000" y="641222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7</a:t>
            </a:r>
            <a:endParaRPr dirty="0"/>
          </a:p>
        </p:txBody>
      </p:sp>
      <p:sp>
        <p:nvSpPr>
          <p:cNvPr id="1429" name="Text 18"/>
          <p:cNvSpPr txBox="1"/>
          <p:nvPr/>
        </p:nvSpPr>
        <p:spPr>
          <a:xfrm>
            <a:off x="9239249" y="6384924"/>
            <a:ext cx="6180775" cy="340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AV-ресивер — пошагово</a:t>
            </a:r>
          </a:p>
        </p:txBody>
      </p:sp>
      <p:sp>
        <p:nvSpPr>
          <p:cNvPr id="1430" name="Shape 19"/>
          <p:cNvSpPr/>
          <p:nvPr/>
        </p:nvSpPr>
        <p:spPr>
          <a:xfrm>
            <a:off x="8382000" y="681894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31" name="Text 20"/>
          <p:cNvSpPr txBox="1"/>
          <p:nvPr/>
        </p:nvSpPr>
        <p:spPr>
          <a:xfrm>
            <a:off x="8382000" y="6990715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8</a:t>
            </a:r>
            <a:endParaRPr dirty="0"/>
          </a:p>
        </p:txBody>
      </p:sp>
      <p:sp>
        <p:nvSpPr>
          <p:cNvPr id="1432" name="Text 21"/>
          <p:cNvSpPr txBox="1"/>
          <p:nvPr/>
        </p:nvSpPr>
        <p:spPr>
          <a:xfrm>
            <a:off x="9239249" y="6963409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Hi-Fi стерео</a:t>
            </a:r>
          </a:p>
        </p:txBody>
      </p:sp>
      <p:sp>
        <p:nvSpPr>
          <p:cNvPr id="1433" name="Shape 22"/>
          <p:cNvSpPr/>
          <p:nvPr/>
        </p:nvSpPr>
        <p:spPr>
          <a:xfrm>
            <a:off x="8382000" y="739743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34" name="Text 23"/>
          <p:cNvSpPr txBox="1"/>
          <p:nvPr/>
        </p:nvSpPr>
        <p:spPr>
          <a:xfrm>
            <a:off x="8382000" y="7569199"/>
            <a:ext cx="93345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</a:t>
            </a:r>
            <a:r>
              <a:rPr lang="ru-RU" dirty="0"/>
              <a:t>69</a:t>
            </a:r>
            <a:endParaRPr dirty="0"/>
          </a:p>
        </p:txBody>
      </p:sp>
      <p:sp>
        <p:nvSpPr>
          <p:cNvPr id="1435" name="Text 24"/>
          <p:cNvSpPr txBox="1"/>
          <p:nvPr/>
        </p:nvSpPr>
        <p:spPr>
          <a:xfrm>
            <a:off x="9239249" y="754189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DAW в студии</a:t>
            </a:r>
          </a:p>
        </p:txBody>
      </p:sp>
      <p:sp>
        <p:nvSpPr>
          <p:cNvPr id="1436" name="Shape 25"/>
          <p:cNvSpPr/>
          <p:nvPr/>
        </p:nvSpPr>
        <p:spPr>
          <a:xfrm>
            <a:off x="8382000" y="797591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37" name="Text 26"/>
          <p:cNvSpPr txBox="1"/>
          <p:nvPr/>
        </p:nvSpPr>
        <p:spPr>
          <a:xfrm>
            <a:off x="8382000" y="8147684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07</a:t>
            </a:r>
            <a:r>
              <a:rPr lang="ru-RU" dirty="0"/>
              <a:t>0</a:t>
            </a:r>
            <a:endParaRPr dirty="0"/>
          </a:p>
        </p:txBody>
      </p:sp>
      <p:sp>
        <p:nvSpPr>
          <p:cNvPr id="1438" name="Text 27"/>
          <p:cNvSpPr txBox="1"/>
          <p:nvPr/>
        </p:nvSpPr>
        <p:spPr>
          <a:xfrm>
            <a:off x="9239249" y="812038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Авто-саб с процессором</a:t>
            </a:r>
          </a:p>
        </p:txBody>
      </p:sp>
      <p:sp>
        <p:nvSpPr>
          <p:cNvPr id="1439" name="Shape 28"/>
          <p:cNvSpPr/>
          <p:nvPr/>
        </p:nvSpPr>
        <p:spPr>
          <a:xfrm>
            <a:off x="8382000" y="913288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0" name="Shape 29"/>
          <p:cNvSpPr/>
          <p:nvPr/>
        </p:nvSpPr>
        <p:spPr>
          <a:xfrm>
            <a:off x="8382000" y="855440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41" name="Text 30"/>
          <p:cNvSpPr txBox="1"/>
          <p:nvPr/>
        </p:nvSpPr>
        <p:spPr>
          <a:xfrm>
            <a:off x="8382000" y="872616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07</a:t>
            </a:r>
            <a:r>
              <a:rPr lang="ru-RU" dirty="0"/>
              <a:t>1</a:t>
            </a:r>
            <a:endParaRPr dirty="0"/>
          </a:p>
        </p:txBody>
      </p:sp>
      <p:sp>
        <p:nvSpPr>
          <p:cNvPr id="1442" name="Text 31"/>
          <p:cNvSpPr txBox="1"/>
          <p:nvPr/>
        </p:nvSpPr>
        <p:spPr>
          <a:xfrm>
            <a:off x="9239249" y="8698865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PA-стек для клуба</a:t>
            </a:r>
          </a:p>
        </p:txBody>
      </p:sp>
      <p:sp>
        <p:nvSpPr>
          <p:cNvPr id="1443" name="Text 32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2</a:t>
            </a:r>
            <a:r>
              <a:rPr dirty="0"/>
              <a:t> / 100</a:t>
            </a:r>
          </a:p>
        </p:txBody>
      </p:sp>
      <p:sp>
        <p:nvSpPr>
          <p:cNvPr id="1444" name="Text 33"/>
          <p:cNvSpPr txBox="1"/>
          <p:nvPr/>
        </p:nvSpPr>
        <p:spPr>
          <a:xfrm>
            <a:off x="15066326" y="9672638"/>
            <a:ext cx="272967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§09 ИСПОЛЬЗОВАНИЕ</a:t>
            </a:r>
          </a:p>
        </p:txBody>
      </p:sp>
    </p:spTree>
  </p:cSld>
  <p:clrMapOvr>
    <a:masterClrMapping/>
  </p:clrMapOvr>
  <p:transition spd="med"/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6" name="Text 0"/>
          <p:cNvSpPr txBox="1"/>
          <p:nvPr/>
        </p:nvSpPr>
        <p:spPr>
          <a:xfrm>
            <a:off x="571500" y="380999"/>
            <a:ext cx="379741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064 §09 ИСПОЛЬЗОВАНИЕ</a:t>
            </a:r>
          </a:p>
        </p:txBody>
      </p:sp>
      <p:sp>
        <p:nvSpPr>
          <p:cNvPr id="1447" name="Text 1"/>
          <p:cNvSpPr txBox="1"/>
          <p:nvPr/>
        </p:nvSpPr>
        <p:spPr>
          <a:xfrm>
            <a:off x="17092930" y="380999"/>
            <a:ext cx="69977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41247">
              <a:defRPr sz="1656" spc="91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КИНО</a:t>
            </a:r>
          </a:p>
        </p:txBody>
      </p:sp>
      <p:sp>
        <p:nvSpPr>
          <p:cNvPr id="1448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СЦЕНАРИЙ 01</a:t>
            </a:r>
          </a:p>
        </p:txBody>
      </p:sp>
      <p:sp>
        <p:nvSpPr>
          <p:cNvPr id="1449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Настройте саб под фильмы</a:t>
            </a:r>
          </a:p>
        </p:txBody>
      </p:sp>
      <p:sp>
        <p:nvSpPr>
          <p:cNvPr id="1450" name="Shape 4"/>
          <p:cNvSpPr/>
          <p:nvPr/>
        </p:nvSpPr>
        <p:spPr>
          <a:xfrm>
            <a:off x="1143000" y="443483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51" name="Text 5"/>
          <p:cNvSpPr txBox="1"/>
          <p:nvPr/>
        </p:nvSpPr>
        <p:spPr>
          <a:xfrm>
            <a:off x="1143000" y="4607876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PRESET</a:t>
            </a:r>
          </a:p>
        </p:txBody>
      </p:sp>
      <p:sp>
        <p:nvSpPr>
          <p:cNvPr id="1452" name="Text 6"/>
          <p:cNvSpPr txBox="1"/>
          <p:nvPr/>
        </p:nvSpPr>
        <p:spPr>
          <a:xfrm>
            <a:off x="4343399" y="4607876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MOVIE</a:t>
            </a:r>
          </a:p>
        </p:txBody>
      </p:sp>
      <p:sp>
        <p:nvSpPr>
          <p:cNvPr id="1453" name="Shape 7"/>
          <p:cNvSpPr/>
          <p:nvPr/>
        </p:nvSpPr>
        <p:spPr>
          <a:xfrm>
            <a:off x="1143000" y="510905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54" name="Text 8"/>
          <p:cNvSpPr txBox="1"/>
          <p:nvPr/>
        </p:nvSpPr>
        <p:spPr>
          <a:xfrm>
            <a:off x="1143000" y="5282088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КРОССОВЕР</a:t>
            </a:r>
          </a:p>
        </p:txBody>
      </p:sp>
      <p:sp>
        <p:nvSpPr>
          <p:cNvPr id="1455" name="Text 9"/>
          <p:cNvSpPr txBox="1"/>
          <p:nvPr/>
        </p:nvSpPr>
        <p:spPr>
          <a:xfrm>
            <a:off x="4343399" y="5282088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80 Гц</a:t>
            </a:r>
          </a:p>
        </p:txBody>
      </p:sp>
      <p:sp>
        <p:nvSpPr>
          <p:cNvPr id="1456" name="Shape 10"/>
          <p:cNvSpPr/>
          <p:nvPr/>
        </p:nvSpPr>
        <p:spPr>
          <a:xfrm>
            <a:off x="1143000" y="5783262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57" name="Text 11"/>
          <p:cNvSpPr txBox="1"/>
          <p:nvPr/>
        </p:nvSpPr>
        <p:spPr>
          <a:xfrm>
            <a:off x="1143000" y="5956299"/>
            <a:ext cx="3296412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УРОВЕНЬ</a:t>
            </a:r>
          </a:p>
        </p:txBody>
      </p:sp>
      <p:sp>
        <p:nvSpPr>
          <p:cNvPr id="1458" name="Text 12"/>
          <p:cNvSpPr txBox="1"/>
          <p:nvPr/>
        </p:nvSpPr>
        <p:spPr>
          <a:xfrm>
            <a:off x="4343399" y="5956299"/>
            <a:ext cx="4552190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+3…+6 дБ</a:t>
            </a:r>
          </a:p>
        </p:txBody>
      </p:sp>
      <p:sp>
        <p:nvSpPr>
          <p:cNvPr id="1459" name="Shape 13"/>
          <p:cNvSpPr/>
          <p:nvPr/>
        </p:nvSpPr>
        <p:spPr>
          <a:xfrm>
            <a:off x="1143000" y="645747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60" name="Text 14"/>
          <p:cNvSpPr txBox="1"/>
          <p:nvPr/>
        </p:nvSpPr>
        <p:spPr>
          <a:xfrm>
            <a:off x="1143000" y="6630512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EQ</a:t>
            </a:r>
          </a:p>
        </p:txBody>
      </p:sp>
      <p:sp>
        <p:nvSpPr>
          <p:cNvPr id="1461" name="Text 15"/>
          <p:cNvSpPr txBox="1"/>
          <p:nvPr/>
        </p:nvSpPr>
        <p:spPr>
          <a:xfrm>
            <a:off x="4343399" y="6630512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Cinema curve</a:t>
            </a:r>
          </a:p>
        </p:txBody>
      </p:sp>
      <p:sp>
        <p:nvSpPr>
          <p:cNvPr id="1462" name="Shape 16"/>
          <p:cNvSpPr/>
          <p:nvPr/>
        </p:nvSpPr>
        <p:spPr>
          <a:xfrm>
            <a:off x="1143000" y="779637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63" name="Shape 17"/>
          <p:cNvSpPr/>
          <p:nvPr/>
        </p:nvSpPr>
        <p:spPr>
          <a:xfrm>
            <a:off x="1143000" y="713168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64" name="Text 18"/>
          <p:cNvSpPr txBox="1"/>
          <p:nvPr/>
        </p:nvSpPr>
        <p:spPr>
          <a:xfrm>
            <a:off x="1143000" y="7304723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ФАЗА</a:t>
            </a:r>
          </a:p>
        </p:txBody>
      </p:sp>
      <p:sp>
        <p:nvSpPr>
          <p:cNvPr id="1465" name="Text 19"/>
          <p:cNvSpPr txBox="1"/>
          <p:nvPr/>
        </p:nvSpPr>
        <p:spPr>
          <a:xfrm>
            <a:off x="4343399" y="7304723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0° / auto</a:t>
            </a:r>
          </a:p>
        </p:txBody>
      </p:sp>
      <p:sp>
        <p:nvSpPr>
          <p:cNvPr id="1466" name="Text 20"/>
          <p:cNvSpPr txBox="1"/>
          <p:nvPr/>
        </p:nvSpPr>
        <p:spPr>
          <a:xfrm>
            <a:off x="9525000" y="5466238"/>
            <a:ext cx="7848600" cy="1349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35000"/>
              </a:lnSpc>
              <a:defRPr sz="2250" spc="-9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Референс Dolby Cinema: канал LFE имеет +10 дБ headroom. Это заложено в саундтреке, не компенсируйте громкостью комнаты.</a:t>
            </a:r>
          </a:p>
        </p:txBody>
      </p:sp>
      <p:sp>
        <p:nvSpPr>
          <p:cNvPr id="1467" name="Text 21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3</a:t>
            </a:r>
            <a:r>
              <a:rPr dirty="0"/>
              <a:t> / 100</a:t>
            </a:r>
          </a:p>
        </p:txBody>
      </p:sp>
      <p:sp>
        <p:nvSpPr>
          <p:cNvPr id="1468" name="Text 22"/>
          <p:cNvSpPr txBox="1"/>
          <p:nvPr/>
        </p:nvSpPr>
        <p:spPr>
          <a:xfrm>
            <a:off x="15066326" y="9672638"/>
            <a:ext cx="272967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§09 ИСПОЛЬЗОВАНИЕ</a:t>
            </a:r>
          </a:p>
        </p:txBody>
      </p:sp>
    </p:spTree>
  </p:cSld>
  <p:clrMapOvr>
    <a:masterClrMapping/>
  </p:clrMapOvr>
  <p:transition spd="med"/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Text 0"/>
          <p:cNvSpPr txBox="1"/>
          <p:nvPr/>
        </p:nvSpPr>
        <p:spPr>
          <a:xfrm>
            <a:off x="571500" y="380999"/>
            <a:ext cx="379741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065 §09 ИСПОЛЬЗОВАНИЕ</a:t>
            </a:r>
          </a:p>
        </p:txBody>
      </p:sp>
      <p:sp>
        <p:nvSpPr>
          <p:cNvPr id="1471" name="Text 1"/>
          <p:cNvSpPr txBox="1"/>
          <p:nvPr/>
        </p:nvSpPr>
        <p:spPr>
          <a:xfrm>
            <a:off x="16781144" y="380999"/>
            <a:ext cx="1011556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22959">
              <a:defRPr sz="1619" spc="89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МУЗЫКА</a:t>
            </a:r>
          </a:p>
        </p:txBody>
      </p:sp>
      <p:sp>
        <p:nvSpPr>
          <p:cNvPr id="1472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СЦЕНАРИЙ 02</a:t>
            </a:r>
          </a:p>
        </p:txBody>
      </p:sp>
      <p:sp>
        <p:nvSpPr>
          <p:cNvPr id="1473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Настройте саб под музыку</a:t>
            </a:r>
          </a:p>
        </p:txBody>
      </p:sp>
      <p:sp>
        <p:nvSpPr>
          <p:cNvPr id="1474" name="Shape 4"/>
          <p:cNvSpPr/>
          <p:nvPr/>
        </p:nvSpPr>
        <p:spPr>
          <a:xfrm>
            <a:off x="1143000" y="443483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75" name="Text 5"/>
          <p:cNvSpPr txBox="1"/>
          <p:nvPr/>
        </p:nvSpPr>
        <p:spPr>
          <a:xfrm>
            <a:off x="1143000" y="4607876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PRESET</a:t>
            </a:r>
          </a:p>
        </p:txBody>
      </p:sp>
      <p:sp>
        <p:nvSpPr>
          <p:cNvPr id="1476" name="Text 6"/>
          <p:cNvSpPr txBox="1"/>
          <p:nvPr/>
        </p:nvSpPr>
        <p:spPr>
          <a:xfrm>
            <a:off x="4343399" y="4607876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MUSIC</a:t>
            </a:r>
          </a:p>
        </p:txBody>
      </p:sp>
      <p:sp>
        <p:nvSpPr>
          <p:cNvPr id="1477" name="Shape 7"/>
          <p:cNvSpPr/>
          <p:nvPr/>
        </p:nvSpPr>
        <p:spPr>
          <a:xfrm>
            <a:off x="1143000" y="510905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78" name="Text 8"/>
          <p:cNvSpPr txBox="1"/>
          <p:nvPr/>
        </p:nvSpPr>
        <p:spPr>
          <a:xfrm>
            <a:off x="1143000" y="5282088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КРОССОВЕР</a:t>
            </a:r>
          </a:p>
        </p:txBody>
      </p:sp>
      <p:sp>
        <p:nvSpPr>
          <p:cNvPr id="1479" name="Text 9"/>
          <p:cNvSpPr txBox="1"/>
          <p:nvPr/>
        </p:nvSpPr>
        <p:spPr>
          <a:xfrm>
            <a:off x="4343399" y="5282088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60—80 Гц</a:t>
            </a:r>
          </a:p>
        </p:txBody>
      </p:sp>
      <p:sp>
        <p:nvSpPr>
          <p:cNvPr id="1480" name="Shape 10"/>
          <p:cNvSpPr/>
          <p:nvPr/>
        </p:nvSpPr>
        <p:spPr>
          <a:xfrm>
            <a:off x="1143000" y="5783262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1" name="Text 11"/>
          <p:cNvSpPr txBox="1"/>
          <p:nvPr/>
        </p:nvSpPr>
        <p:spPr>
          <a:xfrm>
            <a:off x="1143000" y="5956299"/>
            <a:ext cx="3296412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УРОВЕНЬ</a:t>
            </a:r>
          </a:p>
        </p:txBody>
      </p:sp>
      <p:sp>
        <p:nvSpPr>
          <p:cNvPr id="1482" name="Text 12"/>
          <p:cNvSpPr txBox="1"/>
          <p:nvPr/>
        </p:nvSpPr>
        <p:spPr>
          <a:xfrm>
            <a:off x="4343399" y="5956299"/>
            <a:ext cx="4552190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−3…0 дБ</a:t>
            </a:r>
          </a:p>
        </p:txBody>
      </p:sp>
      <p:sp>
        <p:nvSpPr>
          <p:cNvPr id="1483" name="Shape 13"/>
          <p:cNvSpPr/>
          <p:nvPr/>
        </p:nvSpPr>
        <p:spPr>
          <a:xfrm>
            <a:off x="1143000" y="645747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4" name="Text 14"/>
          <p:cNvSpPr txBox="1"/>
          <p:nvPr/>
        </p:nvSpPr>
        <p:spPr>
          <a:xfrm>
            <a:off x="1143000" y="6630512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EQ</a:t>
            </a:r>
          </a:p>
        </p:txBody>
      </p:sp>
      <p:sp>
        <p:nvSpPr>
          <p:cNvPr id="1485" name="Text 15"/>
          <p:cNvSpPr txBox="1"/>
          <p:nvPr/>
        </p:nvSpPr>
        <p:spPr>
          <a:xfrm>
            <a:off x="4343399" y="6630512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Flat</a:t>
            </a:r>
          </a:p>
        </p:txBody>
      </p:sp>
      <p:sp>
        <p:nvSpPr>
          <p:cNvPr id="1486" name="Shape 16"/>
          <p:cNvSpPr/>
          <p:nvPr/>
        </p:nvSpPr>
        <p:spPr>
          <a:xfrm>
            <a:off x="1143000" y="779637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7" name="Shape 17"/>
          <p:cNvSpPr/>
          <p:nvPr/>
        </p:nvSpPr>
        <p:spPr>
          <a:xfrm>
            <a:off x="1143000" y="713168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88" name="Text 18"/>
          <p:cNvSpPr txBox="1"/>
          <p:nvPr/>
        </p:nvSpPr>
        <p:spPr>
          <a:xfrm>
            <a:off x="1143000" y="7304723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ФАЗА</a:t>
            </a:r>
          </a:p>
        </p:txBody>
      </p:sp>
      <p:sp>
        <p:nvSpPr>
          <p:cNvPr id="1489" name="Text 19"/>
          <p:cNvSpPr txBox="1"/>
          <p:nvPr/>
        </p:nvSpPr>
        <p:spPr>
          <a:xfrm>
            <a:off x="4343399" y="7304723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Подбор по треку</a:t>
            </a:r>
          </a:p>
        </p:txBody>
      </p:sp>
      <p:sp>
        <p:nvSpPr>
          <p:cNvPr id="1490" name="Text 20"/>
          <p:cNvSpPr txBox="1"/>
          <p:nvPr/>
        </p:nvSpPr>
        <p:spPr>
          <a:xfrm>
            <a:off x="9525000" y="5466238"/>
            <a:ext cx="7848600" cy="1349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z="25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Для музыки саб должен «исчезать». Если вы слышите, где саб — уменьшите уровень на 3 дБ.</a:t>
            </a:r>
          </a:p>
        </p:txBody>
      </p:sp>
      <p:sp>
        <p:nvSpPr>
          <p:cNvPr id="1491" name="Text 21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4</a:t>
            </a:r>
            <a:r>
              <a:rPr dirty="0"/>
              <a:t> / 100</a:t>
            </a:r>
          </a:p>
        </p:txBody>
      </p:sp>
      <p:sp>
        <p:nvSpPr>
          <p:cNvPr id="1492" name="Text 22"/>
          <p:cNvSpPr txBox="1"/>
          <p:nvPr/>
        </p:nvSpPr>
        <p:spPr>
          <a:xfrm>
            <a:off x="15066326" y="9672638"/>
            <a:ext cx="272967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§09 ИСПОЛЬЗОВАНИЕ</a:t>
            </a:r>
          </a:p>
        </p:txBody>
      </p:sp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Text 0"/>
          <p:cNvSpPr txBox="1"/>
          <p:nvPr/>
        </p:nvSpPr>
        <p:spPr>
          <a:xfrm>
            <a:off x="571500" y="380999"/>
            <a:ext cx="379741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066 §09 ИСПОЛЬЗОВАНИЕ</a:t>
            </a:r>
          </a:p>
        </p:txBody>
      </p:sp>
      <p:sp>
        <p:nvSpPr>
          <p:cNvPr id="1495" name="Text 1"/>
          <p:cNvSpPr txBox="1"/>
          <p:nvPr/>
        </p:nvSpPr>
        <p:spPr>
          <a:xfrm>
            <a:off x="17092930" y="380999"/>
            <a:ext cx="69977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ИГРЫ</a:t>
            </a:r>
          </a:p>
        </p:txBody>
      </p:sp>
      <p:sp>
        <p:nvSpPr>
          <p:cNvPr id="1496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СЦЕНАРИЙ 03</a:t>
            </a:r>
          </a:p>
        </p:txBody>
      </p:sp>
      <p:sp>
        <p:nvSpPr>
          <p:cNvPr id="1497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Настройте саб под игры</a:t>
            </a:r>
          </a:p>
        </p:txBody>
      </p:sp>
      <p:sp>
        <p:nvSpPr>
          <p:cNvPr id="1498" name="Shape 4"/>
          <p:cNvSpPr/>
          <p:nvPr/>
        </p:nvSpPr>
        <p:spPr>
          <a:xfrm>
            <a:off x="1143000" y="443483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499" name="Text 5"/>
          <p:cNvSpPr txBox="1"/>
          <p:nvPr/>
        </p:nvSpPr>
        <p:spPr>
          <a:xfrm>
            <a:off x="1143000" y="4607876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PRESET</a:t>
            </a:r>
          </a:p>
        </p:txBody>
      </p:sp>
      <p:sp>
        <p:nvSpPr>
          <p:cNvPr id="1500" name="Text 6"/>
          <p:cNvSpPr txBox="1"/>
          <p:nvPr/>
        </p:nvSpPr>
        <p:spPr>
          <a:xfrm>
            <a:off x="4343399" y="4607876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GAME</a:t>
            </a:r>
          </a:p>
        </p:txBody>
      </p:sp>
      <p:sp>
        <p:nvSpPr>
          <p:cNvPr id="1501" name="Shape 7"/>
          <p:cNvSpPr/>
          <p:nvPr/>
        </p:nvSpPr>
        <p:spPr>
          <a:xfrm>
            <a:off x="1143000" y="510905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02" name="Text 8"/>
          <p:cNvSpPr txBox="1"/>
          <p:nvPr/>
        </p:nvSpPr>
        <p:spPr>
          <a:xfrm>
            <a:off x="1143000" y="5282088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КРОССОВЕР</a:t>
            </a:r>
          </a:p>
        </p:txBody>
      </p:sp>
      <p:sp>
        <p:nvSpPr>
          <p:cNvPr id="1503" name="Text 9"/>
          <p:cNvSpPr txBox="1"/>
          <p:nvPr/>
        </p:nvSpPr>
        <p:spPr>
          <a:xfrm>
            <a:off x="4343399" y="5282088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90 Гц</a:t>
            </a:r>
          </a:p>
        </p:txBody>
      </p:sp>
      <p:sp>
        <p:nvSpPr>
          <p:cNvPr id="1504" name="Shape 10"/>
          <p:cNvSpPr/>
          <p:nvPr/>
        </p:nvSpPr>
        <p:spPr>
          <a:xfrm>
            <a:off x="1143000" y="5783262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05" name="Text 11"/>
          <p:cNvSpPr txBox="1"/>
          <p:nvPr/>
        </p:nvSpPr>
        <p:spPr>
          <a:xfrm>
            <a:off x="1143000" y="5956299"/>
            <a:ext cx="3296412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УРОВЕНЬ</a:t>
            </a:r>
          </a:p>
        </p:txBody>
      </p:sp>
      <p:sp>
        <p:nvSpPr>
          <p:cNvPr id="1506" name="Text 12"/>
          <p:cNvSpPr txBox="1"/>
          <p:nvPr/>
        </p:nvSpPr>
        <p:spPr>
          <a:xfrm>
            <a:off x="4343399" y="5956299"/>
            <a:ext cx="4552190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+4…+6 дБ</a:t>
            </a:r>
          </a:p>
        </p:txBody>
      </p:sp>
      <p:sp>
        <p:nvSpPr>
          <p:cNvPr id="1507" name="Shape 13"/>
          <p:cNvSpPr/>
          <p:nvPr/>
        </p:nvSpPr>
        <p:spPr>
          <a:xfrm>
            <a:off x="1143000" y="645747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08" name="Text 14"/>
          <p:cNvSpPr txBox="1"/>
          <p:nvPr/>
        </p:nvSpPr>
        <p:spPr>
          <a:xfrm>
            <a:off x="1143000" y="6630512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EQ</a:t>
            </a:r>
          </a:p>
        </p:txBody>
      </p:sp>
      <p:sp>
        <p:nvSpPr>
          <p:cNvPr id="1509" name="Text 15"/>
          <p:cNvSpPr txBox="1"/>
          <p:nvPr/>
        </p:nvSpPr>
        <p:spPr>
          <a:xfrm>
            <a:off x="4343399" y="6630512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Boost @ 40 Hz</a:t>
            </a:r>
          </a:p>
        </p:txBody>
      </p:sp>
      <p:sp>
        <p:nvSpPr>
          <p:cNvPr id="1510" name="Shape 16"/>
          <p:cNvSpPr/>
          <p:nvPr/>
        </p:nvSpPr>
        <p:spPr>
          <a:xfrm>
            <a:off x="1143000" y="779637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11" name="Shape 17"/>
          <p:cNvSpPr/>
          <p:nvPr/>
        </p:nvSpPr>
        <p:spPr>
          <a:xfrm>
            <a:off x="1143000" y="713168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12" name="Text 18"/>
          <p:cNvSpPr txBox="1"/>
          <p:nvPr/>
        </p:nvSpPr>
        <p:spPr>
          <a:xfrm>
            <a:off x="1143000" y="7304723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ЗАДЕРЖКА</a:t>
            </a:r>
          </a:p>
        </p:txBody>
      </p:sp>
      <p:sp>
        <p:nvSpPr>
          <p:cNvPr id="1513" name="Text 19"/>
          <p:cNvSpPr txBox="1"/>
          <p:nvPr/>
        </p:nvSpPr>
        <p:spPr>
          <a:xfrm>
            <a:off x="4343399" y="7304723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bypass для low-latency</a:t>
            </a:r>
          </a:p>
        </p:txBody>
      </p:sp>
      <p:sp>
        <p:nvSpPr>
          <p:cNvPr id="1514" name="Text 20"/>
          <p:cNvSpPr txBox="1"/>
          <p:nvPr/>
        </p:nvSpPr>
        <p:spPr>
          <a:xfrm>
            <a:off x="9525000" y="5466238"/>
            <a:ext cx="7848600" cy="1349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35000"/>
              </a:lnSpc>
              <a:defRPr sz="2250" spc="-9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 играх динамика sub-60 Hz важнее музыкальности — шаги, взрывы, двигатели должны читаться ниже порога слышимости.</a:t>
            </a:r>
          </a:p>
        </p:txBody>
      </p:sp>
      <p:sp>
        <p:nvSpPr>
          <p:cNvPr id="1515" name="Text 21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5</a:t>
            </a:r>
            <a:r>
              <a:rPr dirty="0"/>
              <a:t> / 100</a:t>
            </a:r>
          </a:p>
        </p:txBody>
      </p:sp>
      <p:sp>
        <p:nvSpPr>
          <p:cNvPr id="1516" name="Text 22"/>
          <p:cNvSpPr txBox="1"/>
          <p:nvPr/>
        </p:nvSpPr>
        <p:spPr>
          <a:xfrm>
            <a:off x="15066326" y="9672638"/>
            <a:ext cx="272967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§09 ИСПОЛЬЗОВАНИЕ</a:t>
            </a:r>
          </a:p>
        </p:txBody>
      </p:sp>
    </p:spTree>
  </p:cSld>
  <p:clrMapOvr>
    <a:masterClrMapping/>
  </p:clrMapOvr>
  <p:transition spd="med"/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8" name="Text 0"/>
          <p:cNvSpPr txBox="1"/>
          <p:nvPr/>
        </p:nvSpPr>
        <p:spPr>
          <a:xfrm>
            <a:off x="571500" y="380999"/>
            <a:ext cx="379741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067 §09 ИСПОЛЬЗОВАНИЕ</a:t>
            </a:r>
          </a:p>
        </p:txBody>
      </p:sp>
      <p:sp>
        <p:nvSpPr>
          <p:cNvPr id="1519" name="Text 1"/>
          <p:cNvSpPr txBox="1"/>
          <p:nvPr/>
        </p:nvSpPr>
        <p:spPr>
          <a:xfrm>
            <a:off x="16313466" y="380999"/>
            <a:ext cx="147923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ТВ · EARC</a:t>
            </a:r>
          </a:p>
        </p:txBody>
      </p:sp>
      <p:sp>
        <p:nvSpPr>
          <p:cNvPr id="1520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ИНТЕГРАЦИЯ</a:t>
            </a:r>
          </a:p>
        </p:txBody>
      </p:sp>
      <p:sp>
        <p:nvSpPr>
          <p:cNvPr id="1521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Интегрируйте саб с ТВ через eARC</a:t>
            </a:r>
          </a:p>
        </p:txBody>
      </p:sp>
      <p:sp>
        <p:nvSpPr>
          <p:cNvPr id="1522" name="Shape 4"/>
          <p:cNvSpPr/>
          <p:nvPr/>
        </p:nvSpPr>
        <p:spPr>
          <a:xfrm>
            <a:off x="1143000" y="3582034"/>
            <a:ext cx="7620000" cy="50800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523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2571" y="3844607"/>
            <a:ext cx="6840857" cy="4554856"/>
          </a:xfrm>
          <a:prstGeom prst="rect">
            <a:avLst/>
          </a:prstGeom>
          <a:ln w="12700">
            <a:miter lim="400000"/>
          </a:ln>
        </p:spPr>
      </p:pic>
      <p:sp>
        <p:nvSpPr>
          <p:cNvPr id="1524" name="Text 5"/>
          <p:cNvSpPr txBox="1"/>
          <p:nvPr/>
        </p:nvSpPr>
        <p:spPr>
          <a:xfrm>
            <a:off x="1381125" y="3782059"/>
            <a:ext cx="163512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EARC CHAIN</a:t>
            </a:r>
          </a:p>
        </p:txBody>
      </p:sp>
      <p:sp>
        <p:nvSpPr>
          <p:cNvPr id="1525" name="Shape 6"/>
          <p:cNvSpPr/>
          <p:nvPr/>
        </p:nvSpPr>
        <p:spPr>
          <a:xfrm>
            <a:off x="9525000" y="386778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26" name="Text 7"/>
          <p:cNvSpPr txBox="1"/>
          <p:nvPr/>
        </p:nvSpPr>
        <p:spPr>
          <a:xfrm>
            <a:off x="9525000" y="4150836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1527" name="Text 8"/>
          <p:cNvSpPr txBox="1"/>
          <p:nvPr/>
        </p:nvSpPr>
        <p:spPr>
          <a:xfrm>
            <a:off x="10668000" y="4088448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 меню ТВ включите eARC</a:t>
            </a:r>
          </a:p>
        </p:txBody>
      </p:sp>
      <p:sp>
        <p:nvSpPr>
          <p:cNvPr id="1528" name="Shape 9"/>
          <p:cNvSpPr/>
          <p:nvPr/>
        </p:nvSpPr>
        <p:spPr>
          <a:xfrm>
            <a:off x="9525000" y="495934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29" name="Text 10"/>
          <p:cNvSpPr txBox="1"/>
          <p:nvPr/>
        </p:nvSpPr>
        <p:spPr>
          <a:xfrm>
            <a:off x="9525000" y="5242400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1530" name="Text 11"/>
          <p:cNvSpPr txBox="1"/>
          <p:nvPr/>
        </p:nvSpPr>
        <p:spPr>
          <a:xfrm>
            <a:off x="10668000" y="5180012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Выставите аудиоформат Bitstream</a:t>
            </a:r>
          </a:p>
        </p:txBody>
      </p:sp>
      <p:sp>
        <p:nvSpPr>
          <p:cNvPr id="1531" name="Shape 12"/>
          <p:cNvSpPr/>
          <p:nvPr/>
        </p:nvSpPr>
        <p:spPr>
          <a:xfrm>
            <a:off x="9525000" y="605091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32" name="Text 13"/>
          <p:cNvSpPr txBox="1"/>
          <p:nvPr/>
        </p:nvSpPr>
        <p:spPr>
          <a:xfrm>
            <a:off x="9525000" y="6333966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1533" name="Text 14"/>
          <p:cNvSpPr txBox="1"/>
          <p:nvPr/>
        </p:nvSpPr>
        <p:spPr>
          <a:xfrm>
            <a:off x="10668000" y="6271578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На саундбаре выберите вход eARC</a:t>
            </a:r>
          </a:p>
        </p:txBody>
      </p:sp>
      <p:sp>
        <p:nvSpPr>
          <p:cNvPr id="1534" name="Shape 15"/>
          <p:cNvSpPr/>
          <p:nvPr/>
        </p:nvSpPr>
        <p:spPr>
          <a:xfrm>
            <a:off x="9525000" y="836358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35" name="Shape 16"/>
          <p:cNvSpPr/>
          <p:nvPr/>
        </p:nvSpPr>
        <p:spPr>
          <a:xfrm>
            <a:off x="9525000" y="714247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36" name="Text 17"/>
          <p:cNvSpPr txBox="1"/>
          <p:nvPr/>
        </p:nvSpPr>
        <p:spPr>
          <a:xfrm>
            <a:off x="9525000" y="7425531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1537" name="Text 18"/>
          <p:cNvSpPr txBox="1"/>
          <p:nvPr/>
        </p:nvSpPr>
        <p:spPr>
          <a:xfrm>
            <a:off x="10668000" y="7363142"/>
            <a:ext cx="6671310" cy="8305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68680">
              <a:lnSpc>
                <a:spcPct val="130000"/>
              </a:lnSpc>
              <a:defRPr sz="2280" spc="-95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Соедините саундбар с сабом через wireless или XLR</a:t>
            </a:r>
          </a:p>
        </p:txBody>
      </p:sp>
      <p:sp>
        <p:nvSpPr>
          <p:cNvPr id="1538" name="Text 19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6</a:t>
            </a:r>
            <a:r>
              <a:rPr dirty="0"/>
              <a:t> / 100</a:t>
            </a:r>
          </a:p>
        </p:txBody>
      </p:sp>
      <p:sp>
        <p:nvSpPr>
          <p:cNvPr id="1539" name="Text 20"/>
          <p:cNvSpPr txBox="1"/>
          <p:nvPr/>
        </p:nvSpPr>
        <p:spPr>
          <a:xfrm>
            <a:off x="15066326" y="9672638"/>
            <a:ext cx="272967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§09 ИСПОЛЬЗОВАНИЕ</a:t>
            </a:r>
          </a:p>
        </p:txBody>
      </p: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1" name="Text 0"/>
          <p:cNvSpPr txBox="1"/>
          <p:nvPr/>
        </p:nvSpPr>
        <p:spPr>
          <a:xfrm>
            <a:off x="571500" y="380999"/>
            <a:ext cx="379741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068 §09 ИСПОЛЬЗОВАНИЕ</a:t>
            </a:r>
          </a:p>
        </p:txBody>
      </p:sp>
      <p:sp>
        <p:nvSpPr>
          <p:cNvPr id="1542" name="Text 1"/>
          <p:cNvSpPr txBox="1"/>
          <p:nvPr/>
        </p:nvSpPr>
        <p:spPr>
          <a:xfrm>
            <a:off x="17248823" y="380999"/>
            <a:ext cx="5438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AVR</a:t>
            </a:r>
          </a:p>
        </p:txBody>
      </p:sp>
      <p:sp>
        <p:nvSpPr>
          <p:cNvPr id="1543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ИНТЕГРАЦИЯ</a:t>
            </a:r>
          </a:p>
        </p:txBody>
      </p:sp>
      <p:sp>
        <p:nvSpPr>
          <p:cNvPr id="1544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Связка с AV-ресивером — пошагово</a:t>
            </a:r>
          </a:p>
        </p:txBody>
      </p:sp>
      <p:sp>
        <p:nvSpPr>
          <p:cNvPr id="1545" name="Shape 4"/>
          <p:cNvSpPr/>
          <p:nvPr/>
        </p:nvSpPr>
        <p:spPr>
          <a:xfrm>
            <a:off x="1143000" y="279368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46" name="Text 5"/>
          <p:cNvSpPr txBox="1"/>
          <p:nvPr/>
        </p:nvSpPr>
        <p:spPr>
          <a:xfrm>
            <a:off x="1143000" y="307673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1547" name="Text 6"/>
          <p:cNvSpPr txBox="1"/>
          <p:nvPr/>
        </p:nvSpPr>
        <p:spPr>
          <a:xfrm>
            <a:off x="2286000" y="301434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 меню ресивера выберите Speaker Setup → Subwoofer: Yes</a:t>
            </a:r>
          </a:p>
        </p:txBody>
      </p:sp>
      <p:sp>
        <p:nvSpPr>
          <p:cNvPr id="1548" name="Shape 7"/>
          <p:cNvSpPr/>
          <p:nvPr/>
        </p:nvSpPr>
        <p:spPr>
          <a:xfrm>
            <a:off x="1143000" y="388524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49" name="Text 8"/>
          <p:cNvSpPr txBox="1"/>
          <p:nvPr/>
        </p:nvSpPr>
        <p:spPr>
          <a:xfrm>
            <a:off x="1143000" y="4168299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1550" name="Text 9"/>
          <p:cNvSpPr txBox="1"/>
          <p:nvPr/>
        </p:nvSpPr>
        <p:spPr>
          <a:xfrm>
            <a:off x="2286000" y="4105909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Размер всех сателлитов: Small</a:t>
            </a:r>
          </a:p>
        </p:txBody>
      </p:sp>
      <p:sp>
        <p:nvSpPr>
          <p:cNvPr id="1551" name="Shape 10"/>
          <p:cNvSpPr/>
          <p:nvPr/>
        </p:nvSpPr>
        <p:spPr>
          <a:xfrm>
            <a:off x="1143000" y="497681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2" name="Text 11"/>
          <p:cNvSpPr txBox="1"/>
          <p:nvPr/>
        </p:nvSpPr>
        <p:spPr>
          <a:xfrm>
            <a:off x="1143000" y="525986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1553" name="Text 12"/>
          <p:cNvSpPr txBox="1"/>
          <p:nvPr/>
        </p:nvSpPr>
        <p:spPr>
          <a:xfrm>
            <a:off x="2286000" y="5197474"/>
            <a:ext cx="15304770" cy="434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Crossover: 80 Гц (Audyssey / Dirac применят свой)</a:t>
            </a:r>
          </a:p>
        </p:txBody>
      </p:sp>
      <p:sp>
        <p:nvSpPr>
          <p:cNvPr id="1554" name="Shape 13"/>
          <p:cNvSpPr/>
          <p:nvPr/>
        </p:nvSpPr>
        <p:spPr>
          <a:xfrm>
            <a:off x="1143000" y="606837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5" name="Text 14"/>
          <p:cNvSpPr txBox="1"/>
          <p:nvPr/>
        </p:nvSpPr>
        <p:spPr>
          <a:xfrm>
            <a:off x="1143000" y="6351428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1556" name="Text 15"/>
          <p:cNvSpPr txBox="1"/>
          <p:nvPr/>
        </p:nvSpPr>
        <p:spPr>
          <a:xfrm>
            <a:off x="2286000" y="6289040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LFE + Main: Off (иначе задвоение низов)</a:t>
            </a:r>
          </a:p>
        </p:txBody>
      </p:sp>
      <p:sp>
        <p:nvSpPr>
          <p:cNvPr id="1557" name="Shape 16"/>
          <p:cNvSpPr/>
          <p:nvPr/>
        </p:nvSpPr>
        <p:spPr>
          <a:xfrm>
            <a:off x="1143000" y="715994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58" name="Text 17"/>
          <p:cNvSpPr txBox="1"/>
          <p:nvPr/>
        </p:nvSpPr>
        <p:spPr>
          <a:xfrm>
            <a:off x="1143000" y="744299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</a:t>
            </a:r>
          </a:p>
        </p:txBody>
      </p:sp>
      <p:sp>
        <p:nvSpPr>
          <p:cNvPr id="1559" name="Text 18"/>
          <p:cNvSpPr txBox="1"/>
          <p:nvPr/>
        </p:nvSpPr>
        <p:spPr>
          <a:xfrm>
            <a:off x="2286000" y="738060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Запустите авто-калибровку с микрофоном ресивера</a:t>
            </a:r>
          </a:p>
        </p:txBody>
      </p:sp>
      <p:sp>
        <p:nvSpPr>
          <p:cNvPr id="1560" name="Shape 19"/>
          <p:cNvSpPr/>
          <p:nvPr/>
        </p:nvSpPr>
        <p:spPr>
          <a:xfrm>
            <a:off x="1143000" y="907637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1" name="Shape 20"/>
          <p:cNvSpPr/>
          <p:nvPr/>
        </p:nvSpPr>
        <p:spPr>
          <a:xfrm>
            <a:off x="1143000" y="825150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62" name="Text 21"/>
          <p:cNvSpPr txBox="1"/>
          <p:nvPr/>
        </p:nvSpPr>
        <p:spPr>
          <a:xfrm>
            <a:off x="1143000" y="8534558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06</a:t>
            </a:r>
          </a:p>
        </p:txBody>
      </p:sp>
      <p:sp>
        <p:nvSpPr>
          <p:cNvPr id="1563" name="Text 22"/>
          <p:cNvSpPr txBox="1"/>
          <p:nvPr/>
        </p:nvSpPr>
        <p:spPr>
          <a:xfrm>
            <a:off x="2286000" y="8472169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Проверьте уровень тестовым тоном ресивера</a:t>
            </a:r>
          </a:p>
        </p:txBody>
      </p:sp>
      <p:sp>
        <p:nvSpPr>
          <p:cNvPr id="1564" name="Text 23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7</a:t>
            </a:r>
            <a:r>
              <a:rPr dirty="0"/>
              <a:t> / 100</a:t>
            </a:r>
          </a:p>
        </p:txBody>
      </p:sp>
      <p:sp>
        <p:nvSpPr>
          <p:cNvPr id="1565" name="Text 24"/>
          <p:cNvSpPr txBox="1"/>
          <p:nvPr/>
        </p:nvSpPr>
        <p:spPr>
          <a:xfrm>
            <a:off x="15066326" y="9672638"/>
            <a:ext cx="272967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§09 ИСПОЛЬЗОВАНИЕ</a:t>
            </a:r>
          </a:p>
        </p:txBody>
      </p:sp>
    </p:spTree>
  </p:cSld>
  <p:clrMapOvr>
    <a:masterClrMapping/>
  </p:clrMapOvr>
  <p:transition spd="med"/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7" name="Text 0"/>
          <p:cNvSpPr txBox="1"/>
          <p:nvPr/>
        </p:nvSpPr>
        <p:spPr>
          <a:xfrm>
            <a:off x="571500" y="380999"/>
            <a:ext cx="379741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069 §09 ИСПОЛЬЗОВАНИЕ</a:t>
            </a:r>
          </a:p>
        </p:txBody>
      </p:sp>
      <p:sp>
        <p:nvSpPr>
          <p:cNvPr id="1568" name="Text 1"/>
          <p:cNvSpPr txBox="1"/>
          <p:nvPr/>
        </p:nvSpPr>
        <p:spPr>
          <a:xfrm>
            <a:off x="16937037" y="380999"/>
            <a:ext cx="855663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HI-FI</a:t>
            </a:r>
          </a:p>
        </p:txBody>
      </p:sp>
      <p:sp>
        <p:nvSpPr>
          <p:cNvPr id="1569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ИНТЕГРАЦИЯ</a:t>
            </a:r>
          </a:p>
        </p:txBody>
      </p:sp>
      <p:sp>
        <p:nvSpPr>
          <p:cNvPr id="1570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Связка с Hi-Fi стерео — через high-level</a:t>
            </a:r>
          </a:p>
        </p:txBody>
      </p:sp>
      <p:sp>
        <p:nvSpPr>
          <p:cNvPr id="1571" name="Text 4"/>
          <p:cNvSpPr txBox="1"/>
          <p:nvPr/>
        </p:nvSpPr>
        <p:spPr>
          <a:xfrm>
            <a:off x="1143000" y="5197633"/>
            <a:ext cx="7848600" cy="1349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35000"/>
              </a:lnSpc>
              <a:defRPr sz="2250" spc="-9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У интегрального усилителя обычно нет LFE. Снимайте сигнал с клемм акустики — это сохранит звуковую сигнатуру вашего amp.</a:t>
            </a:r>
          </a:p>
        </p:txBody>
      </p:sp>
      <p:sp>
        <p:nvSpPr>
          <p:cNvPr id="1572" name="Text 5"/>
          <p:cNvSpPr txBox="1"/>
          <p:nvPr/>
        </p:nvSpPr>
        <p:spPr>
          <a:xfrm>
            <a:off x="1143000" y="6737825"/>
            <a:ext cx="7848600" cy="346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>
              <a:lnSpc>
                <a:spcPct val="135000"/>
              </a:lnSpc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ДЛИНА HIGH-LEVEL КАБЕЛЯ ДО 8 М</a:t>
            </a:r>
          </a:p>
        </p:txBody>
      </p:sp>
      <p:sp>
        <p:nvSpPr>
          <p:cNvPr id="1573" name="Shape 6"/>
          <p:cNvSpPr/>
          <p:nvPr/>
        </p:nvSpPr>
        <p:spPr>
          <a:xfrm>
            <a:off x="9525000" y="3191192"/>
            <a:ext cx="7620000" cy="5861527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574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14573" y="3492817"/>
            <a:ext cx="6840856" cy="5258118"/>
          </a:xfrm>
          <a:prstGeom prst="rect">
            <a:avLst/>
          </a:prstGeom>
          <a:ln w="12700">
            <a:miter lim="400000"/>
          </a:ln>
        </p:spPr>
      </p:pic>
      <p:sp>
        <p:nvSpPr>
          <p:cNvPr id="1575" name="Text 7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06</a:t>
            </a:r>
            <a:r>
              <a:rPr lang="ru-RU" dirty="0"/>
              <a:t>8</a:t>
            </a:r>
            <a:r>
              <a:rPr dirty="0"/>
              <a:t> / 100</a:t>
            </a:r>
          </a:p>
        </p:txBody>
      </p:sp>
      <p:sp>
        <p:nvSpPr>
          <p:cNvPr id="1576" name="Text 8"/>
          <p:cNvSpPr txBox="1"/>
          <p:nvPr/>
        </p:nvSpPr>
        <p:spPr>
          <a:xfrm>
            <a:off x="15066326" y="9672638"/>
            <a:ext cx="272967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§09 ИСПОЛЬЗОВАНИЕ</a:t>
            </a:r>
          </a:p>
        </p:txBody>
      </p:sp>
    </p:spTree>
  </p:cSld>
  <p:clrMapOvr>
    <a:masterClrMapping/>
  </p:clrMapOvr>
  <p:transition spd="med"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Text 0"/>
          <p:cNvSpPr txBox="1"/>
          <p:nvPr/>
        </p:nvSpPr>
        <p:spPr>
          <a:xfrm>
            <a:off x="571500" y="380999"/>
            <a:ext cx="379741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070 §09 ИСПОЛЬЗОВАНИЕ</a:t>
            </a:r>
          </a:p>
        </p:txBody>
      </p:sp>
      <p:sp>
        <p:nvSpPr>
          <p:cNvPr id="1579" name="Text 1"/>
          <p:cNvSpPr txBox="1"/>
          <p:nvPr/>
        </p:nvSpPr>
        <p:spPr>
          <a:xfrm>
            <a:off x="17248823" y="380999"/>
            <a:ext cx="5438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13816">
              <a:defRPr sz="1602" spc="89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DAW</a:t>
            </a:r>
          </a:p>
        </p:txBody>
      </p:sp>
      <p:sp>
        <p:nvSpPr>
          <p:cNvPr id="1580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СТУДИЯ</a:t>
            </a:r>
          </a:p>
        </p:txBody>
      </p:sp>
      <p:sp>
        <p:nvSpPr>
          <p:cNvPr id="1581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Связка с DAW в студии</a:t>
            </a:r>
          </a:p>
        </p:txBody>
      </p:sp>
      <p:sp>
        <p:nvSpPr>
          <p:cNvPr id="1582" name="Shape 4"/>
          <p:cNvSpPr/>
          <p:nvPr/>
        </p:nvSpPr>
        <p:spPr>
          <a:xfrm>
            <a:off x="1143000" y="279368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83" name="Text 5"/>
          <p:cNvSpPr txBox="1"/>
          <p:nvPr/>
        </p:nvSpPr>
        <p:spPr>
          <a:xfrm>
            <a:off x="1143000" y="307673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1584" name="Text 6"/>
          <p:cNvSpPr txBox="1"/>
          <p:nvPr/>
        </p:nvSpPr>
        <p:spPr>
          <a:xfrm>
            <a:off x="2286000" y="301434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 интерфейсе выделите пару для мониторов и mono-выход для саба</a:t>
            </a:r>
          </a:p>
        </p:txBody>
      </p:sp>
      <p:sp>
        <p:nvSpPr>
          <p:cNvPr id="1585" name="Shape 7"/>
          <p:cNvSpPr/>
          <p:nvPr/>
        </p:nvSpPr>
        <p:spPr>
          <a:xfrm>
            <a:off x="1143000" y="388524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86" name="Text 8"/>
          <p:cNvSpPr txBox="1"/>
          <p:nvPr/>
        </p:nvSpPr>
        <p:spPr>
          <a:xfrm>
            <a:off x="1143000" y="4168299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1587" name="Text 9"/>
          <p:cNvSpPr txBox="1"/>
          <p:nvPr/>
        </p:nvSpPr>
        <p:spPr>
          <a:xfrm>
            <a:off x="2286000" y="4105909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Вставьте LPF 80 Гц на sub-шину в DAW</a:t>
            </a:r>
          </a:p>
        </p:txBody>
      </p:sp>
      <p:sp>
        <p:nvSpPr>
          <p:cNvPr id="1588" name="Shape 10"/>
          <p:cNvSpPr/>
          <p:nvPr/>
        </p:nvSpPr>
        <p:spPr>
          <a:xfrm>
            <a:off x="1143000" y="497681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89" name="Text 11"/>
          <p:cNvSpPr txBox="1"/>
          <p:nvPr/>
        </p:nvSpPr>
        <p:spPr>
          <a:xfrm>
            <a:off x="1143000" y="525986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1590" name="Text 12"/>
          <p:cNvSpPr txBox="1"/>
          <p:nvPr/>
        </p:nvSpPr>
        <p:spPr>
          <a:xfrm>
            <a:off x="2286000" y="5197474"/>
            <a:ext cx="15304770" cy="434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dirty="0" err="1"/>
              <a:t>Отключите</a:t>
            </a:r>
            <a:r>
              <a:rPr dirty="0"/>
              <a:t> </a:t>
            </a:r>
            <a:r>
              <a:rPr dirty="0" err="1"/>
              <a:t>родной</a:t>
            </a:r>
            <a:r>
              <a:rPr dirty="0"/>
              <a:t> </a:t>
            </a:r>
            <a:r>
              <a:rPr dirty="0" err="1"/>
              <a:t>кроссовер</a:t>
            </a:r>
            <a:r>
              <a:rPr dirty="0"/>
              <a:t> </a:t>
            </a:r>
            <a:r>
              <a:rPr dirty="0" err="1"/>
              <a:t>саба</a:t>
            </a:r>
            <a:endParaRPr dirty="0"/>
          </a:p>
        </p:txBody>
      </p:sp>
      <p:sp>
        <p:nvSpPr>
          <p:cNvPr id="1591" name="Shape 13"/>
          <p:cNvSpPr/>
          <p:nvPr/>
        </p:nvSpPr>
        <p:spPr>
          <a:xfrm>
            <a:off x="1143000" y="606837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92" name="Text 14"/>
          <p:cNvSpPr txBox="1"/>
          <p:nvPr/>
        </p:nvSpPr>
        <p:spPr>
          <a:xfrm>
            <a:off x="1143000" y="6351428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1593" name="Text 15"/>
          <p:cNvSpPr txBox="1"/>
          <p:nvPr/>
        </p:nvSpPr>
        <p:spPr>
          <a:xfrm>
            <a:off x="2286000" y="6289040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Калибруйте по K-System (K-20 для мастеринга)</a:t>
            </a:r>
          </a:p>
        </p:txBody>
      </p:sp>
      <p:sp>
        <p:nvSpPr>
          <p:cNvPr id="1594" name="Shape 16"/>
          <p:cNvSpPr/>
          <p:nvPr/>
        </p:nvSpPr>
        <p:spPr>
          <a:xfrm>
            <a:off x="1143000" y="798480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95" name="Shape 17"/>
          <p:cNvSpPr/>
          <p:nvPr/>
        </p:nvSpPr>
        <p:spPr>
          <a:xfrm>
            <a:off x="1143000" y="715994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596" name="Text 18"/>
          <p:cNvSpPr txBox="1"/>
          <p:nvPr/>
        </p:nvSpPr>
        <p:spPr>
          <a:xfrm>
            <a:off x="1143000" y="744299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</a:t>
            </a:r>
          </a:p>
        </p:txBody>
      </p:sp>
      <p:sp>
        <p:nvSpPr>
          <p:cNvPr id="1597" name="Text 19"/>
          <p:cNvSpPr txBox="1"/>
          <p:nvPr/>
        </p:nvSpPr>
        <p:spPr>
          <a:xfrm>
            <a:off x="2286000" y="738060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Проверьте mono-совместимость низа на каждом миксе</a:t>
            </a:r>
          </a:p>
        </p:txBody>
      </p:sp>
      <p:sp>
        <p:nvSpPr>
          <p:cNvPr id="1598" name="Text 20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</a:t>
            </a:r>
            <a:r>
              <a:rPr lang="ru-RU" dirty="0"/>
              <a:t>69</a:t>
            </a:r>
            <a:r>
              <a:rPr dirty="0"/>
              <a:t> / 100</a:t>
            </a:r>
          </a:p>
        </p:txBody>
      </p:sp>
      <p:sp>
        <p:nvSpPr>
          <p:cNvPr id="1599" name="Text 21"/>
          <p:cNvSpPr txBox="1"/>
          <p:nvPr/>
        </p:nvSpPr>
        <p:spPr>
          <a:xfrm>
            <a:off x="15066326" y="9672638"/>
            <a:ext cx="272967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§09 ИСПОЛЬЗОВАНИЕ</a:t>
            </a:r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1" name="Text 0"/>
          <p:cNvSpPr txBox="1"/>
          <p:nvPr/>
        </p:nvSpPr>
        <p:spPr>
          <a:xfrm>
            <a:off x="571500" y="380999"/>
            <a:ext cx="379741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071 §09 ИСПОЛЬЗОВАНИЕ</a:t>
            </a:r>
          </a:p>
        </p:txBody>
      </p:sp>
      <p:sp>
        <p:nvSpPr>
          <p:cNvPr id="1602" name="Text 1"/>
          <p:cNvSpPr txBox="1"/>
          <p:nvPr/>
        </p:nvSpPr>
        <p:spPr>
          <a:xfrm>
            <a:off x="16625253" y="380999"/>
            <a:ext cx="116744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CAR DSP</a:t>
            </a:r>
          </a:p>
        </p:txBody>
      </p:sp>
      <p:sp>
        <p:nvSpPr>
          <p:cNvPr id="1603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АВТО</a:t>
            </a:r>
          </a:p>
        </p:txBody>
      </p:sp>
      <p:sp>
        <p:nvSpPr>
          <p:cNvPr id="1604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Установите авто-саб с процессором</a:t>
            </a:r>
          </a:p>
        </p:txBody>
      </p:sp>
      <p:sp>
        <p:nvSpPr>
          <p:cNvPr id="1605" name="Text 4"/>
          <p:cNvSpPr txBox="1"/>
          <p:nvPr/>
        </p:nvSpPr>
        <p:spPr>
          <a:xfrm>
            <a:off x="1143000" y="5197633"/>
            <a:ext cx="7848600" cy="1349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35000"/>
              </a:lnSpc>
              <a:defRPr sz="2250" spc="-9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 автомобиле компенсируйте транспортный шум и асимметрию позиции. DSP делает это точнее, чем родная магнитола.</a:t>
            </a:r>
          </a:p>
        </p:txBody>
      </p:sp>
      <p:sp>
        <p:nvSpPr>
          <p:cNvPr id="1606" name="Text 5"/>
          <p:cNvSpPr txBox="1"/>
          <p:nvPr/>
        </p:nvSpPr>
        <p:spPr>
          <a:xfrm>
            <a:off x="1143000" y="6737825"/>
            <a:ext cx="7848600" cy="346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>
              <a:lnSpc>
                <a:spcPct val="135000"/>
              </a:lnSpc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ВРЕМЯ ARRIVAL-ВЫРАВНИВАНИЯ: КРИТИЧНО ДЛЯ STAGE</a:t>
            </a:r>
          </a:p>
        </p:txBody>
      </p:sp>
      <p:sp>
        <p:nvSpPr>
          <p:cNvPr id="1607" name="Shape 6"/>
          <p:cNvSpPr/>
          <p:nvPr/>
        </p:nvSpPr>
        <p:spPr>
          <a:xfrm>
            <a:off x="9525000" y="477202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08" name="Text 7"/>
          <p:cNvSpPr txBox="1"/>
          <p:nvPr/>
        </p:nvSpPr>
        <p:spPr>
          <a:xfrm>
            <a:off x="9525000" y="4945062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LPF САБА</a:t>
            </a:r>
          </a:p>
        </p:txBody>
      </p:sp>
      <p:sp>
        <p:nvSpPr>
          <p:cNvPr id="1609" name="Text 8"/>
          <p:cNvSpPr txBox="1"/>
          <p:nvPr/>
        </p:nvSpPr>
        <p:spPr>
          <a:xfrm>
            <a:off x="12725399" y="4945062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60—80 Гц · LR-24</a:t>
            </a:r>
          </a:p>
        </p:txBody>
      </p:sp>
      <p:sp>
        <p:nvSpPr>
          <p:cNvPr id="1610" name="Shape 9"/>
          <p:cNvSpPr/>
          <p:nvPr/>
        </p:nvSpPr>
        <p:spPr>
          <a:xfrm>
            <a:off x="9525000" y="544623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11" name="Text 10"/>
          <p:cNvSpPr txBox="1"/>
          <p:nvPr/>
        </p:nvSpPr>
        <p:spPr>
          <a:xfrm>
            <a:off x="9525000" y="561927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HPF МИДБАСОВ</a:t>
            </a:r>
          </a:p>
        </p:txBody>
      </p:sp>
      <p:sp>
        <p:nvSpPr>
          <p:cNvPr id="1612" name="Text 11"/>
          <p:cNvSpPr txBox="1"/>
          <p:nvPr/>
        </p:nvSpPr>
        <p:spPr>
          <a:xfrm>
            <a:off x="12725399" y="561927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60—80 Гц · BW-12</a:t>
            </a:r>
          </a:p>
        </p:txBody>
      </p:sp>
      <p:sp>
        <p:nvSpPr>
          <p:cNvPr id="1613" name="Shape 12"/>
          <p:cNvSpPr/>
          <p:nvPr/>
        </p:nvSpPr>
        <p:spPr>
          <a:xfrm>
            <a:off x="9525000" y="612044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14" name="Text 13"/>
          <p:cNvSpPr txBox="1"/>
          <p:nvPr/>
        </p:nvSpPr>
        <p:spPr>
          <a:xfrm>
            <a:off x="9525000" y="629348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BOOST</a:t>
            </a:r>
          </a:p>
        </p:txBody>
      </p:sp>
      <p:sp>
        <p:nvSpPr>
          <p:cNvPr id="1615" name="Text 14"/>
          <p:cNvSpPr txBox="1"/>
          <p:nvPr/>
        </p:nvSpPr>
        <p:spPr>
          <a:xfrm>
            <a:off x="12725399" y="629348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+3 дБ @ 40 Гц</a:t>
            </a:r>
          </a:p>
        </p:txBody>
      </p:sp>
      <p:sp>
        <p:nvSpPr>
          <p:cNvPr id="1616" name="Shape 15"/>
          <p:cNvSpPr/>
          <p:nvPr/>
        </p:nvSpPr>
        <p:spPr>
          <a:xfrm>
            <a:off x="9525000" y="745934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17" name="Shape 16"/>
          <p:cNvSpPr/>
          <p:nvPr/>
        </p:nvSpPr>
        <p:spPr>
          <a:xfrm>
            <a:off x="9525000" y="679465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18" name="Text 17"/>
          <p:cNvSpPr txBox="1"/>
          <p:nvPr/>
        </p:nvSpPr>
        <p:spPr>
          <a:xfrm>
            <a:off x="9525000" y="6967695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TIME ALIGN</a:t>
            </a:r>
          </a:p>
        </p:txBody>
      </p:sp>
      <p:sp>
        <p:nvSpPr>
          <p:cNvPr id="1619" name="Text 18"/>
          <p:cNvSpPr txBox="1"/>
          <p:nvPr/>
        </p:nvSpPr>
        <p:spPr>
          <a:xfrm>
            <a:off x="12725399" y="6967695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индивидуально</a:t>
            </a:r>
          </a:p>
        </p:txBody>
      </p:sp>
      <p:sp>
        <p:nvSpPr>
          <p:cNvPr id="1620" name="Text 19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07</a:t>
            </a:r>
            <a:r>
              <a:rPr lang="ru-RU" dirty="0"/>
              <a:t>0</a:t>
            </a:r>
            <a:r>
              <a:rPr dirty="0"/>
              <a:t> / 100</a:t>
            </a:r>
          </a:p>
        </p:txBody>
      </p:sp>
      <p:sp>
        <p:nvSpPr>
          <p:cNvPr id="1621" name="Text 20"/>
          <p:cNvSpPr txBox="1"/>
          <p:nvPr/>
        </p:nvSpPr>
        <p:spPr>
          <a:xfrm>
            <a:off x="15066326" y="9672638"/>
            <a:ext cx="272967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§09 ИСПОЛЬЗОВАНИЕ</a:t>
            </a:r>
          </a:p>
        </p:txBody>
      </p: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" name="Text 0"/>
          <p:cNvSpPr txBox="1"/>
          <p:nvPr/>
        </p:nvSpPr>
        <p:spPr>
          <a:xfrm>
            <a:off x="571500" y="380999"/>
            <a:ext cx="379741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072 §09 ИСПОЛЬЗОВАНИЕ</a:t>
            </a:r>
          </a:p>
        </p:txBody>
      </p:sp>
      <p:sp>
        <p:nvSpPr>
          <p:cNvPr id="1624" name="Text 1"/>
          <p:cNvSpPr txBox="1"/>
          <p:nvPr/>
        </p:nvSpPr>
        <p:spPr>
          <a:xfrm>
            <a:off x="17404714" y="380999"/>
            <a:ext cx="387986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PA</a:t>
            </a:r>
          </a:p>
        </p:txBody>
      </p:sp>
      <p:sp>
        <p:nvSpPr>
          <p:cNvPr id="1625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КОНЦЕРТ</a:t>
            </a:r>
          </a:p>
        </p:txBody>
      </p:sp>
      <p:sp>
        <p:nvSpPr>
          <p:cNvPr id="1626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Настройте PA-стек для малого клуба</a:t>
            </a:r>
          </a:p>
        </p:txBody>
      </p:sp>
      <p:sp>
        <p:nvSpPr>
          <p:cNvPr id="1627" name="Shape 4"/>
          <p:cNvSpPr/>
          <p:nvPr/>
        </p:nvSpPr>
        <p:spPr>
          <a:xfrm>
            <a:off x="1143000" y="3074035"/>
            <a:ext cx="5080000" cy="60960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628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8191" y="3995103"/>
            <a:ext cx="3289618" cy="4253866"/>
          </a:xfrm>
          <a:prstGeom prst="rect">
            <a:avLst/>
          </a:prstGeom>
          <a:ln w="12700">
            <a:miter lim="400000"/>
          </a:ln>
        </p:spPr>
      </p:pic>
      <p:sp>
        <p:nvSpPr>
          <p:cNvPr id="1629" name="Text 5"/>
          <p:cNvSpPr txBox="1"/>
          <p:nvPr/>
        </p:nvSpPr>
        <p:spPr>
          <a:xfrm>
            <a:off x="1381125" y="3274059"/>
            <a:ext cx="116744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STACKED</a:t>
            </a:r>
          </a:p>
        </p:txBody>
      </p:sp>
      <p:sp>
        <p:nvSpPr>
          <p:cNvPr id="1630" name="Shape 6"/>
          <p:cNvSpPr/>
          <p:nvPr/>
        </p:nvSpPr>
        <p:spPr>
          <a:xfrm>
            <a:off x="9525000" y="443483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31" name="Text 7"/>
          <p:cNvSpPr txBox="1"/>
          <p:nvPr/>
        </p:nvSpPr>
        <p:spPr>
          <a:xfrm>
            <a:off x="9525000" y="4607876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КОЛИЧЕСТВО</a:t>
            </a:r>
          </a:p>
        </p:txBody>
      </p:sp>
      <p:sp>
        <p:nvSpPr>
          <p:cNvPr id="1632" name="Text 8"/>
          <p:cNvSpPr txBox="1"/>
          <p:nvPr/>
        </p:nvSpPr>
        <p:spPr>
          <a:xfrm>
            <a:off x="12725399" y="4607876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2× SUB + 2× TOP</a:t>
            </a:r>
          </a:p>
        </p:txBody>
      </p:sp>
      <p:sp>
        <p:nvSpPr>
          <p:cNvPr id="1633" name="Shape 9"/>
          <p:cNvSpPr/>
          <p:nvPr/>
        </p:nvSpPr>
        <p:spPr>
          <a:xfrm>
            <a:off x="9525000" y="510905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34" name="Text 10"/>
          <p:cNvSpPr txBox="1"/>
          <p:nvPr/>
        </p:nvSpPr>
        <p:spPr>
          <a:xfrm>
            <a:off x="9525000" y="5282088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КРОССОВЕР</a:t>
            </a:r>
          </a:p>
        </p:txBody>
      </p:sp>
      <p:sp>
        <p:nvSpPr>
          <p:cNvPr id="1635" name="Text 11"/>
          <p:cNvSpPr txBox="1"/>
          <p:nvPr/>
        </p:nvSpPr>
        <p:spPr>
          <a:xfrm>
            <a:off x="12725399" y="5282088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100 Гц · LR-24</a:t>
            </a:r>
          </a:p>
        </p:txBody>
      </p:sp>
      <p:sp>
        <p:nvSpPr>
          <p:cNvPr id="1636" name="Shape 12"/>
          <p:cNvSpPr/>
          <p:nvPr/>
        </p:nvSpPr>
        <p:spPr>
          <a:xfrm>
            <a:off x="9525000" y="5783262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37" name="Text 13"/>
          <p:cNvSpPr txBox="1"/>
          <p:nvPr/>
        </p:nvSpPr>
        <p:spPr>
          <a:xfrm>
            <a:off x="9525000" y="5956299"/>
            <a:ext cx="3296412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УРОВЕНЬ</a:t>
            </a:r>
          </a:p>
        </p:txBody>
      </p:sp>
      <p:sp>
        <p:nvSpPr>
          <p:cNvPr id="1638" name="Text 14"/>
          <p:cNvSpPr txBox="1"/>
          <p:nvPr/>
        </p:nvSpPr>
        <p:spPr>
          <a:xfrm>
            <a:off x="12725399" y="5956299"/>
            <a:ext cx="4552190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Саб +3 дБ от топа</a:t>
            </a:r>
          </a:p>
        </p:txBody>
      </p:sp>
      <p:sp>
        <p:nvSpPr>
          <p:cNvPr id="1639" name="Shape 15"/>
          <p:cNvSpPr/>
          <p:nvPr/>
        </p:nvSpPr>
        <p:spPr>
          <a:xfrm>
            <a:off x="9525000" y="645747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0" name="Text 16"/>
          <p:cNvSpPr txBox="1"/>
          <p:nvPr/>
        </p:nvSpPr>
        <p:spPr>
          <a:xfrm>
            <a:off x="9525000" y="6630512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ЗАДЕРЖКА</a:t>
            </a:r>
          </a:p>
        </p:txBody>
      </p:sp>
      <p:sp>
        <p:nvSpPr>
          <p:cNvPr id="1641" name="Text 17"/>
          <p:cNvSpPr txBox="1"/>
          <p:nvPr/>
        </p:nvSpPr>
        <p:spPr>
          <a:xfrm>
            <a:off x="12725399" y="6630512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топ относительно саба</a:t>
            </a:r>
          </a:p>
        </p:txBody>
      </p:sp>
      <p:sp>
        <p:nvSpPr>
          <p:cNvPr id="1642" name="Shape 18"/>
          <p:cNvSpPr/>
          <p:nvPr/>
        </p:nvSpPr>
        <p:spPr>
          <a:xfrm>
            <a:off x="9525000" y="779637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3" name="Shape 19"/>
          <p:cNvSpPr/>
          <p:nvPr/>
        </p:nvSpPr>
        <p:spPr>
          <a:xfrm>
            <a:off x="9525000" y="713168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44" name="Text 20"/>
          <p:cNvSpPr txBox="1"/>
          <p:nvPr/>
        </p:nvSpPr>
        <p:spPr>
          <a:xfrm>
            <a:off x="9525000" y="7304723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ЛИМИТЕР</a:t>
            </a:r>
          </a:p>
        </p:txBody>
      </p:sp>
      <p:sp>
        <p:nvSpPr>
          <p:cNvPr id="1645" name="Text 21"/>
          <p:cNvSpPr txBox="1"/>
          <p:nvPr/>
        </p:nvSpPr>
        <p:spPr>
          <a:xfrm>
            <a:off x="12725399" y="7304723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ON, −3 дБ от клиппа</a:t>
            </a:r>
          </a:p>
        </p:txBody>
      </p:sp>
      <p:sp>
        <p:nvSpPr>
          <p:cNvPr id="1646" name="Text 22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07</a:t>
            </a:r>
            <a:r>
              <a:rPr lang="ru-RU" dirty="0"/>
              <a:t>1</a:t>
            </a:r>
            <a:r>
              <a:rPr dirty="0"/>
              <a:t> / 100</a:t>
            </a:r>
          </a:p>
        </p:txBody>
      </p:sp>
      <p:sp>
        <p:nvSpPr>
          <p:cNvPr id="1647" name="Text 23"/>
          <p:cNvSpPr txBox="1"/>
          <p:nvPr/>
        </p:nvSpPr>
        <p:spPr>
          <a:xfrm>
            <a:off x="15066326" y="9672638"/>
            <a:ext cx="2729679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§09 ИСПОЛЬЗОВАНИЕ</a:t>
            </a:r>
          </a:p>
        </p:txBody>
      </p:sp>
    </p:spTree>
  </p:cSld>
  <p:clrMapOvr>
    <a:masterClrMapping/>
  </p:clrMapOvr>
  <p:transition spd="med"/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9" name="Text 0"/>
          <p:cNvSpPr txBox="1"/>
          <p:nvPr/>
        </p:nvSpPr>
        <p:spPr>
          <a:xfrm>
            <a:off x="1143000" y="5169217"/>
            <a:ext cx="667131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РАЗДЕЛ 10</a:t>
            </a:r>
          </a:p>
        </p:txBody>
      </p:sp>
      <p:sp>
        <p:nvSpPr>
          <p:cNvPr id="1650" name="Text 1"/>
          <p:cNvSpPr txBox="1"/>
          <p:nvPr/>
        </p:nvSpPr>
        <p:spPr>
          <a:xfrm>
            <a:off x="1143000" y="5707379"/>
            <a:ext cx="6671310" cy="347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40079">
              <a:lnSpc>
                <a:spcPct val="82000"/>
              </a:lnSpc>
              <a:defRPr sz="23100" spc="-133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10</a:t>
            </a:r>
          </a:p>
        </p:txBody>
      </p:sp>
      <p:sp>
        <p:nvSpPr>
          <p:cNvPr id="1651" name="Text 2"/>
          <p:cNvSpPr txBox="1"/>
          <p:nvPr/>
        </p:nvSpPr>
        <p:spPr>
          <a:xfrm>
            <a:off x="8381999" y="1813560"/>
            <a:ext cx="9025892" cy="758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04999"/>
              </a:lnSpc>
              <a:defRPr sz="4860" spc="-18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Troubleshooting</a:t>
            </a:r>
          </a:p>
        </p:txBody>
      </p:sp>
      <p:sp>
        <p:nvSpPr>
          <p:cNvPr id="1652" name="Text 3"/>
          <p:cNvSpPr txBox="1"/>
          <p:nvPr/>
        </p:nvSpPr>
        <p:spPr>
          <a:xfrm>
            <a:off x="8382000" y="2838449"/>
            <a:ext cx="6867525" cy="861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35000"/>
              </a:lnSpc>
              <a:defRPr sz="2256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Десять самых частых проблем и то, как их устранить за пять минут.</a:t>
            </a:r>
          </a:p>
        </p:txBody>
      </p:sp>
      <p:sp>
        <p:nvSpPr>
          <p:cNvPr id="1653" name="Shape 4"/>
          <p:cNvSpPr/>
          <p:nvPr/>
        </p:nvSpPr>
        <p:spPr>
          <a:xfrm>
            <a:off x="8382000" y="4368640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4" name="Text 5"/>
          <p:cNvSpPr txBox="1"/>
          <p:nvPr/>
        </p:nvSpPr>
        <p:spPr>
          <a:xfrm>
            <a:off x="8382000" y="4540408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074</a:t>
            </a:r>
          </a:p>
        </p:txBody>
      </p:sp>
      <p:sp>
        <p:nvSpPr>
          <p:cNvPr id="1655" name="Text 6"/>
          <p:cNvSpPr txBox="1"/>
          <p:nvPr/>
        </p:nvSpPr>
        <p:spPr>
          <a:xfrm>
            <a:off x="9239249" y="4513102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Нет звука — 6 пунктов</a:t>
            </a:r>
          </a:p>
        </p:txBody>
      </p:sp>
      <p:sp>
        <p:nvSpPr>
          <p:cNvPr id="1656" name="Shape 7"/>
          <p:cNvSpPr/>
          <p:nvPr/>
        </p:nvSpPr>
        <p:spPr>
          <a:xfrm>
            <a:off x="8382000" y="4947125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57" name="Text 8"/>
          <p:cNvSpPr txBox="1"/>
          <p:nvPr/>
        </p:nvSpPr>
        <p:spPr>
          <a:xfrm>
            <a:off x="8382000" y="5118892"/>
            <a:ext cx="93345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075</a:t>
            </a:r>
          </a:p>
        </p:txBody>
      </p:sp>
      <p:sp>
        <p:nvSpPr>
          <p:cNvPr id="1658" name="Text 9"/>
          <p:cNvSpPr txBox="1"/>
          <p:nvPr/>
        </p:nvSpPr>
        <p:spPr>
          <a:xfrm>
            <a:off x="9239249" y="5091588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Гудение 50/60 Гц</a:t>
            </a:r>
          </a:p>
        </p:txBody>
      </p:sp>
      <p:sp>
        <p:nvSpPr>
          <p:cNvPr id="1659" name="Shape 10"/>
          <p:cNvSpPr/>
          <p:nvPr/>
        </p:nvSpPr>
        <p:spPr>
          <a:xfrm>
            <a:off x="8382000" y="5525610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0" name="Text 11"/>
          <p:cNvSpPr txBox="1"/>
          <p:nvPr/>
        </p:nvSpPr>
        <p:spPr>
          <a:xfrm>
            <a:off x="8382000" y="5697377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076</a:t>
            </a:r>
          </a:p>
        </p:txBody>
      </p:sp>
      <p:sp>
        <p:nvSpPr>
          <p:cNvPr id="1661" name="Text 12"/>
          <p:cNvSpPr txBox="1"/>
          <p:nvPr/>
        </p:nvSpPr>
        <p:spPr>
          <a:xfrm>
            <a:off x="9239249" y="5670072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Бубнёж</a:t>
            </a:r>
          </a:p>
        </p:txBody>
      </p:sp>
      <p:sp>
        <p:nvSpPr>
          <p:cNvPr id="1662" name="Shape 13"/>
          <p:cNvSpPr/>
          <p:nvPr/>
        </p:nvSpPr>
        <p:spPr>
          <a:xfrm>
            <a:off x="8382000" y="6104095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3" name="Text 14"/>
          <p:cNvSpPr txBox="1"/>
          <p:nvPr/>
        </p:nvSpPr>
        <p:spPr>
          <a:xfrm>
            <a:off x="8382000" y="6275863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077</a:t>
            </a:r>
          </a:p>
        </p:txBody>
      </p:sp>
      <p:sp>
        <p:nvSpPr>
          <p:cNvPr id="1664" name="Text 15"/>
          <p:cNvSpPr txBox="1"/>
          <p:nvPr/>
        </p:nvSpPr>
        <p:spPr>
          <a:xfrm>
            <a:off x="9239249" y="6248558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Защита сработала</a:t>
            </a:r>
          </a:p>
        </p:txBody>
      </p:sp>
      <p:sp>
        <p:nvSpPr>
          <p:cNvPr id="1665" name="Shape 16"/>
          <p:cNvSpPr/>
          <p:nvPr/>
        </p:nvSpPr>
        <p:spPr>
          <a:xfrm>
            <a:off x="8382000" y="6682580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6" name="Text 17"/>
          <p:cNvSpPr txBox="1"/>
          <p:nvPr/>
        </p:nvSpPr>
        <p:spPr>
          <a:xfrm>
            <a:off x="8382000" y="6854347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078</a:t>
            </a:r>
          </a:p>
        </p:txBody>
      </p:sp>
      <p:sp>
        <p:nvSpPr>
          <p:cNvPr id="1667" name="Text 18"/>
          <p:cNvSpPr txBox="1"/>
          <p:nvPr/>
        </p:nvSpPr>
        <p:spPr>
          <a:xfrm>
            <a:off x="9239249" y="6827042"/>
            <a:ext cx="6180775" cy="340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Хрипы и клиппинг</a:t>
            </a:r>
          </a:p>
        </p:txBody>
      </p:sp>
      <p:sp>
        <p:nvSpPr>
          <p:cNvPr id="1668" name="Shape 19"/>
          <p:cNvSpPr/>
          <p:nvPr/>
        </p:nvSpPr>
        <p:spPr>
          <a:xfrm>
            <a:off x="8382000" y="7261065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69" name="Text 20"/>
          <p:cNvSpPr txBox="1"/>
          <p:nvPr/>
        </p:nvSpPr>
        <p:spPr>
          <a:xfrm>
            <a:off x="8382000" y="7432833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079</a:t>
            </a:r>
          </a:p>
        </p:txBody>
      </p:sp>
      <p:sp>
        <p:nvSpPr>
          <p:cNvPr id="1670" name="Text 21"/>
          <p:cNvSpPr txBox="1"/>
          <p:nvPr/>
        </p:nvSpPr>
        <p:spPr>
          <a:xfrm>
            <a:off x="9239249" y="7405527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Bluetooth нестабилен</a:t>
            </a:r>
          </a:p>
        </p:txBody>
      </p:sp>
      <p:sp>
        <p:nvSpPr>
          <p:cNvPr id="1671" name="Shape 22"/>
          <p:cNvSpPr/>
          <p:nvPr/>
        </p:nvSpPr>
        <p:spPr>
          <a:xfrm>
            <a:off x="8382000" y="7839550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72" name="Text 23"/>
          <p:cNvSpPr txBox="1"/>
          <p:nvPr/>
        </p:nvSpPr>
        <p:spPr>
          <a:xfrm>
            <a:off x="8382000" y="8011317"/>
            <a:ext cx="93345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080</a:t>
            </a:r>
          </a:p>
        </p:txBody>
      </p:sp>
      <p:sp>
        <p:nvSpPr>
          <p:cNvPr id="1673" name="Text 24"/>
          <p:cNvSpPr txBox="1"/>
          <p:nvPr/>
        </p:nvSpPr>
        <p:spPr>
          <a:xfrm>
            <a:off x="9239249" y="7984012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Нет басов — кроссовер</a:t>
            </a:r>
          </a:p>
        </p:txBody>
      </p:sp>
      <p:sp>
        <p:nvSpPr>
          <p:cNvPr id="1674" name="Shape 25"/>
          <p:cNvSpPr/>
          <p:nvPr/>
        </p:nvSpPr>
        <p:spPr>
          <a:xfrm>
            <a:off x="8382000" y="8418035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75" name="Text 26"/>
          <p:cNvSpPr txBox="1"/>
          <p:nvPr/>
        </p:nvSpPr>
        <p:spPr>
          <a:xfrm>
            <a:off x="8382000" y="8589802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081</a:t>
            </a:r>
          </a:p>
        </p:txBody>
      </p:sp>
      <p:sp>
        <p:nvSpPr>
          <p:cNvPr id="1676" name="Text 27"/>
          <p:cNvSpPr txBox="1"/>
          <p:nvPr/>
        </p:nvSpPr>
        <p:spPr>
          <a:xfrm>
            <a:off x="9239249" y="8562498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Перегрев</a:t>
            </a:r>
          </a:p>
        </p:txBody>
      </p:sp>
      <p:sp>
        <p:nvSpPr>
          <p:cNvPr id="1678" name="Shape 29"/>
          <p:cNvSpPr/>
          <p:nvPr/>
        </p:nvSpPr>
        <p:spPr>
          <a:xfrm>
            <a:off x="8382000" y="8996520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79" name="Text 30"/>
          <p:cNvSpPr txBox="1"/>
          <p:nvPr/>
        </p:nvSpPr>
        <p:spPr>
          <a:xfrm>
            <a:off x="8382000" y="9168287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082</a:t>
            </a:r>
          </a:p>
        </p:txBody>
      </p:sp>
      <p:sp>
        <p:nvSpPr>
          <p:cNvPr id="1680" name="Text 31"/>
          <p:cNvSpPr txBox="1"/>
          <p:nvPr/>
        </p:nvSpPr>
        <p:spPr>
          <a:xfrm>
            <a:off x="9239249" y="9140983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Вибрации мебели</a:t>
            </a:r>
          </a:p>
        </p:txBody>
      </p:sp>
      <p:sp>
        <p:nvSpPr>
          <p:cNvPr id="1681" name="Text 32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07</a:t>
            </a:r>
            <a:r>
              <a:rPr lang="ru-RU" dirty="0"/>
              <a:t>2</a:t>
            </a:r>
            <a:r>
              <a:rPr dirty="0"/>
              <a:t> / 100</a:t>
            </a:r>
          </a:p>
        </p:txBody>
      </p:sp>
      <p:sp>
        <p:nvSpPr>
          <p:cNvPr id="1682" name="Text 33"/>
          <p:cNvSpPr txBox="1"/>
          <p:nvPr/>
        </p:nvSpPr>
        <p:spPr>
          <a:xfrm>
            <a:off x="14754541" y="9672638"/>
            <a:ext cx="305081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§10 TROUBLESHOOTING</a:t>
            </a:r>
          </a:p>
        </p:txBody>
      </p:sp>
      <p:sp>
        <p:nvSpPr>
          <p:cNvPr id="40" name="Text 5">
            <a:extLst>
              <a:ext uri="{FF2B5EF4-FFF2-40B4-BE49-F238E27FC236}">
                <a16:creationId xmlns:a16="http://schemas.microsoft.com/office/drawing/2014/main" id="{37063940-05BD-4A7C-9979-80CE80586B25}"/>
              </a:ext>
            </a:extLst>
          </p:cNvPr>
          <p:cNvSpPr txBox="1"/>
          <p:nvPr/>
        </p:nvSpPr>
        <p:spPr>
          <a:xfrm>
            <a:off x="8381999" y="3930808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07</a:t>
            </a:r>
            <a:r>
              <a:rPr lang="ru-RU" dirty="0"/>
              <a:t>3</a:t>
            </a:r>
            <a:endParaRPr dirty="0"/>
          </a:p>
        </p:txBody>
      </p:sp>
      <p:sp>
        <p:nvSpPr>
          <p:cNvPr id="41" name="Text 6">
            <a:extLst>
              <a:ext uri="{FF2B5EF4-FFF2-40B4-BE49-F238E27FC236}">
                <a16:creationId xmlns:a16="http://schemas.microsoft.com/office/drawing/2014/main" id="{79963483-892F-4290-B562-7FE1667C268A}"/>
              </a:ext>
            </a:extLst>
          </p:cNvPr>
          <p:cNvSpPr txBox="1"/>
          <p:nvPr/>
        </p:nvSpPr>
        <p:spPr>
          <a:xfrm>
            <a:off x="9239248" y="3903502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lang="ru-RU" dirty="0"/>
              <a:t>Экстренное отключение</a:t>
            </a:r>
            <a:endParaRPr dirty="0"/>
          </a:p>
        </p:txBody>
      </p:sp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Text 2"/>
          <p:cNvSpPr txBox="1"/>
          <p:nvPr/>
        </p:nvSpPr>
        <p:spPr>
          <a:xfrm>
            <a:off x="1143000" y="952500"/>
            <a:ext cx="1648206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lang="ru-RU" dirty="0"/>
              <a:t>ВЫКЛЮЧАЕМ</a:t>
            </a:r>
            <a:endParaRPr dirty="0"/>
          </a:p>
        </p:txBody>
      </p:sp>
      <p:sp>
        <p:nvSpPr>
          <p:cNvPr id="775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dirty="0" err="1"/>
              <a:t>Экстренное</a:t>
            </a:r>
            <a:r>
              <a:rPr dirty="0"/>
              <a:t> </a:t>
            </a:r>
            <a:r>
              <a:rPr dirty="0" err="1"/>
              <a:t>отключение</a:t>
            </a:r>
            <a:r>
              <a:rPr dirty="0"/>
              <a:t> </a:t>
            </a:r>
            <a:r>
              <a:rPr dirty="0" err="1"/>
              <a:t>питания</a:t>
            </a:r>
            <a:endParaRPr dirty="0"/>
          </a:p>
        </p:txBody>
      </p:sp>
      <p:sp>
        <p:nvSpPr>
          <p:cNvPr id="776" name="Text 4"/>
          <p:cNvSpPr txBox="1"/>
          <p:nvPr/>
        </p:nvSpPr>
        <p:spPr>
          <a:xfrm>
            <a:off x="5447291" y="6973414"/>
            <a:ext cx="971550" cy="1208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04087">
              <a:lnSpc>
                <a:spcPct val="92003"/>
              </a:lnSpc>
              <a:defRPr sz="6006" spc="-308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lang="en-US" dirty="0"/>
              <a:t>f</a:t>
            </a:r>
            <a:endParaRPr dirty="0"/>
          </a:p>
        </p:txBody>
      </p:sp>
      <p:sp>
        <p:nvSpPr>
          <p:cNvPr id="777" name="Text 5"/>
          <p:cNvSpPr txBox="1"/>
          <p:nvPr/>
        </p:nvSpPr>
        <p:spPr>
          <a:xfrm>
            <a:off x="5775903" y="6949683"/>
            <a:ext cx="1285875" cy="9934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lang="en-US" sz="6600" dirty="0"/>
              <a:t>a</a:t>
            </a:r>
            <a:endParaRPr sz="6600" dirty="0"/>
          </a:p>
        </p:txBody>
      </p:sp>
      <p:sp>
        <p:nvSpPr>
          <p:cNvPr id="778" name="Text 6"/>
          <p:cNvSpPr txBox="1"/>
          <p:nvPr/>
        </p:nvSpPr>
        <p:spPr>
          <a:xfrm>
            <a:off x="5180591" y="6764343"/>
            <a:ext cx="862012" cy="11014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lang="en-US" sz="6600" dirty="0"/>
              <a:t>l</a:t>
            </a:r>
            <a:endParaRPr sz="6600" dirty="0"/>
          </a:p>
        </p:txBody>
      </p:sp>
      <p:sp>
        <p:nvSpPr>
          <p:cNvPr id="779" name="Text 7"/>
          <p:cNvSpPr txBox="1"/>
          <p:nvPr/>
        </p:nvSpPr>
        <p:spPr>
          <a:xfrm>
            <a:off x="4690053" y="6945953"/>
            <a:ext cx="1081088" cy="9494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04087">
              <a:lnSpc>
                <a:spcPct val="92003"/>
              </a:lnSpc>
              <a:defRPr sz="6006" spc="-308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lang="en-US" dirty="0"/>
              <a:t>a</a:t>
            </a:r>
            <a:endParaRPr dirty="0"/>
          </a:p>
        </p:txBody>
      </p:sp>
      <p:sp>
        <p:nvSpPr>
          <p:cNvPr id="780" name="Text 8"/>
          <p:cNvSpPr txBox="1"/>
          <p:nvPr/>
        </p:nvSpPr>
        <p:spPr>
          <a:xfrm>
            <a:off x="6197384" y="6933088"/>
            <a:ext cx="857250" cy="12085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sz="6000" dirty="0"/>
              <a:t>{</a:t>
            </a:r>
          </a:p>
        </p:txBody>
      </p:sp>
      <p:sp>
        <p:nvSpPr>
          <p:cNvPr id="781" name="Text 9"/>
          <p:cNvSpPr txBox="1"/>
          <p:nvPr/>
        </p:nvSpPr>
        <p:spPr>
          <a:xfrm>
            <a:off x="6464084" y="7158203"/>
            <a:ext cx="1143000" cy="756363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3200" dirty="0"/>
              <a:t>pls_</a:t>
            </a:r>
          </a:p>
        </p:txBody>
      </p:sp>
      <p:sp>
        <p:nvSpPr>
          <p:cNvPr id="782" name="Text 10"/>
          <p:cNvSpPr txBox="1"/>
          <p:nvPr/>
        </p:nvSpPr>
        <p:spPr>
          <a:xfrm>
            <a:off x="13092372" y="7000976"/>
            <a:ext cx="971550" cy="9407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04087">
              <a:lnSpc>
                <a:spcPct val="92003"/>
              </a:lnSpc>
              <a:defRPr sz="6006" spc="-308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5400" dirty="0"/>
              <a:t>}</a:t>
            </a:r>
          </a:p>
        </p:txBody>
      </p:sp>
      <p:sp>
        <p:nvSpPr>
          <p:cNvPr id="783" name="Text 15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</a:t>
            </a:r>
            <a:r>
              <a:rPr lang="ru-RU" dirty="0"/>
              <a:t>73</a:t>
            </a:r>
            <a:r>
              <a:rPr dirty="0"/>
              <a:t> / 100</a:t>
            </a:r>
          </a:p>
        </p:txBody>
      </p:sp>
      <p:sp>
        <p:nvSpPr>
          <p:cNvPr id="45" name="Text 9">
            <a:extLst>
              <a:ext uri="{FF2B5EF4-FFF2-40B4-BE49-F238E27FC236}">
                <a16:creationId xmlns:a16="http://schemas.microsoft.com/office/drawing/2014/main" id="{621C2B33-7023-4C0A-8727-11E7F8EC7F83}"/>
              </a:ext>
            </a:extLst>
          </p:cNvPr>
          <p:cNvSpPr txBox="1"/>
          <p:nvPr/>
        </p:nvSpPr>
        <p:spPr>
          <a:xfrm>
            <a:off x="7209415" y="7181776"/>
            <a:ext cx="1393032" cy="677533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3200" dirty="0"/>
              <a:t>rest</a:t>
            </a:r>
          </a:p>
        </p:txBody>
      </p:sp>
      <p:sp>
        <p:nvSpPr>
          <p:cNvPr id="46" name="Text 9">
            <a:extLst>
              <a:ext uri="{FF2B5EF4-FFF2-40B4-BE49-F238E27FC236}">
                <a16:creationId xmlns:a16="http://schemas.microsoft.com/office/drawing/2014/main" id="{CB14AD29-0333-47EB-AA7C-8EE560EC6235}"/>
              </a:ext>
            </a:extLst>
          </p:cNvPr>
          <p:cNvSpPr txBox="1"/>
          <p:nvPr/>
        </p:nvSpPr>
        <p:spPr>
          <a:xfrm>
            <a:off x="7935696" y="7181776"/>
            <a:ext cx="1628775" cy="733108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3200" dirty="0" err="1"/>
              <a:t>ore_de</a:t>
            </a:r>
            <a:endParaRPr sz="3200" dirty="0"/>
          </a:p>
        </p:txBody>
      </p:sp>
      <p:sp>
        <p:nvSpPr>
          <p:cNvPr id="47" name="Text 9">
            <a:extLst>
              <a:ext uri="{FF2B5EF4-FFF2-40B4-BE49-F238E27FC236}">
                <a16:creationId xmlns:a16="http://schemas.microsoft.com/office/drawing/2014/main" id="{C41D4241-927D-4BD8-848C-091FD4D79612}"/>
              </a:ext>
            </a:extLst>
          </p:cNvPr>
          <p:cNvSpPr txBox="1"/>
          <p:nvPr/>
        </p:nvSpPr>
        <p:spPr>
          <a:xfrm>
            <a:off x="11310880" y="7168297"/>
            <a:ext cx="1586865" cy="606110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3200" dirty="0" err="1"/>
              <a:t>rom_pp</a:t>
            </a:r>
            <a:endParaRPr sz="3200" dirty="0"/>
          </a:p>
        </p:txBody>
      </p:sp>
      <p:sp>
        <p:nvSpPr>
          <p:cNvPr id="48" name="Text 9">
            <a:extLst>
              <a:ext uri="{FF2B5EF4-FFF2-40B4-BE49-F238E27FC236}">
                <a16:creationId xmlns:a16="http://schemas.microsoft.com/office/drawing/2014/main" id="{6EDADE7E-D429-4AC7-8626-B5F465C02E90}"/>
              </a:ext>
            </a:extLst>
          </p:cNvPr>
          <p:cNvSpPr txBox="1"/>
          <p:nvPr/>
        </p:nvSpPr>
        <p:spPr>
          <a:xfrm>
            <a:off x="9185059" y="7183354"/>
            <a:ext cx="1845310" cy="846950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3200" dirty="0" err="1"/>
              <a:t>leted_i</a:t>
            </a:r>
            <a:endParaRPr sz="3200" dirty="0"/>
          </a:p>
        </p:txBody>
      </p:sp>
      <p:sp>
        <p:nvSpPr>
          <p:cNvPr id="49" name="Text 9">
            <a:extLst>
              <a:ext uri="{FF2B5EF4-FFF2-40B4-BE49-F238E27FC236}">
                <a16:creationId xmlns:a16="http://schemas.microsoft.com/office/drawing/2014/main" id="{BFEAB516-FD30-48B6-B9E6-FC1B4227F287}"/>
              </a:ext>
            </a:extLst>
          </p:cNvPr>
          <p:cNvSpPr txBox="1"/>
          <p:nvPr/>
        </p:nvSpPr>
        <p:spPr>
          <a:xfrm>
            <a:off x="10382193" y="7168297"/>
            <a:ext cx="1427480" cy="782923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3200" dirty="0" err="1"/>
              <a:t>nfo_f</a:t>
            </a:r>
            <a:endParaRPr sz="3200" dirty="0"/>
          </a:p>
        </p:txBody>
      </p:sp>
      <p:sp>
        <p:nvSpPr>
          <p:cNvPr id="50" name="Text 9">
            <a:extLst>
              <a:ext uri="{FF2B5EF4-FFF2-40B4-BE49-F238E27FC236}">
                <a16:creationId xmlns:a16="http://schemas.microsoft.com/office/drawing/2014/main" id="{41D78E6C-5A09-4349-8714-1D8DAB54BB20}"/>
              </a:ext>
            </a:extLst>
          </p:cNvPr>
          <p:cNvSpPr txBox="1"/>
          <p:nvPr/>
        </p:nvSpPr>
        <p:spPr>
          <a:xfrm>
            <a:off x="12696766" y="7181776"/>
            <a:ext cx="1129666" cy="733108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sz="3200" dirty="0" err="1"/>
              <a:t>tx</a:t>
            </a:r>
            <a:endParaRPr sz="3200" dirty="0"/>
          </a:p>
        </p:txBody>
      </p:sp>
      <p:sp>
        <p:nvSpPr>
          <p:cNvPr id="66" name="Text 4">
            <a:extLst>
              <a:ext uri="{FF2B5EF4-FFF2-40B4-BE49-F238E27FC236}">
                <a16:creationId xmlns:a16="http://schemas.microsoft.com/office/drawing/2014/main" id="{C356C053-111B-4EE8-A95A-12386990228A}"/>
              </a:ext>
            </a:extLst>
          </p:cNvPr>
          <p:cNvSpPr txBox="1"/>
          <p:nvPr/>
        </p:nvSpPr>
        <p:spPr>
          <a:xfrm>
            <a:off x="1143000" y="3976102"/>
            <a:ext cx="7848600" cy="1349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35000"/>
              </a:lnSpc>
              <a:defRPr sz="2250" spc="-9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lang="ru-RU" dirty="0"/>
              <a:t>В случае, если что-то идет не так в процессе эксплуатации вашего сабвуфера, вы можете отправить сигнал экстренного отключения питания</a:t>
            </a:r>
            <a:endParaRPr dirty="0"/>
          </a:p>
        </p:txBody>
      </p:sp>
      <p:sp>
        <p:nvSpPr>
          <p:cNvPr id="67" name="Text 5">
            <a:extLst>
              <a:ext uri="{FF2B5EF4-FFF2-40B4-BE49-F238E27FC236}">
                <a16:creationId xmlns:a16="http://schemas.microsoft.com/office/drawing/2014/main" id="{D026601E-A517-4A49-8A51-1AA0C95D698E}"/>
              </a:ext>
            </a:extLst>
          </p:cNvPr>
          <p:cNvSpPr txBox="1"/>
          <p:nvPr/>
        </p:nvSpPr>
        <p:spPr>
          <a:xfrm>
            <a:off x="1143000" y="5516294"/>
            <a:ext cx="7848600" cy="3467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20000"/>
          </a:bodyPr>
          <a:lstStyle>
            <a:lvl1pPr>
              <a:lnSpc>
                <a:spcPct val="135000"/>
              </a:lnSpc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lang="ru-RU" dirty="0"/>
              <a:t>САБВУФЕР ОБЕСТОЧИТСЯ МГНОВЕННО</a:t>
            </a:r>
            <a:endParaRPr dirty="0"/>
          </a:p>
        </p:txBody>
      </p:sp>
      <p:sp>
        <p:nvSpPr>
          <p:cNvPr id="81" name="Text 24">
            <a:extLst>
              <a:ext uri="{FF2B5EF4-FFF2-40B4-BE49-F238E27FC236}">
                <a16:creationId xmlns:a16="http://schemas.microsoft.com/office/drawing/2014/main" id="{832E4686-F856-4F2A-8963-3125CDF14CA9}"/>
              </a:ext>
            </a:extLst>
          </p:cNvPr>
          <p:cNvSpPr txBox="1"/>
          <p:nvPr/>
        </p:nvSpPr>
        <p:spPr>
          <a:xfrm>
            <a:off x="14754541" y="9672638"/>
            <a:ext cx="305081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§10 TROUBLESHOOTING</a:t>
            </a:r>
          </a:p>
        </p:txBody>
      </p:sp>
      <p:sp>
        <p:nvSpPr>
          <p:cNvPr id="83" name="Text 1">
            <a:extLst>
              <a:ext uri="{FF2B5EF4-FFF2-40B4-BE49-F238E27FC236}">
                <a16:creationId xmlns:a16="http://schemas.microsoft.com/office/drawing/2014/main" id="{B14596D3-9C53-4A82-A30F-864617666F9C}"/>
              </a:ext>
            </a:extLst>
          </p:cNvPr>
          <p:cNvSpPr txBox="1"/>
          <p:nvPr/>
        </p:nvSpPr>
        <p:spPr>
          <a:xfrm>
            <a:off x="16015271" y="380999"/>
            <a:ext cx="1789873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lang="ru-RU" dirty="0"/>
              <a:t>ОТКЛЮЧЕНИЕ</a:t>
            </a:r>
            <a:endParaRPr dirty="0"/>
          </a:p>
        </p:txBody>
      </p:sp>
      <p:sp>
        <p:nvSpPr>
          <p:cNvPr id="84" name="Text 0">
            <a:extLst>
              <a:ext uri="{FF2B5EF4-FFF2-40B4-BE49-F238E27FC236}">
                <a16:creationId xmlns:a16="http://schemas.microsoft.com/office/drawing/2014/main" id="{7673FAB2-2128-4ED6-8271-60A1F69C0126}"/>
              </a:ext>
            </a:extLst>
          </p:cNvPr>
          <p:cNvSpPr txBox="1"/>
          <p:nvPr/>
        </p:nvSpPr>
        <p:spPr>
          <a:xfrm>
            <a:off x="571499" y="380999"/>
            <a:ext cx="411855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07</a:t>
            </a:r>
            <a:r>
              <a:rPr lang="ru-RU" dirty="0"/>
              <a:t>3</a:t>
            </a:r>
            <a:r>
              <a:rPr dirty="0"/>
              <a:t> §10 TROUBLESHOOTING</a:t>
            </a:r>
          </a:p>
        </p:txBody>
      </p:sp>
      <p:pic>
        <p:nvPicPr>
          <p:cNvPr id="85" name="Image 1" descr="Image 1">
            <a:extLst>
              <a:ext uri="{FF2B5EF4-FFF2-40B4-BE49-F238E27FC236}">
                <a16:creationId xmlns:a16="http://schemas.microsoft.com/office/drawing/2014/main" id="{67103A33-CBD4-44B5-99F6-F60ED8A577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9124" y="1873511"/>
            <a:ext cx="4365686" cy="4049594"/>
          </a:xfrm>
          <a:prstGeom prst="rect">
            <a:avLst/>
          </a:prstGeom>
          <a:ln w="12700">
            <a:miter lim="400000"/>
          </a:ln>
        </p:spPr>
      </p:pic>
      <p:pic>
        <p:nvPicPr>
          <p:cNvPr id="86" name="Image 1" descr="Image 1">
            <a:extLst>
              <a:ext uri="{FF2B5EF4-FFF2-40B4-BE49-F238E27FC236}">
                <a16:creationId xmlns:a16="http://schemas.microsoft.com/office/drawing/2014/main" id="{80524D0E-F42E-445B-915F-76A31480F1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9124" y="2242726"/>
            <a:ext cx="4365686" cy="4049594"/>
          </a:xfrm>
          <a:prstGeom prst="rect">
            <a:avLst/>
          </a:prstGeom>
          <a:ln w="12700">
            <a:miter lim="400000"/>
          </a:ln>
        </p:spPr>
      </p:pic>
      <p:pic>
        <p:nvPicPr>
          <p:cNvPr id="87" name="Image 1" descr="Image 1">
            <a:extLst>
              <a:ext uri="{FF2B5EF4-FFF2-40B4-BE49-F238E27FC236}">
                <a16:creationId xmlns:a16="http://schemas.microsoft.com/office/drawing/2014/main" id="{E0D87B95-CF6D-4474-AD5A-1CB3FC8197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9124" y="2611941"/>
            <a:ext cx="4365686" cy="4049594"/>
          </a:xfrm>
          <a:prstGeom prst="rect">
            <a:avLst/>
          </a:prstGeom>
          <a:ln w="12700">
            <a:miter lim="400000"/>
          </a:ln>
        </p:spPr>
      </p:pic>
      <p:pic>
        <p:nvPicPr>
          <p:cNvPr id="88" name="Image 1" descr="Image 1">
            <a:extLst>
              <a:ext uri="{FF2B5EF4-FFF2-40B4-BE49-F238E27FC236}">
                <a16:creationId xmlns:a16="http://schemas.microsoft.com/office/drawing/2014/main" id="{98154381-6E8C-43D3-9A9C-36DE7326B9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9124" y="2981156"/>
            <a:ext cx="4365686" cy="4049594"/>
          </a:xfrm>
          <a:prstGeom prst="rect">
            <a:avLst/>
          </a:prstGeom>
          <a:ln w="12700">
            <a:miter lim="400000"/>
          </a:ln>
        </p:spPr>
      </p:pic>
      <p:pic>
        <p:nvPicPr>
          <p:cNvPr id="89" name="Image 1" descr="Image 1">
            <a:extLst>
              <a:ext uri="{FF2B5EF4-FFF2-40B4-BE49-F238E27FC236}">
                <a16:creationId xmlns:a16="http://schemas.microsoft.com/office/drawing/2014/main" id="{20BAEE7B-0410-4CC4-B960-13BDD27F1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79124" y="3350371"/>
            <a:ext cx="4365686" cy="404959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4" name="Text 0"/>
          <p:cNvSpPr txBox="1"/>
          <p:nvPr/>
        </p:nvSpPr>
        <p:spPr>
          <a:xfrm>
            <a:off x="571499" y="380999"/>
            <a:ext cx="411855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074 §10 TROUBLESHOOTING</a:t>
            </a:r>
          </a:p>
        </p:txBody>
      </p:sp>
      <p:sp>
        <p:nvSpPr>
          <p:cNvPr id="1685" name="Text 1"/>
          <p:cNvSpPr txBox="1"/>
          <p:nvPr/>
        </p:nvSpPr>
        <p:spPr>
          <a:xfrm>
            <a:off x="16313466" y="380999"/>
            <a:ext cx="147923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НЕТ ЗВУКА</a:t>
            </a:r>
          </a:p>
        </p:txBody>
      </p:sp>
      <p:sp>
        <p:nvSpPr>
          <p:cNvPr id="1686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ПРОБЛЕМА 01</a:t>
            </a:r>
          </a:p>
        </p:txBody>
      </p:sp>
      <p:sp>
        <p:nvSpPr>
          <p:cNvPr id="1687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Нет звука — проверьте шесть пунктов</a:t>
            </a:r>
          </a:p>
        </p:txBody>
      </p:sp>
      <p:sp>
        <p:nvSpPr>
          <p:cNvPr id="1688" name="Shape 4"/>
          <p:cNvSpPr/>
          <p:nvPr/>
        </p:nvSpPr>
        <p:spPr>
          <a:xfrm>
            <a:off x="1143000" y="279368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89" name="Text 5"/>
          <p:cNvSpPr txBox="1"/>
          <p:nvPr/>
        </p:nvSpPr>
        <p:spPr>
          <a:xfrm>
            <a:off x="1143000" y="307673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1690" name="Text 6"/>
          <p:cNvSpPr txBox="1"/>
          <p:nvPr/>
        </p:nvSpPr>
        <p:spPr>
          <a:xfrm>
            <a:off x="2286000" y="301434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Сетевой кабель и выключатель сзади</a:t>
            </a:r>
          </a:p>
        </p:txBody>
      </p:sp>
      <p:sp>
        <p:nvSpPr>
          <p:cNvPr id="1691" name="Shape 7"/>
          <p:cNvSpPr/>
          <p:nvPr/>
        </p:nvSpPr>
        <p:spPr>
          <a:xfrm>
            <a:off x="1143000" y="388524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92" name="Text 8"/>
          <p:cNvSpPr txBox="1"/>
          <p:nvPr/>
        </p:nvSpPr>
        <p:spPr>
          <a:xfrm>
            <a:off x="1143000" y="4168299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1693" name="Text 9"/>
          <p:cNvSpPr txBox="1"/>
          <p:nvPr/>
        </p:nvSpPr>
        <p:spPr>
          <a:xfrm>
            <a:off x="2286000" y="4105909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Сигнальный кабель и селектор входа</a:t>
            </a:r>
          </a:p>
        </p:txBody>
      </p:sp>
      <p:sp>
        <p:nvSpPr>
          <p:cNvPr id="1694" name="Shape 10"/>
          <p:cNvSpPr/>
          <p:nvPr/>
        </p:nvSpPr>
        <p:spPr>
          <a:xfrm>
            <a:off x="1143000" y="497681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95" name="Text 11"/>
          <p:cNvSpPr txBox="1"/>
          <p:nvPr/>
        </p:nvSpPr>
        <p:spPr>
          <a:xfrm>
            <a:off x="1143000" y="525986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1696" name="Text 12"/>
          <p:cNvSpPr txBox="1"/>
          <p:nvPr/>
        </p:nvSpPr>
        <p:spPr>
          <a:xfrm>
            <a:off x="2286000" y="5197474"/>
            <a:ext cx="15304770" cy="434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Уровень не на минимуме</a:t>
            </a:r>
          </a:p>
        </p:txBody>
      </p:sp>
      <p:sp>
        <p:nvSpPr>
          <p:cNvPr id="1697" name="Shape 13"/>
          <p:cNvSpPr/>
          <p:nvPr/>
        </p:nvSpPr>
        <p:spPr>
          <a:xfrm>
            <a:off x="1143000" y="606837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698" name="Text 14"/>
          <p:cNvSpPr txBox="1"/>
          <p:nvPr/>
        </p:nvSpPr>
        <p:spPr>
          <a:xfrm>
            <a:off x="1143000" y="6351428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1699" name="Text 15"/>
          <p:cNvSpPr txBox="1"/>
          <p:nvPr/>
        </p:nvSpPr>
        <p:spPr>
          <a:xfrm>
            <a:off x="2286000" y="6289040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Кроссовер не ниже частоты сигнала</a:t>
            </a:r>
          </a:p>
        </p:txBody>
      </p:sp>
      <p:sp>
        <p:nvSpPr>
          <p:cNvPr id="1700" name="Shape 16"/>
          <p:cNvSpPr/>
          <p:nvPr/>
        </p:nvSpPr>
        <p:spPr>
          <a:xfrm>
            <a:off x="1143000" y="715994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01" name="Text 17"/>
          <p:cNvSpPr txBox="1"/>
          <p:nvPr/>
        </p:nvSpPr>
        <p:spPr>
          <a:xfrm>
            <a:off x="1143000" y="744299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</a:t>
            </a:r>
          </a:p>
        </p:txBody>
      </p:sp>
      <p:sp>
        <p:nvSpPr>
          <p:cNvPr id="1702" name="Text 18"/>
          <p:cNvSpPr txBox="1"/>
          <p:nvPr/>
        </p:nvSpPr>
        <p:spPr>
          <a:xfrm>
            <a:off x="2286000" y="738060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Auto-on режим — подайте сигнал ≥ −60 дБu</a:t>
            </a:r>
          </a:p>
        </p:txBody>
      </p:sp>
      <p:sp>
        <p:nvSpPr>
          <p:cNvPr id="1703" name="Shape 19"/>
          <p:cNvSpPr/>
          <p:nvPr/>
        </p:nvSpPr>
        <p:spPr>
          <a:xfrm>
            <a:off x="1143000" y="907637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04" name="Shape 20"/>
          <p:cNvSpPr/>
          <p:nvPr/>
        </p:nvSpPr>
        <p:spPr>
          <a:xfrm>
            <a:off x="1143000" y="825150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05" name="Text 21"/>
          <p:cNvSpPr txBox="1"/>
          <p:nvPr/>
        </p:nvSpPr>
        <p:spPr>
          <a:xfrm>
            <a:off x="1143000" y="8534558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06</a:t>
            </a:r>
          </a:p>
        </p:txBody>
      </p:sp>
      <p:sp>
        <p:nvSpPr>
          <p:cNvPr id="1706" name="Text 22"/>
          <p:cNvSpPr txBox="1"/>
          <p:nvPr/>
        </p:nvSpPr>
        <p:spPr>
          <a:xfrm>
            <a:off x="2286000" y="8472169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 ресивере Subwoofer: Yes, LFE+Main настроен</a:t>
            </a:r>
          </a:p>
        </p:txBody>
      </p:sp>
      <p:sp>
        <p:nvSpPr>
          <p:cNvPr id="1707" name="Text 23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074 / 100</a:t>
            </a:r>
          </a:p>
        </p:txBody>
      </p:sp>
      <p:sp>
        <p:nvSpPr>
          <p:cNvPr id="1708" name="Text 24"/>
          <p:cNvSpPr txBox="1"/>
          <p:nvPr/>
        </p:nvSpPr>
        <p:spPr>
          <a:xfrm>
            <a:off x="14754541" y="9672638"/>
            <a:ext cx="305081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dirty="0"/>
              <a:t>§10 TROUBLESHOOTING</a:t>
            </a:r>
          </a:p>
        </p:txBody>
      </p:sp>
    </p:spTree>
  </p:cSld>
  <p:clrMapOvr>
    <a:masterClrMapping/>
  </p:clrMapOvr>
  <p:transition spd="med"/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" name="Text 0"/>
          <p:cNvSpPr txBox="1"/>
          <p:nvPr/>
        </p:nvSpPr>
        <p:spPr>
          <a:xfrm>
            <a:off x="571499" y="380999"/>
            <a:ext cx="411855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075 §10 TROUBLESHOOTING</a:t>
            </a:r>
          </a:p>
        </p:txBody>
      </p:sp>
      <p:sp>
        <p:nvSpPr>
          <p:cNvPr id="1711" name="Text 1"/>
          <p:cNvSpPr txBox="1"/>
          <p:nvPr/>
        </p:nvSpPr>
        <p:spPr>
          <a:xfrm>
            <a:off x="16625253" y="380999"/>
            <a:ext cx="116744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ГУДЕНИЕ</a:t>
            </a:r>
          </a:p>
        </p:txBody>
      </p:sp>
      <p:sp>
        <p:nvSpPr>
          <p:cNvPr id="1712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ПРОБЛЕМА 02</a:t>
            </a:r>
          </a:p>
        </p:txBody>
      </p:sp>
      <p:sp>
        <p:nvSpPr>
          <p:cNvPr id="1713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Гудение 50/60 Гц — найдите земляную петлю</a:t>
            </a:r>
          </a:p>
        </p:txBody>
      </p:sp>
      <p:sp>
        <p:nvSpPr>
          <p:cNvPr id="1714" name="Text 4"/>
          <p:cNvSpPr txBox="1"/>
          <p:nvPr/>
        </p:nvSpPr>
        <p:spPr>
          <a:xfrm>
            <a:off x="1143000" y="5570537"/>
            <a:ext cx="7848600" cy="912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96111">
              <a:lnSpc>
                <a:spcPct val="135000"/>
              </a:lnSpc>
              <a:defRPr sz="2450" spc="-97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Признак: ровный тон на 50/60 Гц, не меняется с громкостью источника.</a:t>
            </a:r>
          </a:p>
        </p:txBody>
      </p:sp>
      <p:sp>
        <p:nvSpPr>
          <p:cNvPr id="1715" name="Shape 5"/>
          <p:cNvSpPr/>
          <p:nvPr/>
        </p:nvSpPr>
        <p:spPr>
          <a:xfrm>
            <a:off x="9525000" y="406590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16" name="Text 6"/>
          <p:cNvSpPr txBox="1"/>
          <p:nvPr/>
        </p:nvSpPr>
        <p:spPr>
          <a:xfrm>
            <a:off x="9525000" y="4348955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1717" name="Text 7"/>
          <p:cNvSpPr txBox="1"/>
          <p:nvPr/>
        </p:nvSpPr>
        <p:spPr>
          <a:xfrm>
            <a:off x="10668000" y="4286567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Все устройства — в один сетевой фильтр</a:t>
            </a:r>
          </a:p>
        </p:txBody>
      </p:sp>
      <p:sp>
        <p:nvSpPr>
          <p:cNvPr id="1718" name="Shape 8"/>
          <p:cNvSpPr/>
          <p:nvPr/>
        </p:nvSpPr>
        <p:spPr>
          <a:xfrm>
            <a:off x="9525000" y="515746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19" name="Text 9"/>
          <p:cNvSpPr txBox="1"/>
          <p:nvPr/>
        </p:nvSpPr>
        <p:spPr>
          <a:xfrm>
            <a:off x="9525000" y="5440521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1720" name="Text 10"/>
          <p:cNvSpPr txBox="1"/>
          <p:nvPr/>
        </p:nvSpPr>
        <p:spPr>
          <a:xfrm>
            <a:off x="10668000" y="5378132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Отсоедините кабельное ТВ / антенну</a:t>
            </a:r>
          </a:p>
        </p:txBody>
      </p:sp>
      <p:sp>
        <p:nvSpPr>
          <p:cNvPr id="1721" name="Shape 11"/>
          <p:cNvSpPr/>
          <p:nvPr/>
        </p:nvSpPr>
        <p:spPr>
          <a:xfrm>
            <a:off x="9525000" y="624903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22" name="Text 12"/>
          <p:cNvSpPr txBox="1"/>
          <p:nvPr/>
        </p:nvSpPr>
        <p:spPr>
          <a:xfrm>
            <a:off x="9525000" y="6532085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1723" name="Text 13"/>
          <p:cNvSpPr txBox="1"/>
          <p:nvPr/>
        </p:nvSpPr>
        <p:spPr>
          <a:xfrm>
            <a:off x="10668000" y="6469698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Попробуйте ground-lift адаптер</a:t>
            </a:r>
          </a:p>
        </p:txBody>
      </p:sp>
      <p:sp>
        <p:nvSpPr>
          <p:cNvPr id="1724" name="Shape 14"/>
          <p:cNvSpPr/>
          <p:nvPr/>
        </p:nvSpPr>
        <p:spPr>
          <a:xfrm>
            <a:off x="9525000" y="816546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25" name="Shape 15"/>
          <p:cNvSpPr/>
          <p:nvPr/>
        </p:nvSpPr>
        <p:spPr>
          <a:xfrm>
            <a:off x="9525000" y="734059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26" name="Text 16"/>
          <p:cNvSpPr txBox="1"/>
          <p:nvPr/>
        </p:nvSpPr>
        <p:spPr>
          <a:xfrm>
            <a:off x="9525000" y="7623650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1727" name="Text 17"/>
          <p:cNvSpPr txBox="1"/>
          <p:nvPr/>
        </p:nvSpPr>
        <p:spPr>
          <a:xfrm>
            <a:off x="10668000" y="7561261"/>
            <a:ext cx="667131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Замените RCA на XLR или iso-transformer</a:t>
            </a:r>
          </a:p>
        </p:txBody>
      </p:sp>
      <p:sp>
        <p:nvSpPr>
          <p:cNvPr id="1728" name="Text 1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075 / 100</a:t>
            </a:r>
          </a:p>
        </p:txBody>
      </p:sp>
      <p:sp>
        <p:nvSpPr>
          <p:cNvPr id="1729" name="Text 19"/>
          <p:cNvSpPr txBox="1"/>
          <p:nvPr/>
        </p:nvSpPr>
        <p:spPr>
          <a:xfrm>
            <a:off x="14754541" y="9672638"/>
            <a:ext cx="305081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§10 TROUBLESHOOTING</a:t>
            </a:r>
          </a:p>
        </p:txBody>
      </p:sp>
    </p:spTree>
  </p:cSld>
  <p:clrMapOvr>
    <a:masterClrMapping/>
  </p:clrMapOvr>
  <p:transition spd="med"/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1" name="Text 0"/>
          <p:cNvSpPr txBox="1"/>
          <p:nvPr/>
        </p:nvSpPr>
        <p:spPr>
          <a:xfrm>
            <a:off x="571499" y="380999"/>
            <a:ext cx="411855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076 §10 TROUBLESHOOTING</a:t>
            </a:r>
          </a:p>
        </p:txBody>
      </p:sp>
      <p:sp>
        <p:nvSpPr>
          <p:cNvPr id="1732" name="Text 1"/>
          <p:cNvSpPr txBox="1"/>
          <p:nvPr/>
        </p:nvSpPr>
        <p:spPr>
          <a:xfrm>
            <a:off x="16781144" y="380999"/>
            <a:ext cx="1011556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22959">
              <a:defRPr sz="1619" spc="89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БУБНЁЖ</a:t>
            </a:r>
          </a:p>
        </p:txBody>
      </p:sp>
      <p:sp>
        <p:nvSpPr>
          <p:cNvPr id="1733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ПРОБЛЕМА 03</a:t>
            </a:r>
          </a:p>
        </p:txBody>
      </p:sp>
      <p:sp>
        <p:nvSpPr>
          <p:cNvPr id="1734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Бубнёж — уменьшите близость к стене</a:t>
            </a:r>
          </a:p>
        </p:txBody>
      </p:sp>
      <p:sp>
        <p:nvSpPr>
          <p:cNvPr id="1735" name="Text 4"/>
          <p:cNvSpPr txBox="1"/>
          <p:nvPr/>
        </p:nvSpPr>
        <p:spPr>
          <a:xfrm>
            <a:off x="1143000" y="2719070"/>
            <a:ext cx="13735050" cy="1349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lnSpc>
                <a:spcPct val="135000"/>
              </a:lnSpc>
              <a:defRPr sz="2350" spc="-94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Если бас «ухает» и оседает в одной ноте — причина в близости к границам. Отодвиньте саб от стены на 10—20 см, запустите заново crawl-тест. Если двигать некуда — режекторный EQ −6 дБ с Q 4.0 на пике.</a:t>
            </a:r>
          </a:p>
        </p:txBody>
      </p:sp>
      <p:sp>
        <p:nvSpPr>
          <p:cNvPr id="1736" name="Text 5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076 / 100</a:t>
            </a:r>
          </a:p>
        </p:txBody>
      </p:sp>
      <p:sp>
        <p:nvSpPr>
          <p:cNvPr id="1737" name="Text 6"/>
          <p:cNvSpPr txBox="1"/>
          <p:nvPr/>
        </p:nvSpPr>
        <p:spPr>
          <a:xfrm>
            <a:off x="14754541" y="9672638"/>
            <a:ext cx="305081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§10 TROUBLESHOOTING</a:t>
            </a:r>
          </a:p>
        </p:txBody>
      </p:sp>
    </p:spTree>
  </p:cSld>
  <p:clrMapOvr>
    <a:masterClrMapping/>
  </p:clrMapOvr>
  <p:transition spd="med"/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9" name="Text 0"/>
          <p:cNvSpPr txBox="1"/>
          <p:nvPr/>
        </p:nvSpPr>
        <p:spPr>
          <a:xfrm>
            <a:off x="571499" y="380999"/>
            <a:ext cx="411855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077 §10 TROUBLESHOOTING</a:t>
            </a:r>
          </a:p>
        </p:txBody>
      </p:sp>
      <p:sp>
        <p:nvSpPr>
          <p:cNvPr id="1740" name="Text 1"/>
          <p:cNvSpPr txBox="1"/>
          <p:nvPr/>
        </p:nvSpPr>
        <p:spPr>
          <a:xfrm>
            <a:off x="16781144" y="380999"/>
            <a:ext cx="1011556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32104">
              <a:defRPr sz="1638" spc="91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ЗАЩИТА</a:t>
            </a:r>
          </a:p>
        </p:txBody>
      </p:sp>
      <p:sp>
        <p:nvSpPr>
          <p:cNvPr id="1741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ПРОБЛЕМА 04</a:t>
            </a:r>
          </a:p>
        </p:txBody>
      </p:sp>
      <p:sp>
        <p:nvSpPr>
          <p:cNvPr id="1742" name="Text 3"/>
          <p:cNvSpPr txBox="1"/>
          <p:nvPr/>
        </p:nvSpPr>
        <p:spPr>
          <a:xfrm>
            <a:off x="1143000" y="1490662"/>
            <a:ext cx="14716125" cy="1428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lnSpc>
                <a:spcPct val="114010"/>
              </a:lnSpc>
              <a:defRPr sz="4752" spc="-99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Саб выключается на громкости — защита сработала</a:t>
            </a:r>
          </a:p>
        </p:txBody>
      </p:sp>
      <p:sp>
        <p:nvSpPr>
          <p:cNvPr id="1743" name="Text 4"/>
          <p:cNvSpPr txBox="1"/>
          <p:nvPr/>
        </p:nvSpPr>
        <p:spPr>
          <a:xfrm>
            <a:off x="1143000" y="5918041"/>
            <a:ext cx="7848600" cy="912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96111">
              <a:lnSpc>
                <a:spcPct val="135000"/>
              </a:lnSpc>
              <a:defRPr sz="2450" spc="-97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Индикатор становится красным. Это штатное поведение, саб не сломан.</a:t>
            </a:r>
          </a:p>
        </p:txBody>
      </p:sp>
      <p:sp>
        <p:nvSpPr>
          <p:cNvPr id="1744" name="Shape 5"/>
          <p:cNvSpPr/>
          <p:nvPr/>
        </p:nvSpPr>
        <p:spPr>
          <a:xfrm>
            <a:off x="9525000" y="4797742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45" name="Text 6"/>
          <p:cNvSpPr txBox="1"/>
          <p:nvPr/>
        </p:nvSpPr>
        <p:spPr>
          <a:xfrm>
            <a:off x="9525000" y="4970779"/>
            <a:ext cx="3296412" cy="69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ПЕРЕГРЕВ</a:t>
            </a:r>
          </a:p>
        </p:txBody>
      </p:sp>
      <p:sp>
        <p:nvSpPr>
          <p:cNvPr id="1746" name="Text 7"/>
          <p:cNvSpPr txBox="1"/>
          <p:nvPr/>
        </p:nvSpPr>
        <p:spPr>
          <a:xfrm>
            <a:off x="12725399" y="4970779"/>
            <a:ext cx="4552190" cy="69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понизьте уровень, дайте вентиляцию</a:t>
            </a:r>
          </a:p>
        </p:txBody>
      </p:sp>
      <p:sp>
        <p:nvSpPr>
          <p:cNvPr id="1747" name="Shape 8"/>
          <p:cNvSpPr/>
          <p:nvPr/>
        </p:nvSpPr>
        <p:spPr>
          <a:xfrm>
            <a:off x="9525000" y="5793740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48" name="Text 9"/>
          <p:cNvSpPr txBox="1"/>
          <p:nvPr/>
        </p:nvSpPr>
        <p:spPr>
          <a:xfrm>
            <a:off x="9525000" y="5966778"/>
            <a:ext cx="3296412" cy="69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КЛИППИНГ</a:t>
            </a:r>
          </a:p>
        </p:txBody>
      </p:sp>
      <p:sp>
        <p:nvSpPr>
          <p:cNvPr id="1749" name="Text 10"/>
          <p:cNvSpPr txBox="1"/>
          <p:nvPr/>
        </p:nvSpPr>
        <p:spPr>
          <a:xfrm>
            <a:off x="12725399" y="5966778"/>
            <a:ext cx="4552190" cy="69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снизьте мастер-громкость на −6 дБ</a:t>
            </a:r>
          </a:p>
        </p:txBody>
      </p:sp>
      <p:sp>
        <p:nvSpPr>
          <p:cNvPr id="1750" name="Shape 11"/>
          <p:cNvSpPr/>
          <p:nvPr/>
        </p:nvSpPr>
        <p:spPr>
          <a:xfrm>
            <a:off x="9525000" y="678973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51" name="Text 12"/>
          <p:cNvSpPr txBox="1"/>
          <p:nvPr/>
        </p:nvSpPr>
        <p:spPr>
          <a:xfrm>
            <a:off x="9525000" y="6962774"/>
            <a:ext cx="3296412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DC-OFFSET</a:t>
            </a:r>
          </a:p>
        </p:txBody>
      </p:sp>
      <p:sp>
        <p:nvSpPr>
          <p:cNvPr id="1752" name="Text 13"/>
          <p:cNvSpPr txBox="1"/>
          <p:nvPr/>
        </p:nvSpPr>
        <p:spPr>
          <a:xfrm>
            <a:off x="12725399" y="6962774"/>
            <a:ext cx="4552190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проверьте источник</a:t>
            </a:r>
          </a:p>
        </p:txBody>
      </p:sp>
      <p:sp>
        <p:nvSpPr>
          <p:cNvPr id="1753" name="Shape 14"/>
          <p:cNvSpPr/>
          <p:nvPr/>
        </p:nvSpPr>
        <p:spPr>
          <a:xfrm>
            <a:off x="9525000" y="812863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54" name="Shape 15"/>
          <p:cNvSpPr/>
          <p:nvPr/>
        </p:nvSpPr>
        <p:spPr>
          <a:xfrm>
            <a:off x="9525000" y="746394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55" name="Text 16"/>
          <p:cNvSpPr txBox="1"/>
          <p:nvPr/>
        </p:nvSpPr>
        <p:spPr>
          <a:xfrm>
            <a:off x="9525000" y="7636985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СБРОС</a:t>
            </a:r>
          </a:p>
        </p:txBody>
      </p:sp>
      <p:sp>
        <p:nvSpPr>
          <p:cNvPr id="1756" name="Text 17"/>
          <p:cNvSpPr txBox="1"/>
          <p:nvPr/>
        </p:nvSpPr>
        <p:spPr>
          <a:xfrm>
            <a:off x="12725399" y="7636985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выключить на 10 мин → включить</a:t>
            </a:r>
          </a:p>
        </p:txBody>
      </p:sp>
      <p:sp>
        <p:nvSpPr>
          <p:cNvPr id="1757" name="Text 1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077 / 100</a:t>
            </a:r>
          </a:p>
        </p:txBody>
      </p:sp>
      <p:sp>
        <p:nvSpPr>
          <p:cNvPr id="1758" name="Text 19"/>
          <p:cNvSpPr txBox="1"/>
          <p:nvPr/>
        </p:nvSpPr>
        <p:spPr>
          <a:xfrm>
            <a:off x="14754541" y="9672638"/>
            <a:ext cx="305081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§10 TROUBLESHOOTING</a:t>
            </a:r>
          </a:p>
        </p:txBody>
      </p:sp>
    </p:spTree>
  </p:cSld>
  <p:clrMapOvr>
    <a:masterClrMapping/>
  </p:clrMapOvr>
  <p:transition spd="med"/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0" name="Text 0"/>
          <p:cNvSpPr txBox="1"/>
          <p:nvPr/>
        </p:nvSpPr>
        <p:spPr>
          <a:xfrm>
            <a:off x="571499" y="380999"/>
            <a:ext cx="411855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078 §10 TROUBLESHOOTING</a:t>
            </a:r>
          </a:p>
        </p:txBody>
      </p:sp>
      <p:sp>
        <p:nvSpPr>
          <p:cNvPr id="1761" name="Text 1"/>
          <p:cNvSpPr txBox="1"/>
          <p:nvPr/>
        </p:nvSpPr>
        <p:spPr>
          <a:xfrm>
            <a:off x="16937037" y="380999"/>
            <a:ext cx="855663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22959">
              <a:defRPr sz="1619" spc="89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ХРИПЫ</a:t>
            </a:r>
          </a:p>
        </p:txBody>
      </p:sp>
      <p:sp>
        <p:nvSpPr>
          <p:cNvPr id="1762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ПРОБЛЕМА 05</a:t>
            </a:r>
          </a:p>
        </p:txBody>
      </p:sp>
      <p:sp>
        <p:nvSpPr>
          <p:cNvPr id="1763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Хрипы — проверьте мощность и клиппинг</a:t>
            </a:r>
          </a:p>
        </p:txBody>
      </p:sp>
      <p:sp>
        <p:nvSpPr>
          <p:cNvPr id="1764" name="Shape 4"/>
          <p:cNvSpPr/>
          <p:nvPr/>
        </p:nvSpPr>
        <p:spPr>
          <a:xfrm>
            <a:off x="1143000" y="279368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65" name="Text 5"/>
          <p:cNvSpPr txBox="1"/>
          <p:nvPr/>
        </p:nvSpPr>
        <p:spPr>
          <a:xfrm>
            <a:off x="1143000" y="307673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1766" name="Text 6"/>
          <p:cNvSpPr txBox="1"/>
          <p:nvPr/>
        </p:nvSpPr>
        <p:spPr>
          <a:xfrm>
            <a:off x="2286000" y="301434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Понизьте уровень саба на 6 дБ — хрип пропал?</a:t>
            </a:r>
          </a:p>
        </p:txBody>
      </p:sp>
      <p:sp>
        <p:nvSpPr>
          <p:cNvPr id="1767" name="Shape 7"/>
          <p:cNvSpPr/>
          <p:nvPr/>
        </p:nvSpPr>
        <p:spPr>
          <a:xfrm>
            <a:off x="1143000" y="388524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68" name="Text 8"/>
          <p:cNvSpPr txBox="1"/>
          <p:nvPr/>
        </p:nvSpPr>
        <p:spPr>
          <a:xfrm>
            <a:off x="1143000" y="4168299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1769" name="Text 9"/>
          <p:cNvSpPr txBox="1"/>
          <p:nvPr/>
        </p:nvSpPr>
        <p:spPr>
          <a:xfrm>
            <a:off x="2286000" y="4105909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Ослабьте boost в EQ ниже 40 Гц</a:t>
            </a:r>
          </a:p>
        </p:txBody>
      </p:sp>
      <p:sp>
        <p:nvSpPr>
          <p:cNvPr id="1770" name="Shape 10"/>
          <p:cNvSpPr/>
          <p:nvPr/>
        </p:nvSpPr>
        <p:spPr>
          <a:xfrm>
            <a:off x="1143000" y="497681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71" name="Text 11"/>
          <p:cNvSpPr txBox="1"/>
          <p:nvPr/>
        </p:nvSpPr>
        <p:spPr>
          <a:xfrm>
            <a:off x="1143000" y="525986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1772" name="Text 12"/>
          <p:cNvSpPr txBox="1"/>
          <p:nvPr/>
        </p:nvSpPr>
        <p:spPr>
          <a:xfrm>
            <a:off x="2286000" y="5197474"/>
            <a:ext cx="15304770" cy="434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Проверьте, не клиппирует ли источник</a:t>
            </a:r>
          </a:p>
        </p:txBody>
      </p:sp>
      <p:sp>
        <p:nvSpPr>
          <p:cNvPr id="1773" name="Shape 13"/>
          <p:cNvSpPr/>
          <p:nvPr/>
        </p:nvSpPr>
        <p:spPr>
          <a:xfrm>
            <a:off x="1143000" y="606837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74" name="Text 14"/>
          <p:cNvSpPr txBox="1"/>
          <p:nvPr/>
        </p:nvSpPr>
        <p:spPr>
          <a:xfrm>
            <a:off x="1143000" y="6351428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1775" name="Text 15"/>
          <p:cNvSpPr txBox="1"/>
          <p:nvPr/>
        </p:nvSpPr>
        <p:spPr>
          <a:xfrm>
            <a:off x="2286000" y="6289040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Осмотрите диффузор и подвес на разрывы</a:t>
            </a:r>
          </a:p>
        </p:txBody>
      </p:sp>
      <p:sp>
        <p:nvSpPr>
          <p:cNvPr id="1776" name="Shape 16"/>
          <p:cNvSpPr/>
          <p:nvPr/>
        </p:nvSpPr>
        <p:spPr>
          <a:xfrm>
            <a:off x="1143000" y="798480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77" name="Shape 17"/>
          <p:cNvSpPr/>
          <p:nvPr/>
        </p:nvSpPr>
        <p:spPr>
          <a:xfrm>
            <a:off x="1143000" y="715994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78" name="Text 18"/>
          <p:cNvSpPr txBox="1"/>
          <p:nvPr/>
        </p:nvSpPr>
        <p:spPr>
          <a:xfrm>
            <a:off x="1143000" y="744299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</a:t>
            </a:r>
          </a:p>
        </p:txBody>
      </p:sp>
      <p:sp>
        <p:nvSpPr>
          <p:cNvPr id="1779" name="Text 19"/>
          <p:cNvSpPr txBox="1"/>
          <p:nvPr/>
        </p:nvSpPr>
        <p:spPr>
          <a:xfrm>
            <a:off x="2286000" y="738060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Проверьте HPF 20 Гц — защищает от sub-sonics</a:t>
            </a:r>
          </a:p>
        </p:txBody>
      </p:sp>
      <p:sp>
        <p:nvSpPr>
          <p:cNvPr id="1780" name="Text 20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078 / 100</a:t>
            </a:r>
          </a:p>
        </p:txBody>
      </p:sp>
      <p:sp>
        <p:nvSpPr>
          <p:cNvPr id="1781" name="Text 21"/>
          <p:cNvSpPr txBox="1"/>
          <p:nvPr/>
        </p:nvSpPr>
        <p:spPr>
          <a:xfrm>
            <a:off x="14754541" y="9672638"/>
            <a:ext cx="305081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§10 TROUBLESHOOTING</a:t>
            </a:r>
          </a:p>
        </p:txBody>
      </p:sp>
    </p:spTree>
  </p:cSld>
  <p:clrMapOvr>
    <a:masterClrMapping/>
  </p:clrMapOvr>
  <p:transition spd="med"/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3" name="Text 0"/>
          <p:cNvSpPr txBox="1"/>
          <p:nvPr/>
        </p:nvSpPr>
        <p:spPr>
          <a:xfrm>
            <a:off x="571499" y="380999"/>
            <a:ext cx="411855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079 §10 TROUBLESHOOTING</a:t>
            </a:r>
          </a:p>
        </p:txBody>
      </p:sp>
      <p:sp>
        <p:nvSpPr>
          <p:cNvPr id="1784" name="Text 1"/>
          <p:cNvSpPr txBox="1"/>
          <p:nvPr/>
        </p:nvSpPr>
        <p:spPr>
          <a:xfrm>
            <a:off x="16313466" y="380999"/>
            <a:ext cx="147923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710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BLUETOOTH</a:t>
            </a:r>
          </a:p>
        </p:txBody>
      </p:sp>
      <p:sp>
        <p:nvSpPr>
          <p:cNvPr id="1785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ПРОБЛЕМА 06</a:t>
            </a:r>
          </a:p>
        </p:txBody>
      </p:sp>
      <p:sp>
        <p:nvSpPr>
          <p:cNvPr id="1786" name="Text 3"/>
          <p:cNvSpPr txBox="1"/>
          <p:nvPr/>
        </p:nvSpPr>
        <p:spPr>
          <a:xfrm>
            <a:off x="1143000" y="1490662"/>
            <a:ext cx="14716125" cy="1428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4010"/>
              </a:lnSpc>
              <a:defRPr sz="48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Нестабильный Bluetooth — сократите дистанцию</a:t>
            </a:r>
          </a:p>
        </p:txBody>
      </p:sp>
      <p:sp>
        <p:nvSpPr>
          <p:cNvPr id="1787" name="Text 4"/>
          <p:cNvSpPr txBox="1"/>
          <p:nvPr/>
        </p:nvSpPr>
        <p:spPr>
          <a:xfrm>
            <a:off x="1143000" y="5699442"/>
            <a:ext cx="7848600" cy="13496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z="25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2.4 ГГц делит эфир с Wi-Fi и микроволновкой. Для саба используйте приоритет RESONA Link (5.8 ГГц).</a:t>
            </a:r>
          </a:p>
        </p:txBody>
      </p:sp>
      <p:sp>
        <p:nvSpPr>
          <p:cNvPr id="1788" name="Shape 5"/>
          <p:cNvSpPr/>
          <p:nvPr/>
        </p:nvSpPr>
        <p:spPr>
          <a:xfrm>
            <a:off x="9525000" y="511952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89" name="Text 6"/>
          <p:cNvSpPr txBox="1"/>
          <p:nvPr/>
        </p:nvSpPr>
        <p:spPr>
          <a:xfrm>
            <a:off x="9525000" y="5292566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МАКС. ДИСТАНЦИЯ</a:t>
            </a:r>
          </a:p>
        </p:txBody>
      </p:sp>
      <p:sp>
        <p:nvSpPr>
          <p:cNvPr id="1790" name="Text 7"/>
          <p:cNvSpPr txBox="1"/>
          <p:nvPr/>
        </p:nvSpPr>
        <p:spPr>
          <a:xfrm>
            <a:off x="12725399" y="5292566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10 м line-of-sight</a:t>
            </a:r>
          </a:p>
        </p:txBody>
      </p:sp>
      <p:sp>
        <p:nvSpPr>
          <p:cNvPr id="1791" name="Shape 8"/>
          <p:cNvSpPr/>
          <p:nvPr/>
        </p:nvSpPr>
        <p:spPr>
          <a:xfrm>
            <a:off x="9525000" y="5793740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2" name="Text 9"/>
          <p:cNvSpPr txBox="1"/>
          <p:nvPr/>
        </p:nvSpPr>
        <p:spPr>
          <a:xfrm>
            <a:off x="9525000" y="5966778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СТЕНЫ</a:t>
            </a:r>
          </a:p>
        </p:txBody>
      </p:sp>
      <p:sp>
        <p:nvSpPr>
          <p:cNvPr id="1793" name="Text 10"/>
          <p:cNvSpPr txBox="1"/>
          <p:nvPr/>
        </p:nvSpPr>
        <p:spPr>
          <a:xfrm>
            <a:off x="12725399" y="5966778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−6 дБ на каждую</a:t>
            </a:r>
          </a:p>
        </p:txBody>
      </p:sp>
      <p:sp>
        <p:nvSpPr>
          <p:cNvPr id="1794" name="Shape 11"/>
          <p:cNvSpPr/>
          <p:nvPr/>
        </p:nvSpPr>
        <p:spPr>
          <a:xfrm>
            <a:off x="9525000" y="646795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5" name="Text 12"/>
          <p:cNvSpPr txBox="1"/>
          <p:nvPr/>
        </p:nvSpPr>
        <p:spPr>
          <a:xfrm>
            <a:off x="9525000" y="6640989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ПРИОРИТЕТ</a:t>
            </a:r>
          </a:p>
        </p:txBody>
      </p:sp>
      <p:sp>
        <p:nvSpPr>
          <p:cNvPr id="1796" name="Text 13"/>
          <p:cNvSpPr txBox="1"/>
          <p:nvPr/>
        </p:nvSpPr>
        <p:spPr>
          <a:xfrm>
            <a:off x="12725399" y="6640989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LINK 5.8 ГГц</a:t>
            </a:r>
          </a:p>
        </p:txBody>
      </p:sp>
      <p:sp>
        <p:nvSpPr>
          <p:cNvPr id="1797" name="Shape 14"/>
          <p:cNvSpPr/>
          <p:nvPr/>
        </p:nvSpPr>
        <p:spPr>
          <a:xfrm>
            <a:off x="9525000" y="780684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8" name="Shape 15"/>
          <p:cNvSpPr/>
          <p:nvPr/>
        </p:nvSpPr>
        <p:spPr>
          <a:xfrm>
            <a:off x="9525000" y="7142162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799" name="Text 16"/>
          <p:cNvSpPr txBox="1"/>
          <p:nvPr/>
        </p:nvSpPr>
        <p:spPr>
          <a:xfrm>
            <a:off x="9525000" y="7315199"/>
            <a:ext cx="3296412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СБРОС ПАРЫ</a:t>
            </a:r>
          </a:p>
        </p:txBody>
      </p:sp>
      <p:sp>
        <p:nvSpPr>
          <p:cNvPr id="1800" name="Text 17"/>
          <p:cNvSpPr txBox="1"/>
          <p:nvPr/>
        </p:nvSpPr>
        <p:spPr>
          <a:xfrm>
            <a:off x="12725399" y="7315199"/>
            <a:ext cx="4552190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удержание PAIR 5 сек</a:t>
            </a:r>
          </a:p>
        </p:txBody>
      </p:sp>
      <p:sp>
        <p:nvSpPr>
          <p:cNvPr id="1801" name="Text 1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079 / 100</a:t>
            </a:r>
          </a:p>
        </p:txBody>
      </p:sp>
      <p:sp>
        <p:nvSpPr>
          <p:cNvPr id="1802" name="Text 19"/>
          <p:cNvSpPr txBox="1"/>
          <p:nvPr/>
        </p:nvSpPr>
        <p:spPr>
          <a:xfrm>
            <a:off x="14754541" y="9672638"/>
            <a:ext cx="305081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§10 TROUBLESHOOTING</a:t>
            </a:r>
          </a:p>
        </p:txBody>
      </p:sp>
    </p:spTree>
  </p:cSld>
  <p:clrMapOvr>
    <a:masterClrMapping/>
  </p:clrMapOvr>
  <p:transition spd="med"/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4" name="Text 0"/>
          <p:cNvSpPr txBox="1"/>
          <p:nvPr/>
        </p:nvSpPr>
        <p:spPr>
          <a:xfrm>
            <a:off x="571499" y="380999"/>
            <a:ext cx="411855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080 §10 TROUBLESHOOTING</a:t>
            </a:r>
          </a:p>
        </p:txBody>
      </p:sp>
      <p:sp>
        <p:nvSpPr>
          <p:cNvPr id="1805" name="Text 1"/>
          <p:cNvSpPr txBox="1"/>
          <p:nvPr/>
        </p:nvSpPr>
        <p:spPr>
          <a:xfrm>
            <a:off x="16469360" y="380999"/>
            <a:ext cx="132334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НЕТ БАСА</a:t>
            </a:r>
          </a:p>
        </p:txBody>
      </p:sp>
      <p:sp>
        <p:nvSpPr>
          <p:cNvPr id="1806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ПРОБЛЕМА 07</a:t>
            </a:r>
          </a:p>
        </p:txBody>
      </p:sp>
      <p:sp>
        <p:nvSpPr>
          <p:cNvPr id="1807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Саб «не играет басы» — проверьте кроссовер</a:t>
            </a:r>
          </a:p>
        </p:txBody>
      </p:sp>
      <p:sp>
        <p:nvSpPr>
          <p:cNvPr id="1808" name="Shape 4"/>
          <p:cNvSpPr/>
          <p:nvPr/>
        </p:nvSpPr>
        <p:spPr>
          <a:xfrm>
            <a:off x="1143000" y="279368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09" name="Text 5"/>
          <p:cNvSpPr txBox="1"/>
          <p:nvPr/>
        </p:nvSpPr>
        <p:spPr>
          <a:xfrm>
            <a:off x="1143000" y="307673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1810" name="Text 6"/>
          <p:cNvSpPr txBox="1"/>
          <p:nvPr/>
        </p:nvSpPr>
        <p:spPr>
          <a:xfrm>
            <a:off x="2286000" y="301434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Кроссовер саба не ниже частоты сигнала</a:t>
            </a:r>
          </a:p>
        </p:txBody>
      </p:sp>
      <p:sp>
        <p:nvSpPr>
          <p:cNvPr id="1811" name="Shape 7"/>
          <p:cNvSpPr/>
          <p:nvPr/>
        </p:nvSpPr>
        <p:spPr>
          <a:xfrm>
            <a:off x="1143000" y="388524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2" name="Text 8"/>
          <p:cNvSpPr txBox="1"/>
          <p:nvPr/>
        </p:nvSpPr>
        <p:spPr>
          <a:xfrm>
            <a:off x="1143000" y="4168299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1813" name="Text 9"/>
          <p:cNvSpPr txBox="1"/>
          <p:nvPr/>
        </p:nvSpPr>
        <p:spPr>
          <a:xfrm>
            <a:off x="2286000" y="4105909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 ресивере Speaker Size: Small (иначе низы идут на фронты)</a:t>
            </a:r>
          </a:p>
        </p:txBody>
      </p:sp>
      <p:sp>
        <p:nvSpPr>
          <p:cNvPr id="1814" name="Shape 10"/>
          <p:cNvSpPr/>
          <p:nvPr/>
        </p:nvSpPr>
        <p:spPr>
          <a:xfrm>
            <a:off x="1143000" y="497681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5" name="Text 11"/>
          <p:cNvSpPr txBox="1"/>
          <p:nvPr/>
        </p:nvSpPr>
        <p:spPr>
          <a:xfrm>
            <a:off x="1143000" y="525986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1816" name="Text 12"/>
          <p:cNvSpPr txBox="1"/>
          <p:nvPr/>
        </p:nvSpPr>
        <p:spPr>
          <a:xfrm>
            <a:off x="2286000" y="5197474"/>
            <a:ext cx="15304770" cy="434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Фаза не в противофазе (бас vs сателлиты)</a:t>
            </a:r>
          </a:p>
        </p:txBody>
      </p:sp>
      <p:sp>
        <p:nvSpPr>
          <p:cNvPr id="1817" name="Shape 13"/>
          <p:cNvSpPr/>
          <p:nvPr/>
        </p:nvSpPr>
        <p:spPr>
          <a:xfrm>
            <a:off x="1143000" y="606837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18" name="Text 14"/>
          <p:cNvSpPr txBox="1"/>
          <p:nvPr/>
        </p:nvSpPr>
        <p:spPr>
          <a:xfrm>
            <a:off x="1143000" y="6351428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1819" name="Text 15"/>
          <p:cNvSpPr txBox="1"/>
          <p:nvPr/>
        </p:nvSpPr>
        <p:spPr>
          <a:xfrm>
            <a:off x="2286000" y="6289040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Полярность коннектора L+/L−</a:t>
            </a:r>
          </a:p>
        </p:txBody>
      </p:sp>
      <p:sp>
        <p:nvSpPr>
          <p:cNvPr id="1820" name="Shape 16"/>
          <p:cNvSpPr/>
          <p:nvPr/>
        </p:nvSpPr>
        <p:spPr>
          <a:xfrm>
            <a:off x="1143000" y="798480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21" name="Shape 17"/>
          <p:cNvSpPr/>
          <p:nvPr/>
        </p:nvSpPr>
        <p:spPr>
          <a:xfrm>
            <a:off x="1143000" y="715994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22" name="Text 18"/>
          <p:cNvSpPr txBox="1"/>
          <p:nvPr/>
        </p:nvSpPr>
        <p:spPr>
          <a:xfrm>
            <a:off x="1143000" y="744299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</a:t>
            </a:r>
          </a:p>
        </p:txBody>
      </p:sp>
      <p:sp>
        <p:nvSpPr>
          <p:cNvPr id="1823" name="Text 19"/>
          <p:cNvSpPr txBox="1"/>
          <p:nvPr/>
        </p:nvSpPr>
        <p:spPr>
          <a:xfrm>
            <a:off x="2286000" y="738060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Источник отдаёт полный диапазон, не cut в приложении</a:t>
            </a:r>
          </a:p>
        </p:txBody>
      </p:sp>
      <p:sp>
        <p:nvSpPr>
          <p:cNvPr id="1824" name="Text 20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080 / 100</a:t>
            </a:r>
          </a:p>
        </p:txBody>
      </p:sp>
      <p:sp>
        <p:nvSpPr>
          <p:cNvPr id="1825" name="Text 21"/>
          <p:cNvSpPr txBox="1"/>
          <p:nvPr/>
        </p:nvSpPr>
        <p:spPr>
          <a:xfrm>
            <a:off x="14754541" y="9672638"/>
            <a:ext cx="305081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§10 TROUBLESHOOTING</a:t>
            </a:r>
          </a:p>
        </p:txBody>
      </p:sp>
    </p:spTree>
  </p:cSld>
  <p:clrMapOvr>
    <a:masterClrMapping/>
  </p:clrMapOvr>
  <p:transition spd="med"/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7" name="Text 0"/>
          <p:cNvSpPr txBox="1"/>
          <p:nvPr/>
        </p:nvSpPr>
        <p:spPr>
          <a:xfrm>
            <a:off x="571499" y="380999"/>
            <a:ext cx="411855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081 §10 TROUBLESHOOTING</a:t>
            </a:r>
          </a:p>
        </p:txBody>
      </p:sp>
      <p:sp>
        <p:nvSpPr>
          <p:cNvPr id="1828" name="Text 1"/>
          <p:cNvSpPr txBox="1"/>
          <p:nvPr/>
        </p:nvSpPr>
        <p:spPr>
          <a:xfrm>
            <a:off x="16469360" y="380999"/>
            <a:ext cx="132334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ПЕРЕГРЕВ</a:t>
            </a:r>
          </a:p>
        </p:txBody>
      </p:sp>
      <p:sp>
        <p:nvSpPr>
          <p:cNvPr id="1829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ПРОБЛЕМА 08</a:t>
            </a:r>
          </a:p>
        </p:txBody>
      </p:sp>
      <p:sp>
        <p:nvSpPr>
          <p:cNvPr id="1830" name="Text 3"/>
          <p:cNvSpPr txBox="1"/>
          <p:nvPr/>
        </p:nvSpPr>
        <p:spPr>
          <a:xfrm>
            <a:off x="1143000" y="1490662"/>
            <a:ext cx="14716125" cy="1428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4010"/>
              </a:lnSpc>
              <a:defRPr sz="48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Перегрев — дайте вентиляцию и снизьте уровень</a:t>
            </a:r>
          </a:p>
        </p:txBody>
      </p:sp>
      <p:sp>
        <p:nvSpPr>
          <p:cNvPr id="1831" name="Text 4"/>
          <p:cNvSpPr txBox="1"/>
          <p:nvPr/>
        </p:nvSpPr>
        <p:spPr>
          <a:xfrm>
            <a:off x="1143000" y="5595144"/>
            <a:ext cx="7848600" cy="17868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0391">
              <a:lnSpc>
                <a:spcPct val="135000"/>
              </a:lnSpc>
              <a:defRPr sz="2325" spc="-93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Саб уходит в thermal-protection, если температура радиатора превышает +75 °C. Это случается редко и обычно означает, что вы надолго перешли в зону лимитера.</a:t>
            </a:r>
          </a:p>
        </p:txBody>
      </p:sp>
      <p:sp>
        <p:nvSpPr>
          <p:cNvPr id="1832" name="Shape 5"/>
          <p:cNvSpPr/>
          <p:nvPr/>
        </p:nvSpPr>
        <p:spPr>
          <a:xfrm>
            <a:off x="9525000" y="511952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33" name="Text 6"/>
          <p:cNvSpPr txBox="1"/>
          <p:nvPr/>
        </p:nvSpPr>
        <p:spPr>
          <a:xfrm>
            <a:off x="9525000" y="5292566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НОРМА</a:t>
            </a:r>
          </a:p>
        </p:txBody>
      </p:sp>
      <p:sp>
        <p:nvSpPr>
          <p:cNvPr id="1834" name="Text 7"/>
          <p:cNvSpPr txBox="1"/>
          <p:nvPr/>
        </p:nvSpPr>
        <p:spPr>
          <a:xfrm>
            <a:off x="12725399" y="5292566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+35 … +55 °C</a:t>
            </a:r>
          </a:p>
        </p:txBody>
      </p:sp>
      <p:sp>
        <p:nvSpPr>
          <p:cNvPr id="1835" name="Shape 8"/>
          <p:cNvSpPr/>
          <p:nvPr/>
        </p:nvSpPr>
        <p:spPr>
          <a:xfrm>
            <a:off x="9525000" y="5793740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36" name="Text 9"/>
          <p:cNvSpPr txBox="1"/>
          <p:nvPr/>
        </p:nvSpPr>
        <p:spPr>
          <a:xfrm>
            <a:off x="9525000" y="5966778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WARNING</a:t>
            </a:r>
          </a:p>
        </p:txBody>
      </p:sp>
      <p:sp>
        <p:nvSpPr>
          <p:cNvPr id="1837" name="Text 10"/>
          <p:cNvSpPr txBox="1"/>
          <p:nvPr/>
        </p:nvSpPr>
        <p:spPr>
          <a:xfrm>
            <a:off x="12725399" y="5966778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+65 °C · янтарный LED</a:t>
            </a:r>
          </a:p>
        </p:txBody>
      </p:sp>
      <p:sp>
        <p:nvSpPr>
          <p:cNvPr id="1838" name="Shape 11"/>
          <p:cNvSpPr/>
          <p:nvPr/>
        </p:nvSpPr>
        <p:spPr>
          <a:xfrm>
            <a:off x="9525000" y="646795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39" name="Text 12"/>
          <p:cNvSpPr txBox="1"/>
          <p:nvPr/>
        </p:nvSpPr>
        <p:spPr>
          <a:xfrm>
            <a:off x="9525000" y="6640989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SHUTDOWN</a:t>
            </a:r>
          </a:p>
        </p:txBody>
      </p:sp>
      <p:sp>
        <p:nvSpPr>
          <p:cNvPr id="1840" name="Text 13"/>
          <p:cNvSpPr txBox="1"/>
          <p:nvPr/>
        </p:nvSpPr>
        <p:spPr>
          <a:xfrm>
            <a:off x="12725399" y="6640989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+75 °C · красный LED</a:t>
            </a:r>
          </a:p>
        </p:txBody>
      </p:sp>
      <p:sp>
        <p:nvSpPr>
          <p:cNvPr id="1841" name="Shape 14"/>
          <p:cNvSpPr/>
          <p:nvPr/>
        </p:nvSpPr>
        <p:spPr>
          <a:xfrm>
            <a:off x="9525000" y="780684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42" name="Shape 15"/>
          <p:cNvSpPr/>
          <p:nvPr/>
        </p:nvSpPr>
        <p:spPr>
          <a:xfrm>
            <a:off x="9525000" y="7142162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43" name="Text 16"/>
          <p:cNvSpPr txBox="1"/>
          <p:nvPr/>
        </p:nvSpPr>
        <p:spPr>
          <a:xfrm>
            <a:off x="9525000" y="7315199"/>
            <a:ext cx="3296412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ВРЕМЯ ОСТЫВАНИЯ</a:t>
            </a:r>
          </a:p>
        </p:txBody>
      </p:sp>
      <p:sp>
        <p:nvSpPr>
          <p:cNvPr id="1844" name="Text 17"/>
          <p:cNvSpPr txBox="1"/>
          <p:nvPr/>
        </p:nvSpPr>
        <p:spPr>
          <a:xfrm>
            <a:off x="12725399" y="7315199"/>
            <a:ext cx="4552190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~10 мин</a:t>
            </a:r>
          </a:p>
        </p:txBody>
      </p:sp>
      <p:sp>
        <p:nvSpPr>
          <p:cNvPr id="1845" name="Text 1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081 / 100</a:t>
            </a:r>
          </a:p>
        </p:txBody>
      </p:sp>
      <p:sp>
        <p:nvSpPr>
          <p:cNvPr id="1846" name="Text 19"/>
          <p:cNvSpPr txBox="1"/>
          <p:nvPr/>
        </p:nvSpPr>
        <p:spPr>
          <a:xfrm>
            <a:off x="14754541" y="9672638"/>
            <a:ext cx="305081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§10 TROUBLESHOOTING</a:t>
            </a:r>
          </a:p>
        </p:txBody>
      </p:sp>
    </p:spTree>
  </p:cSld>
  <p:clrMapOvr>
    <a:masterClrMapping/>
  </p:clrMapOvr>
  <p:transition spd="med"/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8" name="Text 0"/>
          <p:cNvSpPr txBox="1"/>
          <p:nvPr/>
        </p:nvSpPr>
        <p:spPr>
          <a:xfrm>
            <a:off x="571499" y="380999"/>
            <a:ext cx="411855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082 §10 TROUBLESHOOTING</a:t>
            </a:r>
          </a:p>
        </p:txBody>
      </p:sp>
      <p:sp>
        <p:nvSpPr>
          <p:cNvPr id="1849" name="Text 1"/>
          <p:cNvSpPr txBox="1"/>
          <p:nvPr/>
        </p:nvSpPr>
        <p:spPr>
          <a:xfrm>
            <a:off x="16469360" y="380999"/>
            <a:ext cx="132334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0391">
              <a:defRPr sz="1674" spc="93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ВИБРАЦИИ</a:t>
            </a:r>
          </a:p>
        </p:txBody>
      </p:sp>
      <p:sp>
        <p:nvSpPr>
          <p:cNvPr id="1850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ПРОБЛЕМА 09</a:t>
            </a:r>
          </a:p>
        </p:txBody>
      </p:sp>
      <p:sp>
        <p:nvSpPr>
          <p:cNvPr id="1851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Вибрации мебели — используйте изоляторы</a:t>
            </a:r>
          </a:p>
        </p:txBody>
      </p:sp>
      <p:sp>
        <p:nvSpPr>
          <p:cNvPr id="1852" name="Text 4"/>
          <p:cNvSpPr txBox="1"/>
          <p:nvPr/>
        </p:nvSpPr>
        <p:spPr>
          <a:xfrm>
            <a:off x="1143000" y="4713287"/>
            <a:ext cx="7848600" cy="912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96111">
              <a:lnSpc>
                <a:spcPct val="135000"/>
              </a:lnSpc>
              <a:defRPr sz="2450" spc="-97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Дребезг — не проблема саба, а проблема объектов рядом. Проверьте:</a:t>
            </a:r>
          </a:p>
        </p:txBody>
      </p:sp>
      <p:sp>
        <p:nvSpPr>
          <p:cNvPr id="1853" name="Text 5"/>
          <p:cNvSpPr txBox="1"/>
          <p:nvPr/>
        </p:nvSpPr>
        <p:spPr>
          <a:xfrm>
            <a:off x="1209675" y="5816282"/>
            <a:ext cx="7629525" cy="175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marL="186023" indent="-186023" defTabSz="850391">
              <a:lnSpc>
                <a:spcPct val="150000"/>
              </a:lnSpc>
              <a:buSzPct val="100000"/>
              <a:buChar char="•"/>
              <a:tabLst>
                <a:tab pos="165100" algn="l"/>
              </a:tabLst>
              <a:defRPr sz="2046" spc="-93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стёкла в рамках и шкафах</a:t>
            </a:r>
          </a:p>
          <a:p>
            <a:pPr marL="186023" indent="-186023" defTabSz="850391">
              <a:lnSpc>
                <a:spcPct val="150000"/>
              </a:lnSpc>
              <a:buSzPct val="100000"/>
              <a:buChar char="•"/>
              <a:tabLst>
                <a:tab pos="165100" algn="l"/>
              </a:tabLst>
              <a:defRPr sz="2046" spc="-93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посуду на полках</a:t>
            </a:r>
          </a:p>
          <a:p>
            <a:pPr marL="186023" indent="-186023" defTabSz="850391">
              <a:lnSpc>
                <a:spcPct val="150000"/>
              </a:lnSpc>
              <a:buSzPct val="100000"/>
              <a:buChar char="•"/>
              <a:tabLst>
                <a:tab pos="165100" algn="l"/>
              </a:tabLst>
              <a:defRPr sz="2046" spc="-93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окна и дверные петли</a:t>
            </a:r>
          </a:p>
          <a:p>
            <a:pPr marL="186023" indent="-186023" defTabSz="850391">
              <a:lnSpc>
                <a:spcPct val="150000"/>
              </a:lnSpc>
              <a:buSzPct val="100000"/>
              <a:buChar char="•"/>
              <a:tabLst>
                <a:tab pos="165100" algn="l"/>
              </a:tabLst>
              <a:defRPr sz="2046" spc="-93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декор на самом сабе</a:t>
            </a:r>
          </a:p>
        </p:txBody>
      </p:sp>
      <p:sp>
        <p:nvSpPr>
          <p:cNvPr id="1854" name="Shape 6"/>
          <p:cNvSpPr/>
          <p:nvPr/>
        </p:nvSpPr>
        <p:spPr>
          <a:xfrm>
            <a:off x="9525000" y="2947035"/>
            <a:ext cx="7620000" cy="63500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85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04595" y="3431380"/>
            <a:ext cx="6460808" cy="5381309"/>
          </a:xfrm>
          <a:prstGeom prst="rect">
            <a:avLst/>
          </a:prstGeom>
          <a:ln w="12700">
            <a:miter lim="400000"/>
          </a:ln>
        </p:spPr>
      </p:pic>
      <p:sp>
        <p:nvSpPr>
          <p:cNvPr id="1856" name="Text 7"/>
          <p:cNvSpPr txBox="1"/>
          <p:nvPr/>
        </p:nvSpPr>
        <p:spPr>
          <a:xfrm>
            <a:off x="9763124" y="3147060"/>
            <a:ext cx="241459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ISO-PAD DAMPING</a:t>
            </a:r>
          </a:p>
        </p:txBody>
      </p:sp>
      <p:sp>
        <p:nvSpPr>
          <p:cNvPr id="1857" name="Text 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082 / 100</a:t>
            </a:r>
          </a:p>
        </p:txBody>
      </p:sp>
      <p:sp>
        <p:nvSpPr>
          <p:cNvPr id="1858" name="Text 9"/>
          <p:cNvSpPr txBox="1"/>
          <p:nvPr/>
        </p:nvSpPr>
        <p:spPr>
          <a:xfrm>
            <a:off x="14754541" y="9672638"/>
            <a:ext cx="305081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§10 TROUBLESHOOTING</a:t>
            </a:r>
          </a:p>
        </p:txBody>
      </p:sp>
    </p:spTree>
  </p:cSld>
  <p:clrMapOvr>
    <a:masterClrMapping/>
  </p:clrMapOvr>
  <p:transition spd="med"/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0" name="Text 0"/>
          <p:cNvSpPr txBox="1"/>
          <p:nvPr/>
        </p:nvSpPr>
        <p:spPr>
          <a:xfrm>
            <a:off x="1143000" y="5169217"/>
            <a:ext cx="667131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РАЗДЕЛ 11</a:t>
            </a:r>
          </a:p>
        </p:txBody>
      </p:sp>
      <p:sp>
        <p:nvSpPr>
          <p:cNvPr id="1861" name="Text 1"/>
          <p:cNvSpPr txBox="1"/>
          <p:nvPr/>
        </p:nvSpPr>
        <p:spPr>
          <a:xfrm>
            <a:off x="1143000" y="5707379"/>
            <a:ext cx="6671310" cy="347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40079">
              <a:lnSpc>
                <a:spcPct val="82000"/>
              </a:lnSpc>
              <a:defRPr sz="23100" spc="-133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11</a:t>
            </a:r>
          </a:p>
        </p:txBody>
      </p:sp>
      <p:sp>
        <p:nvSpPr>
          <p:cNvPr id="1862" name="Text 2"/>
          <p:cNvSpPr txBox="1"/>
          <p:nvPr/>
        </p:nvSpPr>
        <p:spPr>
          <a:xfrm>
            <a:off x="8381999" y="4127499"/>
            <a:ext cx="9025892" cy="758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04999"/>
              </a:lnSpc>
              <a:defRPr sz="4860" spc="-18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Уход и обслуживание</a:t>
            </a:r>
          </a:p>
        </p:txBody>
      </p:sp>
      <p:sp>
        <p:nvSpPr>
          <p:cNvPr id="1863" name="Text 3"/>
          <p:cNvSpPr txBox="1"/>
          <p:nvPr/>
        </p:nvSpPr>
        <p:spPr>
          <a:xfrm>
            <a:off x="8382000" y="5152390"/>
            <a:ext cx="6867525" cy="86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35000"/>
              </a:lnSpc>
              <a:defRPr sz="2256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Пять страниц о том, как сохранить саб в форме на десять лет.</a:t>
            </a:r>
          </a:p>
        </p:txBody>
      </p:sp>
      <p:sp>
        <p:nvSpPr>
          <p:cNvPr id="1864" name="Shape 4"/>
          <p:cNvSpPr/>
          <p:nvPr/>
        </p:nvSpPr>
        <p:spPr>
          <a:xfrm>
            <a:off x="8382000" y="624046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65" name="Text 5"/>
          <p:cNvSpPr txBox="1"/>
          <p:nvPr/>
        </p:nvSpPr>
        <p:spPr>
          <a:xfrm>
            <a:off x="8382000" y="641222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084</a:t>
            </a:r>
          </a:p>
        </p:txBody>
      </p:sp>
      <p:sp>
        <p:nvSpPr>
          <p:cNvPr id="1866" name="Text 6"/>
          <p:cNvSpPr txBox="1"/>
          <p:nvPr/>
        </p:nvSpPr>
        <p:spPr>
          <a:xfrm>
            <a:off x="9239249" y="6384924"/>
            <a:ext cx="6180775" cy="340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Чистка корпуса</a:t>
            </a:r>
          </a:p>
        </p:txBody>
      </p:sp>
      <p:sp>
        <p:nvSpPr>
          <p:cNvPr id="1867" name="Shape 7"/>
          <p:cNvSpPr/>
          <p:nvPr/>
        </p:nvSpPr>
        <p:spPr>
          <a:xfrm>
            <a:off x="8382000" y="681894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68" name="Text 8"/>
          <p:cNvSpPr txBox="1"/>
          <p:nvPr/>
        </p:nvSpPr>
        <p:spPr>
          <a:xfrm>
            <a:off x="8382000" y="6990715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085</a:t>
            </a:r>
          </a:p>
        </p:txBody>
      </p:sp>
      <p:sp>
        <p:nvSpPr>
          <p:cNvPr id="1869" name="Text 9"/>
          <p:cNvSpPr txBox="1"/>
          <p:nvPr/>
        </p:nvSpPr>
        <p:spPr>
          <a:xfrm>
            <a:off x="9239249" y="6963409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Клеммы раз в полгода</a:t>
            </a:r>
          </a:p>
        </p:txBody>
      </p:sp>
      <p:sp>
        <p:nvSpPr>
          <p:cNvPr id="1870" name="Shape 10"/>
          <p:cNvSpPr/>
          <p:nvPr/>
        </p:nvSpPr>
        <p:spPr>
          <a:xfrm>
            <a:off x="8382000" y="739743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71" name="Text 11"/>
          <p:cNvSpPr txBox="1"/>
          <p:nvPr/>
        </p:nvSpPr>
        <p:spPr>
          <a:xfrm>
            <a:off x="8382000" y="7569199"/>
            <a:ext cx="93345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086</a:t>
            </a:r>
          </a:p>
        </p:txBody>
      </p:sp>
      <p:sp>
        <p:nvSpPr>
          <p:cNvPr id="1872" name="Text 12"/>
          <p:cNvSpPr txBox="1"/>
          <p:nvPr/>
        </p:nvSpPr>
        <p:spPr>
          <a:xfrm>
            <a:off x="9239249" y="754189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Хранение +5…+35 °C</a:t>
            </a:r>
          </a:p>
        </p:txBody>
      </p:sp>
      <p:sp>
        <p:nvSpPr>
          <p:cNvPr id="1873" name="Shape 13"/>
          <p:cNvSpPr/>
          <p:nvPr/>
        </p:nvSpPr>
        <p:spPr>
          <a:xfrm>
            <a:off x="8382000" y="797591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74" name="Text 14"/>
          <p:cNvSpPr txBox="1"/>
          <p:nvPr/>
        </p:nvSpPr>
        <p:spPr>
          <a:xfrm>
            <a:off x="8382000" y="8147684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087</a:t>
            </a:r>
          </a:p>
        </p:txBody>
      </p:sp>
      <p:sp>
        <p:nvSpPr>
          <p:cNvPr id="1875" name="Text 15"/>
          <p:cNvSpPr txBox="1"/>
          <p:nvPr/>
        </p:nvSpPr>
        <p:spPr>
          <a:xfrm>
            <a:off x="9239249" y="812038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Прошивка через приложение</a:t>
            </a:r>
          </a:p>
        </p:txBody>
      </p:sp>
      <p:sp>
        <p:nvSpPr>
          <p:cNvPr id="1876" name="Shape 16"/>
          <p:cNvSpPr/>
          <p:nvPr/>
        </p:nvSpPr>
        <p:spPr>
          <a:xfrm>
            <a:off x="8382000" y="913288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77" name="Shape 17"/>
          <p:cNvSpPr/>
          <p:nvPr/>
        </p:nvSpPr>
        <p:spPr>
          <a:xfrm>
            <a:off x="8382000" y="855440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78" name="Text 18"/>
          <p:cNvSpPr txBox="1"/>
          <p:nvPr/>
        </p:nvSpPr>
        <p:spPr>
          <a:xfrm>
            <a:off x="8382000" y="872616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088</a:t>
            </a:r>
          </a:p>
        </p:txBody>
      </p:sp>
      <p:sp>
        <p:nvSpPr>
          <p:cNvPr id="1879" name="Text 19"/>
          <p:cNvSpPr txBox="1"/>
          <p:nvPr/>
        </p:nvSpPr>
        <p:spPr>
          <a:xfrm>
            <a:off x="9239249" y="8698865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Калибровка заново</a:t>
            </a:r>
          </a:p>
        </p:txBody>
      </p:sp>
      <p:sp>
        <p:nvSpPr>
          <p:cNvPr id="1880" name="Text 20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083 / 100</a:t>
            </a:r>
          </a:p>
        </p:txBody>
      </p:sp>
      <p:sp>
        <p:nvSpPr>
          <p:cNvPr id="1881" name="Text 21"/>
          <p:cNvSpPr txBox="1"/>
          <p:nvPr/>
        </p:nvSpPr>
        <p:spPr>
          <a:xfrm>
            <a:off x="16469360" y="9672638"/>
            <a:ext cx="132334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§11 УХОД</a:t>
            </a:r>
          </a:p>
        </p:txBody>
      </p:sp>
    </p:spTree>
  </p:cSld>
  <p:clrMapOvr>
    <a:masterClrMapping/>
  </p:clrMapOvr>
  <p:transition spd="med"/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3" name="Text 0"/>
          <p:cNvSpPr txBox="1"/>
          <p:nvPr/>
        </p:nvSpPr>
        <p:spPr>
          <a:xfrm>
            <a:off x="571499" y="380999"/>
            <a:ext cx="23599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084 §11 УХОД</a:t>
            </a:r>
          </a:p>
        </p:txBody>
      </p:sp>
      <p:sp>
        <p:nvSpPr>
          <p:cNvPr id="1884" name="Text 1"/>
          <p:cNvSpPr txBox="1"/>
          <p:nvPr/>
        </p:nvSpPr>
        <p:spPr>
          <a:xfrm>
            <a:off x="16781144" y="380999"/>
            <a:ext cx="1011556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ЧИСТКА</a:t>
            </a:r>
          </a:p>
        </p:txBody>
      </p:sp>
      <p:sp>
        <p:nvSpPr>
          <p:cNvPr id="1885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 В МЕСЯЦ</a:t>
            </a:r>
          </a:p>
        </p:txBody>
      </p:sp>
      <p:sp>
        <p:nvSpPr>
          <p:cNvPr id="1886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Чистите корпус мягкой тканью</a:t>
            </a:r>
          </a:p>
        </p:txBody>
      </p:sp>
      <p:sp>
        <p:nvSpPr>
          <p:cNvPr id="1887" name="Shape 4"/>
          <p:cNvSpPr/>
          <p:nvPr/>
        </p:nvSpPr>
        <p:spPr>
          <a:xfrm>
            <a:off x="1143000" y="2874645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88" name="Text 5"/>
          <p:cNvSpPr txBox="1"/>
          <p:nvPr/>
        </p:nvSpPr>
        <p:spPr>
          <a:xfrm>
            <a:off x="1142999" y="3047682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КОРПУС</a:t>
            </a:r>
          </a:p>
        </p:txBody>
      </p:sp>
      <p:sp>
        <p:nvSpPr>
          <p:cNvPr id="1889" name="Text 6"/>
          <p:cNvSpPr txBox="1"/>
          <p:nvPr/>
        </p:nvSpPr>
        <p:spPr>
          <a:xfrm>
            <a:off x="7863840" y="3047682"/>
            <a:ext cx="955959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Микрофибра, сухая или слегка влажная</a:t>
            </a:r>
          </a:p>
        </p:txBody>
      </p:sp>
      <p:sp>
        <p:nvSpPr>
          <p:cNvPr id="1890" name="Shape 7"/>
          <p:cNvSpPr/>
          <p:nvPr/>
        </p:nvSpPr>
        <p:spPr>
          <a:xfrm>
            <a:off x="1143000" y="3548856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91" name="Text 8"/>
          <p:cNvSpPr txBox="1"/>
          <p:nvPr/>
        </p:nvSpPr>
        <p:spPr>
          <a:xfrm>
            <a:off x="1142999" y="3721894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ДИФФУЗОР</a:t>
            </a:r>
          </a:p>
        </p:txBody>
      </p:sp>
      <p:sp>
        <p:nvSpPr>
          <p:cNvPr id="1892" name="Text 9"/>
          <p:cNvSpPr txBox="1"/>
          <p:nvPr/>
        </p:nvSpPr>
        <p:spPr>
          <a:xfrm>
            <a:off x="7863840" y="3721894"/>
            <a:ext cx="955959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Мягкая кисть, не пылесосом</a:t>
            </a:r>
          </a:p>
        </p:txBody>
      </p:sp>
      <p:sp>
        <p:nvSpPr>
          <p:cNvPr id="1893" name="Shape 10"/>
          <p:cNvSpPr/>
          <p:nvPr/>
        </p:nvSpPr>
        <p:spPr>
          <a:xfrm>
            <a:off x="1143000" y="422306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94" name="Text 11"/>
          <p:cNvSpPr txBox="1"/>
          <p:nvPr/>
        </p:nvSpPr>
        <p:spPr>
          <a:xfrm>
            <a:off x="1142999" y="4396104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РЕШЁТКА</a:t>
            </a:r>
          </a:p>
        </p:txBody>
      </p:sp>
      <p:sp>
        <p:nvSpPr>
          <p:cNvPr id="1895" name="Text 12"/>
          <p:cNvSpPr txBox="1"/>
          <p:nvPr/>
        </p:nvSpPr>
        <p:spPr>
          <a:xfrm>
            <a:off x="7863840" y="4396104"/>
            <a:ext cx="955959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Снять, выколотить, пропылесосить</a:t>
            </a:r>
          </a:p>
        </p:txBody>
      </p:sp>
      <p:sp>
        <p:nvSpPr>
          <p:cNvPr id="1896" name="Shape 13"/>
          <p:cNvSpPr/>
          <p:nvPr/>
        </p:nvSpPr>
        <p:spPr>
          <a:xfrm>
            <a:off x="1143000" y="4897278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897" name="Text 14"/>
          <p:cNvSpPr txBox="1"/>
          <p:nvPr/>
        </p:nvSpPr>
        <p:spPr>
          <a:xfrm>
            <a:off x="1142999" y="5070316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НЕЛЬЗЯ</a:t>
            </a:r>
          </a:p>
        </p:txBody>
      </p:sp>
      <p:sp>
        <p:nvSpPr>
          <p:cNvPr id="1898" name="Text 15"/>
          <p:cNvSpPr txBox="1"/>
          <p:nvPr/>
        </p:nvSpPr>
        <p:spPr>
          <a:xfrm>
            <a:off x="7863840" y="5070316"/>
            <a:ext cx="955959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Спирт, ацетон, абразивные порошки</a:t>
            </a:r>
          </a:p>
        </p:txBody>
      </p:sp>
      <p:sp>
        <p:nvSpPr>
          <p:cNvPr id="1899" name="Shape 16"/>
          <p:cNvSpPr/>
          <p:nvPr/>
        </p:nvSpPr>
        <p:spPr>
          <a:xfrm>
            <a:off x="1143000" y="6236175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00" name="Shape 17"/>
          <p:cNvSpPr/>
          <p:nvPr/>
        </p:nvSpPr>
        <p:spPr>
          <a:xfrm>
            <a:off x="1143000" y="5571489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01" name="Text 18"/>
          <p:cNvSpPr txBox="1"/>
          <p:nvPr/>
        </p:nvSpPr>
        <p:spPr>
          <a:xfrm>
            <a:off x="1142999" y="5744526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РАЗЪЁМЫ</a:t>
            </a:r>
          </a:p>
        </p:txBody>
      </p:sp>
      <p:sp>
        <p:nvSpPr>
          <p:cNvPr id="1902" name="Text 19"/>
          <p:cNvSpPr txBox="1"/>
          <p:nvPr/>
        </p:nvSpPr>
        <p:spPr>
          <a:xfrm>
            <a:off x="7863840" y="5744526"/>
            <a:ext cx="955959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DeoxIT D5, раз в два года</a:t>
            </a:r>
          </a:p>
        </p:txBody>
      </p:sp>
      <p:sp>
        <p:nvSpPr>
          <p:cNvPr id="1903" name="Text 20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084 / 100</a:t>
            </a:r>
          </a:p>
        </p:txBody>
      </p:sp>
      <p:sp>
        <p:nvSpPr>
          <p:cNvPr id="1904" name="Text 21"/>
          <p:cNvSpPr txBox="1"/>
          <p:nvPr/>
        </p:nvSpPr>
        <p:spPr>
          <a:xfrm>
            <a:off x="16469360" y="9672638"/>
            <a:ext cx="132334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§11 УХОД</a:t>
            </a:r>
          </a:p>
        </p:txBody>
      </p:sp>
    </p:spTree>
  </p:cSld>
  <p:clrMapOvr>
    <a:masterClrMapping/>
  </p:clrMapOvr>
  <p:transition spd="med"/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6" name="Text 0"/>
          <p:cNvSpPr txBox="1"/>
          <p:nvPr/>
        </p:nvSpPr>
        <p:spPr>
          <a:xfrm>
            <a:off x="571499" y="380999"/>
            <a:ext cx="23599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085 §11 УХОД</a:t>
            </a:r>
          </a:p>
        </p:txBody>
      </p:sp>
      <p:sp>
        <p:nvSpPr>
          <p:cNvPr id="1907" name="Text 1"/>
          <p:cNvSpPr txBox="1"/>
          <p:nvPr/>
        </p:nvSpPr>
        <p:spPr>
          <a:xfrm>
            <a:off x="16781144" y="380999"/>
            <a:ext cx="1011556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786384">
              <a:defRPr sz="1548" spc="86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КЛЕММЫ</a:t>
            </a:r>
          </a:p>
        </p:txBody>
      </p:sp>
      <p:sp>
        <p:nvSpPr>
          <p:cNvPr id="1908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 В ПОЛГОДА</a:t>
            </a:r>
          </a:p>
        </p:txBody>
      </p:sp>
      <p:sp>
        <p:nvSpPr>
          <p:cNvPr id="1909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Проверяйте клеммы раз в полгода</a:t>
            </a:r>
          </a:p>
        </p:txBody>
      </p:sp>
      <p:sp>
        <p:nvSpPr>
          <p:cNvPr id="1910" name="Shape 4"/>
          <p:cNvSpPr/>
          <p:nvPr/>
        </p:nvSpPr>
        <p:spPr>
          <a:xfrm>
            <a:off x="1143000" y="279368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11" name="Text 5"/>
          <p:cNvSpPr txBox="1"/>
          <p:nvPr/>
        </p:nvSpPr>
        <p:spPr>
          <a:xfrm>
            <a:off x="1143000" y="307673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1912" name="Text 6"/>
          <p:cNvSpPr txBox="1"/>
          <p:nvPr/>
        </p:nvSpPr>
        <p:spPr>
          <a:xfrm>
            <a:off x="2286000" y="301434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Выключите саб из сети</a:t>
            </a:r>
          </a:p>
        </p:txBody>
      </p:sp>
      <p:sp>
        <p:nvSpPr>
          <p:cNvPr id="1913" name="Shape 7"/>
          <p:cNvSpPr/>
          <p:nvPr/>
        </p:nvSpPr>
        <p:spPr>
          <a:xfrm>
            <a:off x="1143000" y="388524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14" name="Text 8"/>
          <p:cNvSpPr txBox="1"/>
          <p:nvPr/>
        </p:nvSpPr>
        <p:spPr>
          <a:xfrm>
            <a:off x="1143000" y="4168299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1915" name="Text 9"/>
          <p:cNvSpPr txBox="1"/>
          <p:nvPr/>
        </p:nvSpPr>
        <p:spPr>
          <a:xfrm>
            <a:off x="2286000" y="4105909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Отсоедините все кабели</a:t>
            </a:r>
          </a:p>
        </p:txBody>
      </p:sp>
      <p:sp>
        <p:nvSpPr>
          <p:cNvPr id="1916" name="Shape 10"/>
          <p:cNvSpPr/>
          <p:nvPr/>
        </p:nvSpPr>
        <p:spPr>
          <a:xfrm>
            <a:off x="1143000" y="497681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17" name="Text 11"/>
          <p:cNvSpPr txBox="1"/>
          <p:nvPr/>
        </p:nvSpPr>
        <p:spPr>
          <a:xfrm>
            <a:off x="1143000" y="525986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1918" name="Text 12"/>
          <p:cNvSpPr txBox="1"/>
          <p:nvPr/>
        </p:nvSpPr>
        <p:spPr>
          <a:xfrm>
            <a:off x="2286000" y="5197474"/>
            <a:ext cx="15304770" cy="434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Осмотрите контакты: без окислов и потемнений</a:t>
            </a:r>
          </a:p>
        </p:txBody>
      </p:sp>
      <p:sp>
        <p:nvSpPr>
          <p:cNvPr id="1919" name="Shape 13"/>
          <p:cNvSpPr/>
          <p:nvPr/>
        </p:nvSpPr>
        <p:spPr>
          <a:xfrm>
            <a:off x="1143000" y="606837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20" name="Text 14"/>
          <p:cNvSpPr txBox="1"/>
          <p:nvPr/>
        </p:nvSpPr>
        <p:spPr>
          <a:xfrm>
            <a:off x="1143000" y="6351428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1921" name="Text 15"/>
          <p:cNvSpPr txBox="1"/>
          <p:nvPr/>
        </p:nvSpPr>
        <p:spPr>
          <a:xfrm>
            <a:off x="2286000" y="6289040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Если есть — очистите контакт-спреем, не наждачкой</a:t>
            </a:r>
          </a:p>
        </p:txBody>
      </p:sp>
      <p:sp>
        <p:nvSpPr>
          <p:cNvPr id="1922" name="Shape 16"/>
          <p:cNvSpPr/>
          <p:nvPr/>
        </p:nvSpPr>
        <p:spPr>
          <a:xfrm>
            <a:off x="1143000" y="798480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23" name="Shape 17"/>
          <p:cNvSpPr/>
          <p:nvPr/>
        </p:nvSpPr>
        <p:spPr>
          <a:xfrm>
            <a:off x="1143000" y="715994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24" name="Text 18"/>
          <p:cNvSpPr txBox="1"/>
          <p:nvPr/>
        </p:nvSpPr>
        <p:spPr>
          <a:xfrm>
            <a:off x="1143000" y="744299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05</a:t>
            </a:r>
          </a:p>
        </p:txBody>
      </p:sp>
      <p:sp>
        <p:nvSpPr>
          <p:cNvPr id="1925" name="Text 19"/>
          <p:cNvSpPr txBox="1"/>
          <p:nvPr/>
        </p:nvSpPr>
        <p:spPr>
          <a:xfrm>
            <a:off x="2286000" y="738060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Протяните клеммы (момент 0.8 Н·м)</a:t>
            </a:r>
          </a:p>
        </p:txBody>
      </p:sp>
      <p:sp>
        <p:nvSpPr>
          <p:cNvPr id="1926" name="Text 20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085 / 100</a:t>
            </a:r>
          </a:p>
        </p:txBody>
      </p:sp>
      <p:sp>
        <p:nvSpPr>
          <p:cNvPr id="1927" name="Text 21"/>
          <p:cNvSpPr txBox="1"/>
          <p:nvPr/>
        </p:nvSpPr>
        <p:spPr>
          <a:xfrm>
            <a:off x="16469360" y="9672638"/>
            <a:ext cx="132334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§11 УХОД</a:t>
            </a:r>
          </a:p>
        </p:txBody>
      </p:sp>
    </p:spTree>
  </p:cSld>
  <p:clrMapOvr>
    <a:masterClrMapping/>
  </p:clrMapOvr>
  <p:transition spd="med"/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9" name="Text 0"/>
          <p:cNvSpPr txBox="1"/>
          <p:nvPr/>
        </p:nvSpPr>
        <p:spPr>
          <a:xfrm>
            <a:off x="571499" y="380999"/>
            <a:ext cx="23599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086 §11 УХОД</a:t>
            </a:r>
          </a:p>
        </p:txBody>
      </p:sp>
      <p:sp>
        <p:nvSpPr>
          <p:cNvPr id="1930" name="Text 1"/>
          <p:cNvSpPr txBox="1"/>
          <p:nvPr/>
        </p:nvSpPr>
        <p:spPr>
          <a:xfrm>
            <a:off x="16469360" y="380999"/>
            <a:ext cx="132334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9536">
              <a:defRPr sz="1692" spc="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ХРАНЕНИЕ</a:t>
            </a:r>
          </a:p>
        </p:txBody>
      </p:sp>
      <p:sp>
        <p:nvSpPr>
          <p:cNvPr id="1931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УСЛОВИЯ</a:t>
            </a:r>
          </a:p>
        </p:txBody>
      </p:sp>
      <p:sp>
        <p:nvSpPr>
          <p:cNvPr id="1932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Храните саб при +5…+35 °C</a:t>
            </a:r>
          </a:p>
        </p:txBody>
      </p:sp>
      <p:sp>
        <p:nvSpPr>
          <p:cNvPr id="1933" name="Shape 4"/>
          <p:cNvSpPr/>
          <p:nvPr/>
        </p:nvSpPr>
        <p:spPr>
          <a:xfrm>
            <a:off x="1143000" y="484187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34" name="Text 5"/>
          <p:cNvSpPr txBox="1"/>
          <p:nvPr/>
        </p:nvSpPr>
        <p:spPr>
          <a:xfrm>
            <a:off x="1143000" y="5014912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ТЕМПЕРАТУРА</a:t>
            </a:r>
          </a:p>
        </p:txBody>
      </p:sp>
      <p:sp>
        <p:nvSpPr>
          <p:cNvPr id="1935" name="Text 6"/>
          <p:cNvSpPr txBox="1"/>
          <p:nvPr/>
        </p:nvSpPr>
        <p:spPr>
          <a:xfrm>
            <a:off x="4343399" y="5014912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+5 … +35 °C</a:t>
            </a:r>
          </a:p>
        </p:txBody>
      </p:sp>
      <p:sp>
        <p:nvSpPr>
          <p:cNvPr id="1936" name="Shape 7"/>
          <p:cNvSpPr/>
          <p:nvPr/>
        </p:nvSpPr>
        <p:spPr>
          <a:xfrm>
            <a:off x="1143000" y="551608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37" name="Text 8"/>
          <p:cNvSpPr txBox="1"/>
          <p:nvPr/>
        </p:nvSpPr>
        <p:spPr>
          <a:xfrm>
            <a:off x="1143000" y="568912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ВЛАЖНОСТЬ</a:t>
            </a:r>
          </a:p>
        </p:txBody>
      </p:sp>
      <p:sp>
        <p:nvSpPr>
          <p:cNvPr id="1938" name="Text 9"/>
          <p:cNvSpPr txBox="1"/>
          <p:nvPr/>
        </p:nvSpPr>
        <p:spPr>
          <a:xfrm>
            <a:off x="4343399" y="568912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20 — 80 % RH</a:t>
            </a:r>
          </a:p>
        </p:txBody>
      </p:sp>
      <p:sp>
        <p:nvSpPr>
          <p:cNvPr id="1939" name="Shape 10"/>
          <p:cNvSpPr/>
          <p:nvPr/>
        </p:nvSpPr>
        <p:spPr>
          <a:xfrm>
            <a:off x="1143000" y="619029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40" name="Text 11"/>
          <p:cNvSpPr txBox="1"/>
          <p:nvPr/>
        </p:nvSpPr>
        <p:spPr>
          <a:xfrm>
            <a:off x="1143000" y="6363334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ИЗБЕГАЙТЕ</a:t>
            </a:r>
          </a:p>
        </p:txBody>
      </p:sp>
      <p:sp>
        <p:nvSpPr>
          <p:cNvPr id="1941" name="Text 12"/>
          <p:cNvSpPr txBox="1"/>
          <p:nvPr/>
        </p:nvSpPr>
        <p:spPr>
          <a:xfrm>
            <a:off x="4343399" y="6363334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Прямого солнца</a:t>
            </a:r>
          </a:p>
        </p:txBody>
      </p:sp>
      <p:sp>
        <p:nvSpPr>
          <p:cNvPr id="1942" name="Shape 13"/>
          <p:cNvSpPr/>
          <p:nvPr/>
        </p:nvSpPr>
        <p:spPr>
          <a:xfrm>
            <a:off x="1143000" y="686450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43" name="Text 14"/>
          <p:cNvSpPr txBox="1"/>
          <p:nvPr/>
        </p:nvSpPr>
        <p:spPr>
          <a:xfrm>
            <a:off x="1143000" y="7037545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ДЛИТЕЛЬНОЕ ХРАНЕНИЕ</a:t>
            </a:r>
          </a:p>
        </p:txBody>
      </p:sp>
      <p:sp>
        <p:nvSpPr>
          <p:cNvPr id="1944" name="Text 15"/>
          <p:cNvSpPr txBox="1"/>
          <p:nvPr/>
        </p:nvSpPr>
        <p:spPr>
          <a:xfrm>
            <a:off x="4343399" y="7037545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Оригинальная коробка</a:t>
            </a:r>
          </a:p>
        </p:txBody>
      </p:sp>
      <p:sp>
        <p:nvSpPr>
          <p:cNvPr id="1945" name="Shape 16"/>
          <p:cNvSpPr/>
          <p:nvPr/>
        </p:nvSpPr>
        <p:spPr>
          <a:xfrm>
            <a:off x="1143000" y="820340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46" name="Shape 17"/>
          <p:cNvSpPr/>
          <p:nvPr/>
        </p:nvSpPr>
        <p:spPr>
          <a:xfrm>
            <a:off x="1143000" y="753871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47" name="Text 18"/>
          <p:cNvSpPr txBox="1"/>
          <p:nvPr/>
        </p:nvSpPr>
        <p:spPr>
          <a:xfrm>
            <a:off x="1143000" y="7711757"/>
            <a:ext cx="3296412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КОНСЕРВАЦИЯ</a:t>
            </a:r>
          </a:p>
        </p:txBody>
      </p:sp>
      <p:sp>
        <p:nvSpPr>
          <p:cNvPr id="1948" name="Text 19"/>
          <p:cNvSpPr txBox="1"/>
          <p:nvPr/>
        </p:nvSpPr>
        <p:spPr>
          <a:xfrm>
            <a:off x="4343399" y="7711757"/>
            <a:ext cx="4552190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Не нужна для Class-D</a:t>
            </a:r>
          </a:p>
        </p:txBody>
      </p:sp>
      <p:sp>
        <p:nvSpPr>
          <p:cNvPr id="1949" name="Shape 20"/>
          <p:cNvSpPr/>
          <p:nvPr/>
        </p:nvSpPr>
        <p:spPr>
          <a:xfrm>
            <a:off x="9525000" y="2719070"/>
            <a:ext cx="7620000" cy="7620001"/>
          </a:xfrm>
          <a:prstGeom prst="rect">
            <a:avLst/>
          </a:prstGeom>
          <a:solidFill>
            <a:srgbClr val="F4F2EE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950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84643" y="3678713"/>
            <a:ext cx="5700714" cy="5700714"/>
          </a:xfrm>
          <a:prstGeom prst="rect">
            <a:avLst/>
          </a:prstGeom>
          <a:ln w="12700">
            <a:miter lim="400000"/>
          </a:ln>
        </p:spPr>
      </p:pic>
      <p:sp>
        <p:nvSpPr>
          <p:cNvPr id="1951" name="Text 21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086 / 100</a:t>
            </a:r>
          </a:p>
        </p:txBody>
      </p:sp>
      <p:sp>
        <p:nvSpPr>
          <p:cNvPr id="1952" name="Text 22"/>
          <p:cNvSpPr txBox="1"/>
          <p:nvPr/>
        </p:nvSpPr>
        <p:spPr>
          <a:xfrm>
            <a:off x="16469360" y="9672638"/>
            <a:ext cx="132334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§11 УХОД</a:t>
            </a:r>
          </a:p>
        </p:txBody>
      </p:sp>
    </p:spTree>
  </p:cSld>
  <p:clrMapOvr>
    <a:masterClrMapping/>
  </p:clrMapOvr>
  <p:transition spd="med"/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4" name="Text 0"/>
          <p:cNvSpPr txBox="1"/>
          <p:nvPr/>
        </p:nvSpPr>
        <p:spPr>
          <a:xfrm>
            <a:off x="571499" y="380999"/>
            <a:ext cx="23599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087 §11 УХОД</a:t>
            </a:r>
          </a:p>
        </p:txBody>
      </p:sp>
      <p:sp>
        <p:nvSpPr>
          <p:cNvPr id="1955" name="Text 1"/>
          <p:cNvSpPr txBox="1"/>
          <p:nvPr/>
        </p:nvSpPr>
        <p:spPr>
          <a:xfrm>
            <a:off x="16469360" y="380999"/>
            <a:ext cx="132334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13816">
              <a:defRPr sz="1602" spc="89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ПРОШИВКА</a:t>
            </a:r>
          </a:p>
        </p:txBody>
      </p:sp>
      <p:sp>
        <p:nvSpPr>
          <p:cNvPr id="1956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ОБНОВЛЕНИЯ</a:t>
            </a:r>
          </a:p>
        </p:txBody>
      </p:sp>
      <p:sp>
        <p:nvSpPr>
          <p:cNvPr id="1957" name="Text 3"/>
          <p:cNvSpPr txBox="1"/>
          <p:nvPr/>
        </p:nvSpPr>
        <p:spPr>
          <a:xfrm>
            <a:off x="1143000" y="1490662"/>
            <a:ext cx="14716125" cy="1428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14010"/>
              </a:lnSpc>
              <a:defRPr sz="4800" spc="-100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Обновляйте прошивку через приложение RESONA</a:t>
            </a:r>
          </a:p>
        </p:txBody>
      </p:sp>
      <p:sp>
        <p:nvSpPr>
          <p:cNvPr id="1958" name="Text 4"/>
          <p:cNvSpPr txBox="1"/>
          <p:nvPr/>
        </p:nvSpPr>
        <p:spPr>
          <a:xfrm>
            <a:off x="1143000" y="5552757"/>
            <a:ext cx="7848600" cy="13496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35000"/>
              </a:lnSpc>
              <a:defRPr sz="2250" spc="-9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Обновления выходят 2—3 раза в год. В них улучшаются алгоритмы Room Correction и закрываются уязвимости wireless-модуля.</a:t>
            </a:r>
          </a:p>
        </p:txBody>
      </p:sp>
      <p:sp>
        <p:nvSpPr>
          <p:cNvPr id="1959" name="Text 5"/>
          <p:cNvSpPr txBox="1"/>
          <p:nvPr/>
        </p:nvSpPr>
        <p:spPr>
          <a:xfrm>
            <a:off x="1143000" y="7092949"/>
            <a:ext cx="7848600" cy="331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40000"/>
              </a:lnSpc>
              <a:defRPr sz="1600"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APP RESONA → SETTINGS → FIRMWARE</a:t>
            </a:r>
          </a:p>
        </p:txBody>
      </p:sp>
      <p:sp>
        <p:nvSpPr>
          <p:cNvPr id="1960" name="Shape 6"/>
          <p:cNvSpPr/>
          <p:nvPr/>
        </p:nvSpPr>
        <p:spPr>
          <a:xfrm>
            <a:off x="9525000" y="3421538"/>
            <a:ext cx="4064000" cy="60960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196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45761" y="4798376"/>
            <a:ext cx="2022476" cy="3342324"/>
          </a:xfrm>
          <a:prstGeom prst="rect">
            <a:avLst/>
          </a:prstGeom>
          <a:ln w="12700">
            <a:miter lim="400000"/>
          </a:ln>
        </p:spPr>
      </p:pic>
      <p:sp>
        <p:nvSpPr>
          <p:cNvPr id="1962" name="Text 7"/>
          <p:cNvSpPr txBox="1"/>
          <p:nvPr/>
        </p:nvSpPr>
        <p:spPr>
          <a:xfrm>
            <a:off x="9763125" y="3621563"/>
            <a:ext cx="163512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RESONA APP</a:t>
            </a:r>
          </a:p>
        </p:txBody>
      </p:sp>
      <p:sp>
        <p:nvSpPr>
          <p:cNvPr id="1963" name="Text 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087 / 100</a:t>
            </a:r>
          </a:p>
        </p:txBody>
      </p:sp>
      <p:sp>
        <p:nvSpPr>
          <p:cNvPr id="1964" name="Text 9"/>
          <p:cNvSpPr txBox="1"/>
          <p:nvPr/>
        </p:nvSpPr>
        <p:spPr>
          <a:xfrm>
            <a:off x="16469360" y="9672638"/>
            <a:ext cx="132334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§11 УХОД</a:t>
            </a:r>
          </a:p>
        </p:txBody>
      </p:sp>
    </p:spTree>
  </p:cSld>
  <p:clrMapOvr>
    <a:masterClrMapping/>
  </p:clrMapOvr>
  <p:transition spd="med"/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6" name="Text 0"/>
          <p:cNvSpPr txBox="1"/>
          <p:nvPr/>
        </p:nvSpPr>
        <p:spPr>
          <a:xfrm>
            <a:off x="571499" y="380999"/>
            <a:ext cx="23599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088 §11 УХОД</a:t>
            </a:r>
          </a:p>
        </p:txBody>
      </p:sp>
      <p:sp>
        <p:nvSpPr>
          <p:cNvPr id="1967" name="Text 1"/>
          <p:cNvSpPr txBox="1"/>
          <p:nvPr/>
        </p:nvSpPr>
        <p:spPr>
          <a:xfrm>
            <a:off x="16157575" y="380999"/>
            <a:ext cx="1635125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50391">
              <a:defRPr sz="1674" spc="93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КАЛИБРОВКА</a:t>
            </a:r>
          </a:p>
        </p:txBody>
      </p:sp>
      <p:sp>
        <p:nvSpPr>
          <p:cNvPr id="1968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КОГДА</a:t>
            </a:r>
          </a:p>
        </p:txBody>
      </p:sp>
      <p:sp>
        <p:nvSpPr>
          <p:cNvPr id="1969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Периодически калибруйте заново</a:t>
            </a:r>
          </a:p>
        </p:txBody>
      </p:sp>
      <p:sp>
        <p:nvSpPr>
          <p:cNvPr id="1970" name="Shape 4"/>
          <p:cNvSpPr/>
          <p:nvPr/>
        </p:nvSpPr>
        <p:spPr>
          <a:xfrm>
            <a:off x="1143000" y="279368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71" name="Text 5"/>
          <p:cNvSpPr txBox="1"/>
          <p:nvPr/>
        </p:nvSpPr>
        <p:spPr>
          <a:xfrm>
            <a:off x="1143000" y="307673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01</a:t>
            </a:r>
          </a:p>
        </p:txBody>
      </p:sp>
      <p:sp>
        <p:nvSpPr>
          <p:cNvPr id="1972" name="Text 6"/>
          <p:cNvSpPr txBox="1"/>
          <p:nvPr/>
        </p:nvSpPr>
        <p:spPr>
          <a:xfrm>
            <a:off x="2286000" y="3014345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После перестановки мебели</a:t>
            </a:r>
          </a:p>
        </p:txBody>
      </p:sp>
      <p:sp>
        <p:nvSpPr>
          <p:cNvPr id="1973" name="Shape 7"/>
          <p:cNvSpPr/>
          <p:nvPr/>
        </p:nvSpPr>
        <p:spPr>
          <a:xfrm>
            <a:off x="1143000" y="388524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74" name="Text 8"/>
          <p:cNvSpPr txBox="1"/>
          <p:nvPr/>
        </p:nvSpPr>
        <p:spPr>
          <a:xfrm>
            <a:off x="1143000" y="4168299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02</a:t>
            </a:r>
          </a:p>
        </p:txBody>
      </p:sp>
      <p:sp>
        <p:nvSpPr>
          <p:cNvPr id="1975" name="Text 9"/>
          <p:cNvSpPr txBox="1"/>
          <p:nvPr/>
        </p:nvSpPr>
        <p:spPr>
          <a:xfrm>
            <a:off x="2286000" y="4105909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После смены сателлитов или ресивера</a:t>
            </a:r>
          </a:p>
        </p:txBody>
      </p:sp>
      <p:sp>
        <p:nvSpPr>
          <p:cNvPr id="1976" name="Shape 10"/>
          <p:cNvSpPr/>
          <p:nvPr/>
        </p:nvSpPr>
        <p:spPr>
          <a:xfrm>
            <a:off x="1143000" y="497681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77" name="Text 11"/>
          <p:cNvSpPr txBox="1"/>
          <p:nvPr/>
        </p:nvSpPr>
        <p:spPr>
          <a:xfrm>
            <a:off x="1143000" y="5259863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03</a:t>
            </a:r>
          </a:p>
        </p:txBody>
      </p:sp>
      <p:sp>
        <p:nvSpPr>
          <p:cNvPr id="1978" name="Text 12"/>
          <p:cNvSpPr txBox="1"/>
          <p:nvPr/>
        </p:nvSpPr>
        <p:spPr>
          <a:xfrm>
            <a:off x="2286000" y="5197474"/>
            <a:ext cx="15304770" cy="4343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После major-обновления прошивки</a:t>
            </a:r>
          </a:p>
        </p:txBody>
      </p:sp>
      <p:sp>
        <p:nvSpPr>
          <p:cNvPr id="1979" name="Shape 13"/>
          <p:cNvSpPr/>
          <p:nvPr/>
        </p:nvSpPr>
        <p:spPr>
          <a:xfrm>
            <a:off x="1143000" y="6893242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80" name="Shape 14"/>
          <p:cNvSpPr/>
          <p:nvPr/>
        </p:nvSpPr>
        <p:spPr>
          <a:xfrm>
            <a:off x="1143000" y="606837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81" name="Text 15"/>
          <p:cNvSpPr txBox="1"/>
          <p:nvPr/>
        </p:nvSpPr>
        <p:spPr>
          <a:xfrm>
            <a:off x="1143000" y="6351428"/>
            <a:ext cx="914400" cy="3524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9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04</a:t>
            </a:r>
          </a:p>
        </p:txBody>
      </p:sp>
      <p:sp>
        <p:nvSpPr>
          <p:cNvPr id="1982" name="Text 16"/>
          <p:cNvSpPr txBox="1"/>
          <p:nvPr/>
        </p:nvSpPr>
        <p:spPr>
          <a:xfrm>
            <a:off x="2286000" y="6289040"/>
            <a:ext cx="15304770" cy="4343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0000"/>
              </a:lnSpc>
              <a:defRPr sz="24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Раз в год — как профилактика</a:t>
            </a:r>
          </a:p>
        </p:txBody>
      </p:sp>
      <p:sp>
        <p:nvSpPr>
          <p:cNvPr id="1983" name="Text 17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088 / 100</a:t>
            </a:r>
          </a:p>
        </p:txBody>
      </p:sp>
      <p:sp>
        <p:nvSpPr>
          <p:cNvPr id="1984" name="Text 18"/>
          <p:cNvSpPr txBox="1"/>
          <p:nvPr/>
        </p:nvSpPr>
        <p:spPr>
          <a:xfrm>
            <a:off x="16469360" y="9672638"/>
            <a:ext cx="132334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§11 УХОД</a:t>
            </a:r>
          </a:p>
        </p:txBody>
      </p:sp>
    </p:spTree>
  </p:cSld>
  <p:clrMapOvr>
    <a:masterClrMapping/>
  </p:clrMapOvr>
  <p:transition spd="med"/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6" name="Text 0"/>
          <p:cNvSpPr txBox="1"/>
          <p:nvPr/>
        </p:nvSpPr>
        <p:spPr>
          <a:xfrm>
            <a:off x="1143000" y="5169217"/>
            <a:ext cx="667131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РАЗДЕЛ 12</a:t>
            </a:r>
          </a:p>
        </p:txBody>
      </p:sp>
      <p:sp>
        <p:nvSpPr>
          <p:cNvPr id="1987" name="Text 1"/>
          <p:cNvSpPr txBox="1"/>
          <p:nvPr/>
        </p:nvSpPr>
        <p:spPr>
          <a:xfrm>
            <a:off x="1143000" y="5707379"/>
            <a:ext cx="6671310" cy="347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40079">
              <a:lnSpc>
                <a:spcPct val="82000"/>
              </a:lnSpc>
              <a:defRPr sz="23100" spc="-133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12</a:t>
            </a:r>
          </a:p>
        </p:txBody>
      </p:sp>
      <p:sp>
        <p:nvSpPr>
          <p:cNvPr id="1988" name="Text 2"/>
          <p:cNvSpPr txBox="1"/>
          <p:nvPr/>
        </p:nvSpPr>
        <p:spPr>
          <a:xfrm>
            <a:off x="8381999" y="3549015"/>
            <a:ext cx="9025892" cy="758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04999"/>
              </a:lnSpc>
              <a:defRPr sz="4860" spc="-18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Спецификации</a:t>
            </a:r>
          </a:p>
        </p:txBody>
      </p:sp>
      <p:sp>
        <p:nvSpPr>
          <p:cNvPr id="1989" name="Text 3"/>
          <p:cNvSpPr txBox="1"/>
          <p:nvPr/>
        </p:nvSpPr>
        <p:spPr>
          <a:xfrm>
            <a:off x="8382000" y="4573904"/>
            <a:ext cx="6867525" cy="861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35000"/>
              </a:lnSpc>
              <a:defRPr sz="2256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lang="ru-RU" dirty="0"/>
              <a:t>Шесть</a:t>
            </a:r>
            <a:r>
              <a:rPr dirty="0"/>
              <a:t> </a:t>
            </a:r>
            <a:r>
              <a:rPr dirty="0" err="1"/>
              <a:t>страниц</a:t>
            </a:r>
            <a:r>
              <a:rPr dirty="0"/>
              <a:t> </a:t>
            </a:r>
            <a:r>
              <a:rPr dirty="0" err="1"/>
              <a:t>технических</a:t>
            </a:r>
            <a:r>
              <a:rPr dirty="0"/>
              <a:t> </a:t>
            </a:r>
            <a:r>
              <a:rPr dirty="0" err="1"/>
              <a:t>характеристик</a:t>
            </a:r>
            <a:r>
              <a:rPr dirty="0"/>
              <a:t> </a:t>
            </a:r>
            <a:r>
              <a:rPr dirty="0" err="1"/>
              <a:t>всех</a:t>
            </a:r>
            <a:r>
              <a:rPr dirty="0"/>
              <a:t> </a:t>
            </a:r>
            <a:r>
              <a:rPr dirty="0" err="1"/>
              <a:t>четырёх</a:t>
            </a:r>
            <a:r>
              <a:rPr dirty="0"/>
              <a:t> </a:t>
            </a:r>
            <a:r>
              <a:rPr dirty="0" err="1"/>
              <a:t>моделей</a:t>
            </a:r>
            <a:r>
              <a:rPr dirty="0"/>
              <a:t> и </a:t>
            </a:r>
            <a:r>
              <a:rPr dirty="0" err="1"/>
              <a:t>графики</a:t>
            </a:r>
            <a:r>
              <a:rPr dirty="0"/>
              <a:t> АЧХ.</a:t>
            </a:r>
          </a:p>
        </p:txBody>
      </p:sp>
      <p:sp>
        <p:nvSpPr>
          <p:cNvPr id="1990" name="Shape 4"/>
          <p:cNvSpPr/>
          <p:nvPr/>
        </p:nvSpPr>
        <p:spPr>
          <a:xfrm>
            <a:off x="8382000" y="566197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91" name="Text 5"/>
          <p:cNvSpPr txBox="1"/>
          <p:nvPr/>
        </p:nvSpPr>
        <p:spPr>
          <a:xfrm>
            <a:off x="8382000" y="5833745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090</a:t>
            </a:r>
          </a:p>
        </p:txBody>
      </p:sp>
      <p:sp>
        <p:nvSpPr>
          <p:cNvPr id="1992" name="Text 6"/>
          <p:cNvSpPr txBox="1"/>
          <p:nvPr/>
        </p:nvSpPr>
        <p:spPr>
          <a:xfrm>
            <a:off x="9239249" y="580644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Home</a:t>
            </a:r>
          </a:p>
        </p:txBody>
      </p:sp>
      <p:sp>
        <p:nvSpPr>
          <p:cNvPr id="1993" name="Shape 7"/>
          <p:cNvSpPr/>
          <p:nvPr/>
        </p:nvSpPr>
        <p:spPr>
          <a:xfrm>
            <a:off x="8382000" y="624046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94" name="Text 8"/>
          <p:cNvSpPr txBox="1"/>
          <p:nvPr/>
        </p:nvSpPr>
        <p:spPr>
          <a:xfrm>
            <a:off x="8382000" y="641222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091</a:t>
            </a:r>
          </a:p>
        </p:txBody>
      </p:sp>
      <p:sp>
        <p:nvSpPr>
          <p:cNvPr id="1995" name="Text 9"/>
          <p:cNvSpPr txBox="1"/>
          <p:nvPr/>
        </p:nvSpPr>
        <p:spPr>
          <a:xfrm>
            <a:off x="9239249" y="6384924"/>
            <a:ext cx="6180775" cy="340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Car</a:t>
            </a:r>
          </a:p>
        </p:txBody>
      </p:sp>
      <p:sp>
        <p:nvSpPr>
          <p:cNvPr id="1996" name="Shape 10"/>
          <p:cNvSpPr/>
          <p:nvPr/>
        </p:nvSpPr>
        <p:spPr>
          <a:xfrm>
            <a:off x="8382000" y="681894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1997" name="Text 11"/>
          <p:cNvSpPr txBox="1"/>
          <p:nvPr/>
        </p:nvSpPr>
        <p:spPr>
          <a:xfrm>
            <a:off x="8382000" y="6990715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092</a:t>
            </a:r>
          </a:p>
        </p:txBody>
      </p:sp>
      <p:sp>
        <p:nvSpPr>
          <p:cNvPr id="1998" name="Text 12"/>
          <p:cNvSpPr txBox="1"/>
          <p:nvPr/>
        </p:nvSpPr>
        <p:spPr>
          <a:xfrm>
            <a:off x="9239249" y="6963409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PA</a:t>
            </a:r>
          </a:p>
        </p:txBody>
      </p:sp>
      <p:sp>
        <p:nvSpPr>
          <p:cNvPr id="1999" name="Shape 13"/>
          <p:cNvSpPr/>
          <p:nvPr/>
        </p:nvSpPr>
        <p:spPr>
          <a:xfrm>
            <a:off x="8382000" y="739743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00" name="Text 14"/>
          <p:cNvSpPr txBox="1"/>
          <p:nvPr/>
        </p:nvSpPr>
        <p:spPr>
          <a:xfrm>
            <a:off x="8382000" y="7569199"/>
            <a:ext cx="93345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093</a:t>
            </a:r>
          </a:p>
        </p:txBody>
      </p:sp>
      <p:sp>
        <p:nvSpPr>
          <p:cNvPr id="2001" name="Text 15"/>
          <p:cNvSpPr txBox="1"/>
          <p:nvPr/>
        </p:nvSpPr>
        <p:spPr>
          <a:xfrm>
            <a:off x="9239249" y="754189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Studio</a:t>
            </a:r>
          </a:p>
        </p:txBody>
      </p:sp>
      <p:sp>
        <p:nvSpPr>
          <p:cNvPr id="2002" name="Shape 16"/>
          <p:cNvSpPr/>
          <p:nvPr/>
        </p:nvSpPr>
        <p:spPr>
          <a:xfrm>
            <a:off x="8382000" y="797591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03" name="Text 17"/>
          <p:cNvSpPr txBox="1"/>
          <p:nvPr/>
        </p:nvSpPr>
        <p:spPr>
          <a:xfrm>
            <a:off x="8382000" y="8147684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094</a:t>
            </a:r>
          </a:p>
        </p:txBody>
      </p:sp>
      <p:sp>
        <p:nvSpPr>
          <p:cNvPr id="2004" name="Text 18"/>
          <p:cNvSpPr txBox="1"/>
          <p:nvPr/>
        </p:nvSpPr>
        <p:spPr>
          <a:xfrm>
            <a:off x="9239249" y="812038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Размеры и вес</a:t>
            </a:r>
          </a:p>
        </p:txBody>
      </p:sp>
      <p:sp>
        <p:nvSpPr>
          <p:cNvPr id="2005" name="Shape 19"/>
          <p:cNvSpPr/>
          <p:nvPr/>
        </p:nvSpPr>
        <p:spPr>
          <a:xfrm>
            <a:off x="8382000" y="913288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06" name="Shape 20"/>
          <p:cNvSpPr/>
          <p:nvPr/>
        </p:nvSpPr>
        <p:spPr>
          <a:xfrm>
            <a:off x="8382000" y="855440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07" name="Text 21"/>
          <p:cNvSpPr txBox="1"/>
          <p:nvPr/>
        </p:nvSpPr>
        <p:spPr>
          <a:xfrm>
            <a:off x="8382000" y="872616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095</a:t>
            </a:r>
          </a:p>
        </p:txBody>
      </p:sp>
      <p:sp>
        <p:nvSpPr>
          <p:cNvPr id="2008" name="Text 22"/>
          <p:cNvSpPr txBox="1"/>
          <p:nvPr/>
        </p:nvSpPr>
        <p:spPr>
          <a:xfrm>
            <a:off x="9239249" y="8698865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Частотные характеристики</a:t>
            </a:r>
          </a:p>
        </p:txBody>
      </p:sp>
      <p:sp>
        <p:nvSpPr>
          <p:cNvPr id="2009" name="Text 23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089 / 100</a:t>
            </a:r>
          </a:p>
        </p:txBody>
      </p:sp>
      <p:sp>
        <p:nvSpPr>
          <p:cNvPr id="2010" name="Text 24"/>
          <p:cNvSpPr txBox="1"/>
          <p:nvPr/>
        </p:nvSpPr>
        <p:spPr>
          <a:xfrm>
            <a:off x="15222219" y="9672638"/>
            <a:ext cx="257048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§12 СПЕЦИФИКАЦИИ</a:t>
            </a:r>
          </a:p>
        </p:txBody>
      </p:sp>
    </p:spTree>
  </p:cSld>
  <p:clrMapOvr>
    <a:masterClrMapping/>
  </p:clrMapOvr>
  <p:transition spd="med"/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2" name="Text 0"/>
          <p:cNvSpPr txBox="1"/>
          <p:nvPr/>
        </p:nvSpPr>
        <p:spPr>
          <a:xfrm>
            <a:off x="571499" y="380999"/>
            <a:ext cx="363684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090 §12 СПЕЦИФИКАЦИИ</a:t>
            </a:r>
          </a:p>
        </p:txBody>
      </p:sp>
      <p:sp>
        <p:nvSpPr>
          <p:cNvPr id="2013" name="Text 1"/>
          <p:cNvSpPr txBox="1"/>
          <p:nvPr/>
        </p:nvSpPr>
        <p:spPr>
          <a:xfrm>
            <a:off x="17092930" y="380999"/>
            <a:ext cx="69977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13816">
              <a:defRPr sz="1602" spc="89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HOME</a:t>
            </a:r>
          </a:p>
        </p:txBody>
      </p:sp>
      <p:sp>
        <p:nvSpPr>
          <p:cNvPr id="2014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SUB-01 · HOME</a:t>
            </a:r>
          </a:p>
        </p:txBody>
      </p:sp>
      <p:sp>
        <p:nvSpPr>
          <p:cNvPr id="2015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Технические характеристики Home</a:t>
            </a:r>
          </a:p>
        </p:txBody>
      </p:sp>
      <p:sp>
        <p:nvSpPr>
          <p:cNvPr id="2016" name="Shape 4"/>
          <p:cNvSpPr/>
          <p:nvPr/>
        </p:nvSpPr>
        <p:spPr>
          <a:xfrm>
            <a:off x="1143000" y="272224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17" name="Text 5"/>
          <p:cNvSpPr txBox="1"/>
          <p:nvPr/>
        </p:nvSpPr>
        <p:spPr>
          <a:xfrm>
            <a:off x="1143000" y="2895282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ДРАЙВЕР</a:t>
            </a:r>
          </a:p>
        </p:txBody>
      </p:sp>
      <p:sp>
        <p:nvSpPr>
          <p:cNvPr id="2018" name="Text 6"/>
          <p:cNvSpPr txBox="1"/>
          <p:nvPr/>
        </p:nvSpPr>
        <p:spPr>
          <a:xfrm>
            <a:off x="4343399" y="2895282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300 мм, Al+ceramic</a:t>
            </a:r>
          </a:p>
        </p:txBody>
      </p:sp>
      <p:sp>
        <p:nvSpPr>
          <p:cNvPr id="2019" name="Shape 7"/>
          <p:cNvSpPr/>
          <p:nvPr/>
        </p:nvSpPr>
        <p:spPr>
          <a:xfrm>
            <a:off x="1143000" y="385492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20" name="Text 8"/>
          <p:cNvSpPr txBox="1"/>
          <p:nvPr/>
        </p:nvSpPr>
        <p:spPr>
          <a:xfrm>
            <a:off x="1143000" y="4027963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УСИЛИТЕЛЬ</a:t>
            </a:r>
          </a:p>
        </p:txBody>
      </p:sp>
      <p:sp>
        <p:nvSpPr>
          <p:cNvPr id="2021" name="Text 9"/>
          <p:cNvSpPr txBox="1"/>
          <p:nvPr/>
        </p:nvSpPr>
        <p:spPr>
          <a:xfrm>
            <a:off x="4343399" y="4027963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Class D, 500 Вт RMS</a:t>
            </a:r>
          </a:p>
        </p:txBody>
      </p:sp>
      <p:sp>
        <p:nvSpPr>
          <p:cNvPr id="2022" name="Shape 10"/>
          <p:cNvSpPr/>
          <p:nvPr/>
        </p:nvSpPr>
        <p:spPr>
          <a:xfrm>
            <a:off x="1143000" y="498760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23" name="Text 11"/>
          <p:cNvSpPr txBox="1"/>
          <p:nvPr/>
        </p:nvSpPr>
        <p:spPr>
          <a:xfrm>
            <a:off x="1143000" y="5160645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ДИАПАЗОН</a:t>
            </a:r>
          </a:p>
        </p:txBody>
      </p:sp>
      <p:sp>
        <p:nvSpPr>
          <p:cNvPr id="2024" name="Text 12"/>
          <p:cNvSpPr txBox="1"/>
          <p:nvPr/>
        </p:nvSpPr>
        <p:spPr>
          <a:xfrm>
            <a:off x="4343399" y="5160645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22—200 Гц ±3 дБ</a:t>
            </a:r>
          </a:p>
        </p:txBody>
      </p:sp>
      <p:sp>
        <p:nvSpPr>
          <p:cNvPr id="2025" name="Shape 13"/>
          <p:cNvSpPr/>
          <p:nvPr/>
        </p:nvSpPr>
        <p:spPr>
          <a:xfrm>
            <a:off x="1143000" y="612028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26" name="Text 14"/>
          <p:cNvSpPr txBox="1"/>
          <p:nvPr/>
        </p:nvSpPr>
        <p:spPr>
          <a:xfrm>
            <a:off x="1143000" y="6293325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КОРПУС</a:t>
            </a:r>
          </a:p>
        </p:txBody>
      </p:sp>
      <p:sp>
        <p:nvSpPr>
          <p:cNvPr id="2027" name="Text 15"/>
          <p:cNvSpPr txBox="1"/>
          <p:nvPr/>
        </p:nvSpPr>
        <p:spPr>
          <a:xfrm>
            <a:off x="4343399" y="6293325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Ported, MDF 22 мм</a:t>
            </a:r>
          </a:p>
        </p:txBody>
      </p:sp>
      <p:sp>
        <p:nvSpPr>
          <p:cNvPr id="2028" name="Shape 16"/>
          <p:cNvSpPr/>
          <p:nvPr/>
        </p:nvSpPr>
        <p:spPr>
          <a:xfrm>
            <a:off x="1143000" y="725296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29" name="Text 17"/>
          <p:cNvSpPr txBox="1"/>
          <p:nvPr/>
        </p:nvSpPr>
        <p:spPr>
          <a:xfrm>
            <a:off x="1143000" y="7426007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МАКС. SPL</a:t>
            </a:r>
          </a:p>
        </p:txBody>
      </p:sp>
      <p:sp>
        <p:nvSpPr>
          <p:cNvPr id="2030" name="Text 18"/>
          <p:cNvSpPr txBox="1"/>
          <p:nvPr/>
        </p:nvSpPr>
        <p:spPr>
          <a:xfrm>
            <a:off x="4343399" y="7426007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118 дБ @ 1 м</a:t>
            </a:r>
          </a:p>
        </p:txBody>
      </p:sp>
      <p:sp>
        <p:nvSpPr>
          <p:cNvPr id="2031" name="Shape 19"/>
          <p:cNvSpPr/>
          <p:nvPr/>
        </p:nvSpPr>
        <p:spPr>
          <a:xfrm>
            <a:off x="1143000" y="950912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32" name="Shape 20"/>
          <p:cNvSpPr/>
          <p:nvPr/>
        </p:nvSpPr>
        <p:spPr>
          <a:xfrm>
            <a:off x="1143000" y="838565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33" name="Text 21"/>
          <p:cNvSpPr txBox="1"/>
          <p:nvPr/>
        </p:nvSpPr>
        <p:spPr>
          <a:xfrm>
            <a:off x="1143000" y="8558689"/>
            <a:ext cx="3296412" cy="82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ВХОДЫ</a:t>
            </a:r>
          </a:p>
        </p:txBody>
      </p:sp>
      <p:sp>
        <p:nvSpPr>
          <p:cNvPr id="2034" name="Text 22"/>
          <p:cNvSpPr txBox="1"/>
          <p:nvPr/>
        </p:nvSpPr>
        <p:spPr>
          <a:xfrm>
            <a:off x="4343399" y="8558689"/>
            <a:ext cx="4552190" cy="82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RCA LFE · XLR · Link</a:t>
            </a:r>
          </a:p>
        </p:txBody>
      </p:sp>
      <p:sp>
        <p:nvSpPr>
          <p:cNvPr id="2035" name="Shape 23"/>
          <p:cNvSpPr/>
          <p:nvPr/>
        </p:nvSpPr>
        <p:spPr>
          <a:xfrm>
            <a:off x="9525000" y="272224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36" name="Text 24"/>
          <p:cNvSpPr txBox="1"/>
          <p:nvPr/>
        </p:nvSpPr>
        <p:spPr>
          <a:xfrm>
            <a:off x="9525000" y="2895282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КРОССОВЕР</a:t>
            </a:r>
          </a:p>
        </p:txBody>
      </p:sp>
      <p:sp>
        <p:nvSpPr>
          <p:cNvPr id="2037" name="Text 25"/>
          <p:cNvSpPr txBox="1"/>
          <p:nvPr/>
        </p:nvSpPr>
        <p:spPr>
          <a:xfrm>
            <a:off x="12725399" y="2895282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40—160 Гц, 12/24 дБ/окт</a:t>
            </a:r>
          </a:p>
        </p:txBody>
      </p:sp>
      <p:sp>
        <p:nvSpPr>
          <p:cNvPr id="2038" name="Shape 26"/>
          <p:cNvSpPr/>
          <p:nvPr/>
        </p:nvSpPr>
        <p:spPr>
          <a:xfrm>
            <a:off x="9525000" y="385492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39" name="Text 27"/>
          <p:cNvSpPr txBox="1"/>
          <p:nvPr/>
        </p:nvSpPr>
        <p:spPr>
          <a:xfrm>
            <a:off x="9525000" y="4027963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EQ</a:t>
            </a:r>
          </a:p>
        </p:txBody>
      </p:sp>
      <p:sp>
        <p:nvSpPr>
          <p:cNvPr id="2040" name="Text 28"/>
          <p:cNvSpPr txBox="1"/>
          <p:nvPr/>
        </p:nvSpPr>
        <p:spPr>
          <a:xfrm>
            <a:off x="12725399" y="4027963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10 × PEQ</a:t>
            </a:r>
          </a:p>
        </p:txBody>
      </p:sp>
      <p:sp>
        <p:nvSpPr>
          <p:cNvPr id="2041" name="Shape 29"/>
          <p:cNvSpPr/>
          <p:nvPr/>
        </p:nvSpPr>
        <p:spPr>
          <a:xfrm>
            <a:off x="9525000" y="498760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42" name="Text 30"/>
          <p:cNvSpPr txBox="1"/>
          <p:nvPr/>
        </p:nvSpPr>
        <p:spPr>
          <a:xfrm>
            <a:off x="9525000" y="5160645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ФАЗА</a:t>
            </a:r>
          </a:p>
        </p:txBody>
      </p:sp>
      <p:sp>
        <p:nvSpPr>
          <p:cNvPr id="2043" name="Text 31"/>
          <p:cNvSpPr txBox="1"/>
          <p:nvPr/>
        </p:nvSpPr>
        <p:spPr>
          <a:xfrm>
            <a:off x="12725399" y="5160645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0/180 или 0—180°</a:t>
            </a:r>
          </a:p>
        </p:txBody>
      </p:sp>
      <p:sp>
        <p:nvSpPr>
          <p:cNvPr id="2044" name="Shape 32"/>
          <p:cNvSpPr/>
          <p:nvPr/>
        </p:nvSpPr>
        <p:spPr>
          <a:xfrm>
            <a:off x="9525000" y="612028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45" name="Text 33"/>
          <p:cNvSpPr txBox="1"/>
          <p:nvPr/>
        </p:nvSpPr>
        <p:spPr>
          <a:xfrm>
            <a:off x="9525000" y="6293325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ПИТАНИЕ</a:t>
            </a:r>
          </a:p>
        </p:txBody>
      </p:sp>
      <p:sp>
        <p:nvSpPr>
          <p:cNvPr id="2046" name="Text 34"/>
          <p:cNvSpPr txBox="1"/>
          <p:nvPr/>
        </p:nvSpPr>
        <p:spPr>
          <a:xfrm>
            <a:off x="12725399" y="6293325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230 В AC, 50 Гц</a:t>
            </a:r>
          </a:p>
        </p:txBody>
      </p:sp>
      <p:sp>
        <p:nvSpPr>
          <p:cNvPr id="2047" name="Shape 35"/>
          <p:cNvSpPr/>
          <p:nvPr/>
        </p:nvSpPr>
        <p:spPr>
          <a:xfrm>
            <a:off x="9525000" y="725296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48" name="Text 36"/>
          <p:cNvSpPr txBox="1"/>
          <p:nvPr/>
        </p:nvSpPr>
        <p:spPr>
          <a:xfrm>
            <a:off x="9525000" y="7426007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ПОТРЕБЛЕНИЕ</a:t>
            </a:r>
          </a:p>
        </p:txBody>
      </p:sp>
      <p:sp>
        <p:nvSpPr>
          <p:cNvPr id="2049" name="Text 37"/>
          <p:cNvSpPr txBox="1"/>
          <p:nvPr/>
        </p:nvSpPr>
        <p:spPr>
          <a:xfrm>
            <a:off x="12725399" y="7426007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600 Вт макс.</a:t>
            </a:r>
          </a:p>
        </p:txBody>
      </p:sp>
      <p:sp>
        <p:nvSpPr>
          <p:cNvPr id="2050" name="Shape 38"/>
          <p:cNvSpPr/>
          <p:nvPr/>
        </p:nvSpPr>
        <p:spPr>
          <a:xfrm>
            <a:off x="9525000" y="950912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51" name="Shape 39"/>
          <p:cNvSpPr/>
          <p:nvPr/>
        </p:nvSpPr>
        <p:spPr>
          <a:xfrm>
            <a:off x="9525000" y="838565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52" name="Text 40"/>
          <p:cNvSpPr txBox="1"/>
          <p:nvPr/>
        </p:nvSpPr>
        <p:spPr>
          <a:xfrm>
            <a:off x="9525000" y="8558689"/>
            <a:ext cx="3296412" cy="82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ВЕС</a:t>
            </a:r>
          </a:p>
        </p:txBody>
      </p:sp>
      <p:sp>
        <p:nvSpPr>
          <p:cNvPr id="2053" name="Text 41"/>
          <p:cNvSpPr txBox="1"/>
          <p:nvPr/>
        </p:nvSpPr>
        <p:spPr>
          <a:xfrm>
            <a:off x="12725399" y="8558689"/>
            <a:ext cx="4552190" cy="82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22.4 кг</a:t>
            </a:r>
          </a:p>
        </p:txBody>
      </p:sp>
      <p:sp>
        <p:nvSpPr>
          <p:cNvPr id="2054" name="Text 42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090 / 100</a:t>
            </a:r>
          </a:p>
        </p:txBody>
      </p:sp>
      <p:sp>
        <p:nvSpPr>
          <p:cNvPr id="2055" name="Text 43"/>
          <p:cNvSpPr txBox="1"/>
          <p:nvPr/>
        </p:nvSpPr>
        <p:spPr>
          <a:xfrm>
            <a:off x="15222219" y="9672638"/>
            <a:ext cx="257048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§12 СПЕЦИФИКАЦИИ</a:t>
            </a:r>
          </a:p>
        </p:txBody>
      </p:sp>
    </p:spTree>
  </p:cSld>
  <p:clrMapOvr>
    <a:masterClrMapping/>
  </p:clrMapOvr>
  <p:transition spd="med"/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7" name="Text 0"/>
          <p:cNvSpPr txBox="1"/>
          <p:nvPr/>
        </p:nvSpPr>
        <p:spPr>
          <a:xfrm>
            <a:off x="571499" y="380999"/>
            <a:ext cx="363684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091 §12 СПЕЦИФИКАЦИИ</a:t>
            </a:r>
          </a:p>
        </p:txBody>
      </p:sp>
      <p:sp>
        <p:nvSpPr>
          <p:cNvPr id="2058" name="Text 1"/>
          <p:cNvSpPr txBox="1"/>
          <p:nvPr/>
        </p:nvSpPr>
        <p:spPr>
          <a:xfrm>
            <a:off x="17248823" y="380999"/>
            <a:ext cx="5438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CAR</a:t>
            </a:r>
          </a:p>
        </p:txBody>
      </p:sp>
      <p:sp>
        <p:nvSpPr>
          <p:cNvPr id="2059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SUB-01 · CAR</a:t>
            </a:r>
          </a:p>
        </p:txBody>
      </p:sp>
      <p:sp>
        <p:nvSpPr>
          <p:cNvPr id="2060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Технические характеристики Car</a:t>
            </a:r>
          </a:p>
        </p:txBody>
      </p:sp>
      <p:sp>
        <p:nvSpPr>
          <p:cNvPr id="2061" name="Shape 4"/>
          <p:cNvSpPr/>
          <p:nvPr/>
        </p:nvSpPr>
        <p:spPr>
          <a:xfrm>
            <a:off x="1143000" y="272224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62" name="Text 5"/>
          <p:cNvSpPr txBox="1"/>
          <p:nvPr/>
        </p:nvSpPr>
        <p:spPr>
          <a:xfrm>
            <a:off x="1143000" y="2895282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ДРАЙВЕР</a:t>
            </a:r>
          </a:p>
        </p:txBody>
      </p:sp>
      <p:sp>
        <p:nvSpPr>
          <p:cNvPr id="2063" name="Text 6"/>
          <p:cNvSpPr txBox="1"/>
          <p:nvPr/>
        </p:nvSpPr>
        <p:spPr>
          <a:xfrm>
            <a:off x="4343399" y="2895282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300 мм, dual voice coil</a:t>
            </a:r>
          </a:p>
        </p:txBody>
      </p:sp>
      <p:sp>
        <p:nvSpPr>
          <p:cNvPr id="2064" name="Shape 7"/>
          <p:cNvSpPr/>
          <p:nvPr/>
        </p:nvSpPr>
        <p:spPr>
          <a:xfrm>
            <a:off x="1143000" y="385492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65" name="Text 8"/>
          <p:cNvSpPr txBox="1"/>
          <p:nvPr/>
        </p:nvSpPr>
        <p:spPr>
          <a:xfrm>
            <a:off x="1143000" y="4027963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УСИЛИТЕЛЬ</a:t>
            </a:r>
          </a:p>
        </p:txBody>
      </p:sp>
      <p:sp>
        <p:nvSpPr>
          <p:cNvPr id="2066" name="Text 9"/>
          <p:cNvSpPr txBox="1"/>
          <p:nvPr/>
        </p:nvSpPr>
        <p:spPr>
          <a:xfrm>
            <a:off x="4343399" y="4027963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Class D, 800 Вт RMS</a:t>
            </a:r>
          </a:p>
        </p:txBody>
      </p:sp>
      <p:sp>
        <p:nvSpPr>
          <p:cNvPr id="2067" name="Shape 10"/>
          <p:cNvSpPr/>
          <p:nvPr/>
        </p:nvSpPr>
        <p:spPr>
          <a:xfrm>
            <a:off x="1143000" y="498760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68" name="Text 11"/>
          <p:cNvSpPr txBox="1"/>
          <p:nvPr/>
        </p:nvSpPr>
        <p:spPr>
          <a:xfrm>
            <a:off x="1143000" y="5160645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ДИАПАЗОН</a:t>
            </a:r>
          </a:p>
        </p:txBody>
      </p:sp>
      <p:sp>
        <p:nvSpPr>
          <p:cNvPr id="2069" name="Text 12"/>
          <p:cNvSpPr txBox="1"/>
          <p:nvPr/>
        </p:nvSpPr>
        <p:spPr>
          <a:xfrm>
            <a:off x="4343399" y="5160645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28—180 Гц</a:t>
            </a:r>
          </a:p>
        </p:txBody>
      </p:sp>
      <p:sp>
        <p:nvSpPr>
          <p:cNvPr id="2070" name="Shape 13"/>
          <p:cNvSpPr/>
          <p:nvPr/>
        </p:nvSpPr>
        <p:spPr>
          <a:xfrm>
            <a:off x="1143000" y="612028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71" name="Text 14"/>
          <p:cNvSpPr txBox="1"/>
          <p:nvPr/>
        </p:nvSpPr>
        <p:spPr>
          <a:xfrm>
            <a:off x="1143000" y="6293325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ИМПЕДАНС</a:t>
            </a:r>
          </a:p>
        </p:txBody>
      </p:sp>
      <p:sp>
        <p:nvSpPr>
          <p:cNvPr id="2072" name="Text 15"/>
          <p:cNvSpPr txBox="1"/>
          <p:nvPr/>
        </p:nvSpPr>
        <p:spPr>
          <a:xfrm>
            <a:off x="4343399" y="6293325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 × 4 Ом (DVC)</a:t>
            </a:r>
          </a:p>
        </p:txBody>
      </p:sp>
      <p:sp>
        <p:nvSpPr>
          <p:cNvPr id="2073" name="Shape 16"/>
          <p:cNvSpPr/>
          <p:nvPr/>
        </p:nvSpPr>
        <p:spPr>
          <a:xfrm>
            <a:off x="1143000" y="725296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74" name="Text 17"/>
          <p:cNvSpPr txBox="1"/>
          <p:nvPr/>
        </p:nvSpPr>
        <p:spPr>
          <a:xfrm>
            <a:off x="1143000" y="7426007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XMAX</a:t>
            </a:r>
          </a:p>
        </p:txBody>
      </p:sp>
      <p:sp>
        <p:nvSpPr>
          <p:cNvPr id="2075" name="Text 18"/>
          <p:cNvSpPr txBox="1"/>
          <p:nvPr/>
        </p:nvSpPr>
        <p:spPr>
          <a:xfrm>
            <a:off x="4343399" y="7426007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±22 мм</a:t>
            </a:r>
          </a:p>
        </p:txBody>
      </p:sp>
      <p:sp>
        <p:nvSpPr>
          <p:cNvPr id="2076" name="Shape 19"/>
          <p:cNvSpPr/>
          <p:nvPr/>
        </p:nvSpPr>
        <p:spPr>
          <a:xfrm>
            <a:off x="1143000" y="950912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77" name="Shape 20"/>
          <p:cNvSpPr/>
          <p:nvPr/>
        </p:nvSpPr>
        <p:spPr>
          <a:xfrm>
            <a:off x="1143000" y="838565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78" name="Text 21"/>
          <p:cNvSpPr txBox="1"/>
          <p:nvPr/>
        </p:nvSpPr>
        <p:spPr>
          <a:xfrm>
            <a:off x="1143000" y="8558689"/>
            <a:ext cx="3296412" cy="82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ЧУВСТВИТЕЛЬНОСТЬ</a:t>
            </a:r>
          </a:p>
        </p:txBody>
      </p:sp>
      <p:sp>
        <p:nvSpPr>
          <p:cNvPr id="2079" name="Text 22"/>
          <p:cNvSpPr txBox="1"/>
          <p:nvPr/>
        </p:nvSpPr>
        <p:spPr>
          <a:xfrm>
            <a:off x="4343399" y="8558689"/>
            <a:ext cx="4552190" cy="82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87 дБ</a:t>
            </a:r>
          </a:p>
        </p:txBody>
      </p:sp>
      <p:sp>
        <p:nvSpPr>
          <p:cNvPr id="2080" name="Shape 23"/>
          <p:cNvSpPr/>
          <p:nvPr/>
        </p:nvSpPr>
        <p:spPr>
          <a:xfrm>
            <a:off x="9525000" y="272224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81" name="Text 24"/>
          <p:cNvSpPr txBox="1"/>
          <p:nvPr/>
        </p:nvSpPr>
        <p:spPr>
          <a:xfrm>
            <a:off x="9525000" y="2895282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ПИТАНИЕ</a:t>
            </a:r>
          </a:p>
        </p:txBody>
      </p:sp>
      <p:sp>
        <p:nvSpPr>
          <p:cNvPr id="2082" name="Text 25"/>
          <p:cNvSpPr txBox="1"/>
          <p:nvPr/>
        </p:nvSpPr>
        <p:spPr>
          <a:xfrm>
            <a:off x="12725399" y="2895282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12 В DC, 60 А fuse</a:t>
            </a:r>
          </a:p>
        </p:txBody>
      </p:sp>
      <p:sp>
        <p:nvSpPr>
          <p:cNvPr id="2083" name="Shape 26"/>
          <p:cNvSpPr/>
          <p:nvPr/>
        </p:nvSpPr>
        <p:spPr>
          <a:xfrm>
            <a:off x="9525000" y="385492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84" name="Text 27"/>
          <p:cNvSpPr txBox="1"/>
          <p:nvPr/>
        </p:nvSpPr>
        <p:spPr>
          <a:xfrm>
            <a:off x="9525000" y="4027963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REMOTE IN</a:t>
            </a:r>
          </a:p>
        </p:txBody>
      </p:sp>
      <p:sp>
        <p:nvSpPr>
          <p:cNvPr id="2085" name="Text 28"/>
          <p:cNvSpPr txBox="1"/>
          <p:nvPr/>
        </p:nvSpPr>
        <p:spPr>
          <a:xfrm>
            <a:off x="12725399" y="4027963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+12 В, 10 мА</a:t>
            </a:r>
          </a:p>
        </p:txBody>
      </p:sp>
      <p:sp>
        <p:nvSpPr>
          <p:cNvPr id="2086" name="Shape 29"/>
          <p:cNvSpPr/>
          <p:nvPr/>
        </p:nvSpPr>
        <p:spPr>
          <a:xfrm>
            <a:off x="9525000" y="498760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87" name="Text 30"/>
          <p:cNvSpPr txBox="1"/>
          <p:nvPr/>
        </p:nvSpPr>
        <p:spPr>
          <a:xfrm>
            <a:off x="9525000" y="5160645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ЗАЩИТА</a:t>
            </a:r>
          </a:p>
        </p:txBody>
      </p:sp>
      <p:sp>
        <p:nvSpPr>
          <p:cNvPr id="2088" name="Text 31"/>
          <p:cNvSpPr txBox="1"/>
          <p:nvPr/>
        </p:nvSpPr>
        <p:spPr>
          <a:xfrm>
            <a:off x="12725399" y="5160645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DC · thermal · low-V</a:t>
            </a:r>
          </a:p>
        </p:txBody>
      </p:sp>
      <p:sp>
        <p:nvSpPr>
          <p:cNvPr id="2089" name="Shape 32"/>
          <p:cNvSpPr/>
          <p:nvPr/>
        </p:nvSpPr>
        <p:spPr>
          <a:xfrm>
            <a:off x="9525000" y="612028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90" name="Text 33"/>
          <p:cNvSpPr txBox="1"/>
          <p:nvPr/>
        </p:nvSpPr>
        <p:spPr>
          <a:xfrm>
            <a:off x="9525000" y="6293325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ГАБАРИТЫ</a:t>
            </a:r>
          </a:p>
        </p:txBody>
      </p:sp>
      <p:sp>
        <p:nvSpPr>
          <p:cNvPr id="2091" name="Text 34"/>
          <p:cNvSpPr txBox="1"/>
          <p:nvPr/>
        </p:nvSpPr>
        <p:spPr>
          <a:xfrm>
            <a:off x="12725399" y="6293325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410 × 410 × 230 мм</a:t>
            </a:r>
          </a:p>
        </p:txBody>
      </p:sp>
      <p:sp>
        <p:nvSpPr>
          <p:cNvPr id="2092" name="Shape 35"/>
          <p:cNvSpPr/>
          <p:nvPr/>
        </p:nvSpPr>
        <p:spPr>
          <a:xfrm>
            <a:off x="9525000" y="725296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93" name="Text 36"/>
          <p:cNvSpPr txBox="1"/>
          <p:nvPr/>
        </p:nvSpPr>
        <p:spPr>
          <a:xfrm>
            <a:off x="9525000" y="7426007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ВЕС</a:t>
            </a:r>
          </a:p>
        </p:txBody>
      </p:sp>
      <p:sp>
        <p:nvSpPr>
          <p:cNvPr id="2094" name="Text 37"/>
          <p:cNvSpPr txBox="1"/>
          <p:nvPr/>
        </p:nvSpPr>
        <p:spPr>
          <a:xfrm>
            <a:off x="12725399" y="7426007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14.8 кг</a:t>
            </a:r>
          </a:p>
        </p:txBody>
      </p:sp>
      <p:sp>
        <p:nvSpPr>
          <p:cNvPr id="2095" name="Shape 38"/>
          <p:cNvSpPr/>
          <p:nvPr/>
        </p:nvSpPr>
        <p:spPr>
          <a:xfrm>
            <a:off x="9525000" y="950912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96" name="Shape 39"/>
          <p:cNvSpPr/>
          <p:nvPr/>
        </p:nvSpPr>
        <p:spPr>
          <a:xfrm>
            <a:off x="9525000" y="838565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097" name="Text 40"/>
          <p:cNvSpPr txBox="1"/>
          <p:nvPr/>
        </p:nvSpPr>
        <p:spPr>
          <a:xfrm>
            <a:off x="9525000" y="8558689"/>
            <a:ext cx="3296412" cy="82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ВЕРСИЯ MARINE</a:t>
            </a:r>
          </a:p>
        </p:txBody>
      </p:sp>
      <p:sp>
        <p:nvSpPr>
          <p:cNvPr id="2098" name="Text 41"/>
          <p:cNvSpPr txBox="1"/>
          <p:nvPr/>
        </p:nvSpPr>
        <p:spPr>
          <a:xfrm>
            <a:off x="12725399" y="8558689"/>
            <a:ext cx="4552190" cy="82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IP65</a:t>
            </a:r>
          </a:p>
        </p:txBody>
      </p:sp>
      <p:sp>
        <p:nvSpPr>
          <p:cNvPr id="2099" name="Text 42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091 / 100</a:t>
            </a:r>
          </a:p>
        </p:txBody>
      </p:sp>
      <p:sp>
        <p:nvSpPr>
          <p:cNvPr id="2100" name="Text 43"/>
          <p:cNvSpPr txBox="1"/>
          <p:nvPr/>
        </p:nvSpPr>
        <p:spPr>
          <a:xfrm>
            <a:off x="15222219" y="9672638"/>
            <a:ext cx="257048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§12 СПЕЦИФИКАЦИИ</a:t>
            </a:r>
          </a:p>
        </p:txBody>
      </p:sp>
    </p:spTree>
  </p:cSld>
  <p:clrMapOvr>
    <a:masterClrMapping/>
  </p:clrMapOvr>
  <p:transition spd="med"/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2" name="Text 0"/>
          <p:cNvSpPr txBox="1"/>
          <p:nvPr/>
        </p:nvSpPr>
        <p:spPr>
          <a:xfrm>
            <a:off x="571499" y="380999"/>
            <a:ext cx="363684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092 §12 СПЕЦИФИКАЦИИ</a:t>
            </a:r>
          </a:p>
        </p:txBody>
      </p:sp>
      <p:sp>
        <p:nvSpPr>
          <p:cNvPr id="2103" name="Text 1"/>
          <p:cNvSpPr txBox="1"/>
          <p:nvPr/>
        </p:nvSpPr>
        <p:spPr>
          <a:xfrm>
            <a:off x="17404714" y="380999"/>
            <a:ext cx="387986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PA</a:t>
            </a:r>
          </a:p>
        </p:txBody>
      </p:sp>
      <p:sp>
        <p:nvSpPr>
          <p:cNvPr id="2104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SUB-01 · PA</a:t>
            </a:r>
          </a:p>
        </p:txBody>
      </p:sp>
      <p:sp>
        <p:nvSpPr>
          <p:cNvPr id="2105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Технические характеристики PA</a:t>
            </a:r>
          </a:p>
        </p:txBody>
      </p:sp>
      <p:sp>
        <p:nvSpPr>
          <p:cNvPr id="2106" name="Shape 4"/>
          <p:cNvSpPr/>
          <p:nvPr/>
        </p:nvSpPr>
        <p:spPr>
          <a:xfrm>
            <a:off x="1143000" y="272224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07" name="Text 5"/>
          <p:cNvSpPr txBox="1"/>
          <p:nvPr/>
        </p:nvSpPr>
        <p:spPr>
          <a:xfrm>
            <a:off x="1143000" y="2895282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ДРАЙВЕР</a:t>
            </a:r>
          </a:p>
        </p:txBody>
      </p:sp>
      <p:sp>
        <p:nvSpPr>
          <p:cNvPr id="2108" name="Text 6"/>
          <p:cNvSpPr txBox="1"/>
          <p:nvPr/>
        </p:nvSpPr>
        <p:spPr>
          <a:xfrm>
            <a:off x="4343399" y="2895282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460 мм, neodymium</a:t>
            </a:r>
          </a:p>
        </p:txBody>
      </p:sp>
      <p:sp>
        <p:nvSpPr>
          <p:cNvPr id="2109" name="Shape 7"/>
          <p:cNvSpPr/>
          <p:nvPr/>
        </p:nvSpPr>
        <p:spPr>
          <a:xfrm>
            <a:off x="1143000" y="385492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10" name="Text 8"/>
          <p:cNvSpPr txBox="1"/>
          <p:nvPr/>
        </p:nvSpPr>
        <p:spPr>
          <a:xfrm>
            <a:off x="1143000" y="4027963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УСИЛИТЕЛЬ</a:t>
            </a:r>
          </a:p>
        </p:txBody>
      </p:sp>
      <p:sp>
        <p:nvSpPr>
          <p:cNvPr id="2111" name="Text 9"/>
          <p:cNvSpPr txBox="1"/>
          <p:nvPr/>
        </p:nvSpPr>
        <p:spPr>
          <a:xfrm>
            <a:off x="4343399" y="4027963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Class D, 1 400 Вт RMS</a:t>
            </a:r>
          </a:p>
        </p:txBody>
      </p:sp>
      <p:sp>
        <p:nvSpPr>
          <p:cNvPr id="2112" name="Shape 10"/>
          <p:cNvSpPr/>
          <p:nvPr/>
        </p:nvSpPr>
        <p:spPr>
          <a:xfrm>
            <a:off x="1143000" y="498760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13" name="Text 11"/>
          <p:cNvSpPr txBox="1"/>
          <p:nvPr/>
        </p:nvSpPr>
        <p:spPr>
          <a:xfrm>
            <a:off x="1143000" y="5160645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ДИАПАЗОН</a:t>
            </a:r>
          </a:p>
        </p:txBody>
      </p:sp>
      <p:sp>
        <p:nvSpPr>
          <p:cNvPr id="2114" name="Text 12"/>
          <p:cNvSpPr txBox="1"/>
          <p:nvPr/>
        </p:nvSpPr>
        <p:spPr>
          <a:xfrm>
            <a:off x="4343399" y="5160645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35—150 Гц ±3 дБ</a:t>
            </a:r>
          </a:p>
        </p:txBody>
      </p:sp>
      <p:sp>
        <p:nvSpPr>
          <p:cNvPr id="2115" name="Shape 13"/>
          <p:cNvSpPr/>
          <p:nvPr/>
        </p:nvSpPr>
        <p:spPr>
          <a:xfrm>
            <a:off x="1143000" y="612028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16" name="Text 14"/>
          <p:cNvSpPr txBox="1"/>
          <p:nvPr/>
        </p:nvSpPr>
        <p:spPr>
          <a:xfrm>
            <a:off x="1143000" y="6293325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МАКС. SPL</a:t>
            </a:r>
          </a:p>
        </p:txBody>
      </p:sp>
      <p:sp>
        <p:nvSpPr>
          <p:cNvPr id="2117" name="Text 15"/>
          <p:cNvSpPr txBox="1"/>
          <p:nvPr/>
        </p:nvSpPr>
        <p:spPr>
          <a:xfrm>
            <a:off x="4343399" y="6293325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138 дБ пиковый</a:t>
            </a:r>
          </a:p>
        </p:txBody>
      </p:sp>
      <p:sp>
        <p:nvSpPr>
          <p:cNvPr id="2118" name="Shape 16"/>
          <p:cNvSpPr/>
          <p:nvPr/>
        </p:nvSpPr>
        <p:spPr>
          <a:xfrm>
            <a:off x="1143000" y="725296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19" name="Text 17"/>
          <p:cNvSpPr txBox="1"/>
          <p:nvPr/>
        </p:nvSpPr>
        <p:spPr>
          <a:xfrm>
            <a:off x="1143000" y="7426007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ЧУВСТВИТЕЛЬНОСТЬ</a:t>
            </a:r>
          </a:p>
        </p:txBody>
      </p:sp>
      <p:sp>
        <p:nvSpPr>
          <p:cNvPr id="2120" name="Text 18"/>
          <p:cNvSpPr txBox="1"/>
          <p:nvPr/>
        </p:nvSpPr>
        <p:spPr>
          <a:xfrm>
            <a:off x="4343399" y="7426007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99 дБ @ 1 Вт/1 м</a:t>
            </a:r>
          </a:p>
        </p:txBody>
      </p:sp>
      <p:sp>
        <p:nvSpPr>
          <p:cNvPr id="2121" name="Shape 19"/>
          <p:cNvSpPr/>
          <p:nvPr/>
        </p:nvSpPr>
        <p:spPr>
          <a:xfrm>
            <a:off x="1143000" y="950912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22" name="Shape 20"/>
          <p:cNvSpPr/>
          <p:nvPr/>
        </p:nvSpPr>
        <p:spPr>
          <a:xfrm>
            <a:off x="1143000" y="838565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23" name="Text 21"/>
          <p:cNvSpPr txBox="1"/>
          <p:nvPr/>
        </p:nvSpPr>
        <p:spPr>
          <a:xfrm>
            <a:off x="1143000" y="8558689"/>
            <a:ext cx="3296412" cy="82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КОРПУС</a:t>
            </a:r>
          </a:p>
        </p:txBody>
      </p:sp>
      <p:sp>
        <p:nvSpPr>
          <p:cNvPr id="2124" name="Text 22"/>
          <p:cNvSpPr txBox="1"/>
          <p:nvPr/>
        </p:nvSpPr>
        <p:spPr>
          <a:xfrm>
            <a:off x="4343399" y="8558689"/>
            <a:ext cx="4552190" cy="82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Берёза 18 мм, ported</a:t>
            </a:r>
          </a:p>
        </p:txBody>
      </p:sp>
      <p:sp>
        <p:nvSpPr>
          <p:cNvPr id="2125" name="Shape 23"/>
          <p:cNvSpPr/>
          <p:nvPr/>
        </p:nvSpPr>
        <p:spPr>
          <a:xfrm>
            <a:off x="9525000" y="272224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26" name="Text 24"/>
          <p:cNvSpPr txBox="1"/>
          <p:nvPr/>
        </p:nvSpPr>
        <p:spPr>
          <a:xfrm>
            <a:off x="9525000" y="2895282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ВХОДЫ</a:t>
            </a:r>
          </a:p>
        </p:txBody>
      </p:sp>
      <p:sp>
        <p:nvSpPr>
          <p:cNvPr id="2127" name="Text 25"/>
          <p:cNvSpPr txBox="1"/>
          <p:nvPr/>
        </p:nvSpPr>
        <p:spPr>
          <a:xfrm>
            <a:off x="12725399" y="2895282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XLR in/out, link</a:t>
            </a:r>
          </a:p>
        </p:txBody>
      </p:sp>
      <p:sp>
        <p:nvSpPr>
          <p:cNvPr id="2128" name="Shape 26"/>
          <p:cNvSpPr/>
          <p:nvPr/>
        </p:nvSpPr>
        <p:spPr>
          <a:xfrm>
            <a:off x="9525000" y="385492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29" name="Text 27"/>
          <p:cNvSpPr txBox="1"/>
          <p:nvPr/>
        </p:nvSpPr>
        <p:spPr>
          <a:xfrm>
            <a:off x="9525000" y="4027963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ПРЕСЕТЫ</a:t>
            </a:r>
          </a:p>
        </p:txBody>
      </p:sp>
      <p:sp>
        <p:nvSpPr>
          <p:cNvPr id="2130" name="Text 28"/>
          <p:cNvSpPr txBox="1"/>
          <p:nvPr/>
        </p:nvSpPr>
        <p:spPr>
          <a:xfrm>
            <a:off x="12725399" y="4027963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 × DSP preset</a:t>
            </a:r>
          </a:p>
        </p:txBody>
      </p:sp>
      <p:sp>
        <p:nvSpPr>
          <p:cNvPr id="2131" name="Shape 29"/>
          <p:cNvSpPr/>
          <p:nvPr/>
        </p:nvSpPr>
        <p:spPr>
          <a:xfrm>
            <a:off x="9525000" y="498760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32" name="Text 30"/>
          <p:cNvSpPr txBox="1"/>
          <p:nvPr/>
        </p:nvSpPr>
        <p:spPr>
          <a:xfrm>
            <a:off x="9525000" y="5160645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ПОДКЛЮЧЕНИЕ</a:t>
            </a:r>
          </a:p>
        </p:txBody>
      </p:sp>
      <p:sp>
        <p:nvSpPr>
          <p:cNvPr id="2133" name="Text 31"/>
          <p:cNvSpPr txBox="1"/>
          <p:nvPr/>
        </p:nvSpPr>
        <p:spPr>
          <a:xfrm>
            <a:off x="12725399" y="5160645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Stack / fly-point</a:t>
            </a:r>
          </a:p>
        </p:txBody>
      </p:sp>
      <p:sp>
        <p:nvSpPr>
          <p:cNvPr id="2134" name="Shape 32"/>
          <p:cNvSpPr/>
          <p:nvPr/>
        </p:nvSpPr>
        <p:spPr>
          <a:xfrm>
            <a:off x="9525000" y="612028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35" name="Text 33"/>
          <p:cNvSpPr txBox="1"/>
          <p:nvPr/>
        </p:nvSpPr>
        <p:spPr>
          <a:xfrm>
            <a:off x="9525000" y="6293325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РУЧКИ</a:t>
            </a:r>
          </a:p>
        </p:txBody>
      </p:sp>
      <p:sp>
        <p:nvSpPr>
          <p:cNvPr id="2136" name="Text 34"/>
          <p:cNvSpPr txBox="1"/>
          <p:nvPr/>
        </p:nvSpPr>
        <p:spPr>
          <a:xfrm>
            <a:off x="12725399" y="6293325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 алюминиевые</a:t>
            </a:r>
          </a:p>
        </p:txBody>
      </p:sp>
      <p:sp>
        <p:nvSpPr>
          <p:cNvPr id="2137" name="Shape 35"/>
          <p:cNvSpPr/>
          <p:nvPr/>
        </p:nvSpPr>
        <p:spPr>
          <a:xfrm>
            <a:off x="9525000" y="725296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38" name="Text 36"/>
          <p:cNvSpPr txBox="1"/>
          <p:nvPr/>
        </p:nvSpPr>
        <p:spPr>
          <a:xfrm>
            <a:off x="9525000" y="7426007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ГАБАРИТЫ</a:t>
            </a:r>
          </a:p>
        </p:txBody>
      </p:sp>
      <p:sp>
        <p:nvSpPr>
          <p:cNvPr id="2139" name="Text 37"/>
          <p:cNvSpPr txBox="1"/>
          <p:nvPr/>
        </p:nvSpPr>
        <p:spPr>
          <a:xfrm>
            <a:off x="12725399" y="7426007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620 × 620 × 720 мм</a:t>
            </a:r>
          </a:p>
        </p:txBody>
      </p:sp>
      <p:sp>
        <p:nvSpPr>
          <p:cNvPr id="2140" name="Shape 38"/>
          <p:cNvSpPr/>
          <p:nvPr/>
        </p:nvSpPr>
        <p:spPr>
          <a:xfrm>
            <a:off x="9525000" y="950912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41" name="Shape 39"/>
          <p:cNvSpPr/>
          <p:nvPr/>
        </p:nvSpPr>
        <p:spPr>
          <a:xfrm>
            <a:off x="9525000" y="838565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42" name="Text 40"/>
          <p:cNvSpPr txBox="1"/>
          <p:nvPr/>
        </p:nvSpPr>
        <p:spPr>
          <a:xfrm>
            <a:off x="9525000" y="8558689"/>
            <a:ext cx="3296412" cy="82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ВЕС</a:t>
            </a:r>
          </a:p>
        </p:txBody>
      </p:sp>
      <p:sp>
        <p:nvSpPr>
          <p:cNvPr id="2143" name="Text 41"/>
          <p:cNvSpPr txBox="1"/>
          <p:nvPr/>
        </p:nvSpPr>
        <p:spPr>
          <a:xfrm>
            <a:off x="12725399" y="8558689"/>
            <a:ext cx="4552190" cy="82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42.1 кг</a:t>
            </a:r>
          </a:p>
        </p:txBody>
      </p:sp>
      <p:sp>
        <p:nvSpPr>
          <p:cNvPr id="2144" name="Text 42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092 / 100</a:t>
            </a:r>
          </a:p>
        </p:txBody>
      </p:sp>
      <p:sp>
        <p:nvSpPr>
          <p:cNvPr id="2145" name="Text 43"/>
          <p:cNvSpPr txBox="1"/>
          <p:nvPr/>
        </p:nvSpPr>
        <p:spPr>
          <a:xfrm>
            <a:off x="15222219" y="9672638"/>
            <a:ext cx="257048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§12 СПЕЦИФИКАЦИИ</a:t>
            </a:r>
          </a:p>
        </p:txBody>
      </p:sp>
    </p:spTree>
  </p:cSld>
  <p:clrMapOvr>
    <a:masterClrMapping/>
  </p:clrMapOvr>
  <p:transition spd="med"/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7" name="Text 0"/>
          <p:cNvSpPr txBox="1"/>
          <p:nvPr/>
        </p:nvSpPr>
        <p:spPr>
          <a:xfrm>
            <a:off x="571499" y="380999"/>
            <a:ext cx="363684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093 §12 СПЕЦИФИКАЦИИ</a:t>
            </a:r>
          </a:p>
        </p:txBody>
      </p:sp>
      <p:sp>
        <p:nvSpPr>
          <p:cNvPr id="2148" name="Text 1"/>
          <p:cNvSpPr txBox="1"/>
          <p:nvPr/>
        </p:nvSpPr>
        <p:spPr>
          <a:xfrm>
            <a:off x="16781144" y="380999"/>
            <a:ext cx="1011556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STUDIO</a:t>
            </a:r>
          </a:p>
        </p:txBody>
      </p:sp>
      <p:sp>
        <p:nvSpPr>
          <p:cNvPr id="2149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SUB-01 · STUDIO</a:t>
            </a:r>
          </a:p>
        </p:txBody>
      </p:sp>
      <p:sp>
        <p:nvSpPr>
          <p:cNvPr id="2150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Технические характеристики Studio</a:t>
            </a:r>
          </a:p>
        </p:txBody>
      </p:sp>
      <p:sp>
        <p:nvSpPr>
          <p:cNvPr id="2151" name="Shape 4"/>
          <p:cNvSpPr/>
          <p:nvPr/>
        </p:nvSpPr>
        <p:spPr>
          <a:xfrm>
            <a:off x="1143000" y="272224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52" name="Text 5"/>
          <p:cNvSpPr txBox="1"/>
          <p:nvPr/>
        </p:nvSpPr>
        <p:spPr>
          <a:xfrm>
            <a:off x="1143000" y="2895282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ДРАЙВЕР</a:t>
            </a:r>
          </a:p>
        </p:txBody>
      </p:sp>
      <p:sp>
        <p:nvSpPr>
          <p:cNvPr id="2153" name="Text 6"/>
          <p:cNvSpPr txBox="1"/>
          <p:nvPr/>
        </p:nvSpPr>
        <p:spPr>
          <a:xfrm>
            <a:off x="4343399" y="2895282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250 мм, paper-pulp</a:t>
            </a:r>
          </a:p>
        </p:txBody>
      </p:sp>
      <p:sp>
        <p:nvSpPr>
          <p:cNvPr id="2154" name="Shape 7"/>
          <p:cNvSpPr/>
          <p:nvPr/>
        </p:nvSpPr>
        <p:spPr>
          <a:xfrm>
            <a:off x="1143000" y="385492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55" name="Text 8"/>
          <p:cNvSpPr txBox="1"/>
          <p:nvPr/>
        </p:nvSpPr>
        <p:spPr>
          <a:xfrm>
            <a:off x="1143000" y="4027963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УСИЛИТЕЛЬ</a:t>
            </a:r>
          </a:p>
        </p:txBody>
      </p:sp>
      <p:sp>
        <p:nvSpPr>
          <p:cNvPr id="2156" name="Text 9"/>
          <p:cNvSpPr txBox="1"/>
          <p:nvPr/>
        </p:nvSpPr>
        <p:spPr>
          <a:xfrm>
            <a:off x="4343399" y="4027963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Class D, 400 Вт RMS</a:t>
            </a:r>
          </a:p>
        </p:txBody>
      </p:sp>
      <p:sp>
        <p:nvSpPr>
          <p:cNvPr id="2157" name="Shape 10"/>
          <p:cNvSpPr/>
          <p:nvPr/>
        </p:nvSpPr>
        <p:spPr>
          <a:xfrm>
            <a:off x="1143000" y="498760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58" name="Text 11"/>
          <p:cNvSpPr txBox="1"/>
          <p:nvPr/>
        </p:nvSpPr>
        <p:spPr>
          <a:xfrm>
            <a:off x="1143000" y="5160645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ДИАПАЗОН</a:t>
            </a:r>
          </a:p>
        </p:txBody>
      </p:sp>
      <p:sp>
        <p:nvSpPr>
          <p:cNvPr id="2159" name="Text 12"/>
          <p:cNvSpPr txBox="1"/>
          <p:nvPr/>
        </p:nvSpPr>
        <p:spPr>
          <a:xfrm>
            <a:off x="4343399" y="5160645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18—160 Гц ±1.5 дБ</a:t>
            </a:r>
          </a:p>
        </p:txBody>
      </p:sp>
      <p:sp>
        <p:nvSpPr>
          <p:cNvPr id="2160" name="Shape 13"/>
          <p:cNvSpPr/>
          <p:nvPr/>
        </p:nvSpPr>
        <p:spPr>
          <a:xfrm>
            <a:off x="1143000" y="612028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61" name="Text 14"/>
          <p:cNvSpPr txBox="1"/>
          <p:nvPr/>
        </p:nvSpPr>
        <p:spPr>
          <a:xfrm>
            <a:off x="1143000" y="6293325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КОРПУС</a:t>
            </a:r>
          </a:p>
        </p:txBody>
      </p:sp>
      <p:sp>
        <p:nvSpPr>
          <p:cNvPr id="2162" name="Text 15"/>
          <p:cNvSpPr txBox="1"/>
          <p:nvPr/>
        </p:nvSpPr>
        <p:spPr>
          <a:xfrm>
            <a:off x="4343399" y="6293325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Sealed, MDF 25 мм</a:t>
            </a:r>
          </a:p>
        </p:txBody>
      </p:sp>
      <p:sp>
        <p:nvSpPr>
          <p:cNvPr id="2163" name="Shape 16"/>
          <p:cNvSpPr/>
          <p:nvPr/>
        </p:nvSpPr>
        <p:spPr>
          <a:xfrm>
            <a:off x="1143000" y="725296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64" name="Text 17"/>
          <p:cNvSpPr txBox="1"/>
          <p:nvPr/>
        </p:nvSpPr>
        <p:spPr>
          <a:xfrm>
            <a:off x="1143000" y="7426007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ФАЗА</a:t>
            </a:r>
          </a:p>
        </p:txBody>
      </p:sp>
      <p:sp>
        <p:nvSpPr>
          <p:cNvPr id="2165" name="Text 18"/>
          <p:cNvSpPr txBox="1"/>
          <p:nvPr/>
        </p:nvSpPr>
        <p:spPr>
          <a:xfrm>
            <a:off x="4343399" y="7426007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Linearized, &lt; 30° @ ref</a:t>
            </a:r>
          </a:p>
        </p:txBody>
      </p:sp>
      <p:sp>
        <p:nvSpPr>
          <p:cNvPr id="2166" name="Shape 19"/>
          <p:cNvSpPr/>
          <p:nvPr/>
        </p:nvSpPr>
        <p:spPr>
          <a:xfrm>
            <a:off x="1143000" y="950912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67" name="Shape 20"/>
          <p:cNvSpPr/>
          <p:nvPr/>
        </p:nvSpPr>
        <p:spPr>
          <a:xfrm>
            <a:off x="1143000" y="838565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68" name="Text 21"/>
          <p:cNvSpPr txBox="1"/>
          <p:nvPr/>
        </p:nvSpPr>
        <p:spPr>
          <a:xfrm>
            <a:off x="1143000" y="8558689"/>
            <a:ext cx="3296412" cy="82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ЗАДЕРЖКА</a:t>
            </a:r>
          </a:p>
        </p:txBody>
      </p:sp>
      <p:sp>
        <p:nvSpPr>
          <p:cNvPr id="2169" name="Text 22"/>
          <p:cNvSpPr txBox="1"/>
          <p:nvPr/>
        </p:nvSpPr>
        <p:spPr>
          <a:xfrm>
            <a:off x="4343399" y="8558689"/>
            <a:ext cx="4552190" cy="82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0.4 мс</a:t>
            </a:r>
          </a:p>
        </p:txBody>
      </p:sp>
      <p:sp>
        <p:nvSpPr>
          <p:cNvPr id="2170" name="Shape 23"/>
          <p:cNvSpPr/>
          <p:nvPr/>
        </p:nvSpPr>
        <p:spPr>
          <a:xfrm>
            <a:off x="9525000" y="2722245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71" name="Text 24"/>
          <p:cNvSpPr txBox="1"/>
          <p:nvPr/>
        </p:nvSpPr>
        <p:spPr>
          <a:xfrm>
            <a:off x="9525000" y="2895282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ВХОДЫ</a:t>
            </a:r>
          </a:p>
        </p:txBody>
      </p:sp>
      <p:sp>
        <p:nvSpPr>
          <p:cNvPr id="2172" name="Text 25"/>
          <p:cNvSpPr txBox="1"/>
          <p:nvPr/>
        </p:nvSpPr>
        <p:spPr>
          <a:xfrm>
            <a:off x="12725399" y="2895282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XLR x2 · AES/EBU</a:t>
            </a:r>
          </a:p>
        </p:txBody>
      </p:sp>
      <p:sp>
        <p:nvSpPr>
          <p:cNvPr id="2173" name="Shape 26"/>
          <p:cNvSpPr/>
          <p:nvPr/>
        </p:nvSpPr>
        <p:spPr>
          <a:xfrm>
            <a:off x="9525000" y="3854926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74" name="Text 27"/>
          <p:cNvSpPr txBox="1"/>
          <p:nvPr/>
        </p:nvSpPr>
        <p:spPr>
          <a:xfrm>
            <a:off x="9525000" y="4027963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ВЫХОДЫ</a:t>
            </a:r>
          </a:p>
        </p:txBody>
      </p:sp>
      <p:sp>
        <p:nvSpPr>
          <p:cNvPr id="2175" name="Text 28"/>
          <p:cNvSpPr txBox="1"/>
          <p:nvPr/>
        </p:nvSpPr>
        <p:spPr>
          <a:xfrm>
            <a:off x="12725399" y="4027963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XLR thru + summed</a:t>
            </a:r>
          </a:p>
        </p:txBody>
      </p:sp>
      <p:sp>
        <p:nvSpPr>
          <p:cNvPr id="2176" name="Shape 29"/>
          <p:cNvSpPr/>
          <p:nvPr/>
        </p:nvSpPr>
        <p:spPr>
          <a:xfrm>
            <a:off x="9525000" y="4987607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77" name="Text 30"/>
          <p:cNvSpPr txBox="1"/>
          <p:nvPr/>
        </p:nvSpPr>
        <p:spPr>
          <a:xfrm>
            <a:off x="9525000" y="5160645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ПРЕСЕТЫ</a:t>
            </a:r>
          </a:p>
        </p:txBody>
      </p:sp>
      <p:sp>
        <p:nvSpPr>
          <p:cNvPr id="2178" name="Text 31"/>
          <p:cNvSpPr txBox="1"/>
          <p:nvPr/>
        </p:nvSpPr>
        <p:spPr>
          <a:xfrm>
            <a:off x="12725399" y="5160645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Flat · K-20 · K-14</a:t>
            </a:r>
          </a:p>
        </p:txBody>
      </p:sp>
      <p:sp>
        <p:nvSpPr>
          <p:cNvPr id="2179" name="Shape 32"/>
          <p:cNvSpPr/>
          <p:nvPr/>
        </p:nvSpPr>
        <p:spPr>
          <a:xfrm>
            <a:off x="9525000" y="6120288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80" name="Text 33"/>
          <p:cNvSpPr txBox="1"/>
          <p:nvPr/>
        </p:nvSpPr>
        <p:spPr>
          <a:xfrm>
            <a:off x="9525000" y="6293325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РЕЗЬБА</a:t>
            </a:r>
          </a:p>
        </p:txBody>
      </p:sp>
      <p:sp>
        <p:nvSpPr>
          <p:cNvPr id="2181" name="Text 34"/>
          <p:cNvSpPr txBox="1"/>
          <p:nvPr/>
        </p:nvSpPr>
        <p:spPr>
          <a:xfrm>
            <a:off x="12725399" y="6293325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M8, под подставку</a:t>
            </a:r>
          </a:p>
        </p:txBody>
      </p:sp>
      <p:sp>
        <p:nvSpPr>
          <p:cNvPr id="2182" name="Shape 35"/>
          <p:cNvSpPr/>
          <p:nvPr/>
        </p:nvSpPr>
        <p:spPr>
          <a:xfrm>
            <a:off x="9525000" y="7252969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83" name="Text 36"/>
          <p:cNvSpPr txBox="1"/>
          <p:nvPr/>
        </p:nvSpPr>
        <p:spPr>
          <a:xfrm>
            <a:off x="9525000" y="7426007"/>
            <a:ext cx="3296412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ГАБАРИТЫ</a:t>
            </a:r>
          </a:p>
        </p:txBody>
      </p:sp>
      <p:sp>
        <p:nvSpPr>
          <p:cNvPr id="2184" name="Text 37"/>
          <p:cNvSpPr txBox="1"/>
          <p:nvPr/>
        </p:nvSpPr>
        <p:spPr>
          <a:xfrm>
            <a:off x="12725399" y="7426007"/>
            <a:ext cx="4552190" cy="8278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400 × 400 × 420 мм</a:t>
            </a:r>
          </a:p>
        </p:txBody>
      </p:sp>
      <p:sp>
        <p:nvSpPr>
          <p:cNvPr id="2185" name="Shape 38"/>
          <p:cNvSpPr/>
          <p:nvPr/>
        </p:nvSpPr>
        <p:spPr>
          <a:xfrm>
            <a:off x="9525000" y="9509124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86" name="Shape 39"/>
          <p:cNvSpPr/>
          <p:nvPr/>
        </p:nvSpPr>
        <p:spPr>
          <a:xfrm>
            <a:off x="9525000" y="8385651"/>
            <a:ext cx="7620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87" name="Text 40"/>
          <p:cNvSpPr txBox="1"/>
          <p:nvPr/>
        </p:nvSpPr>
        <p:spPr>
          <a:xfrm>
            <a:off x="9525000" y="8558689"/>
            <a:ext cx="3296412" cy="82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ВЕС</a:t>
            </a:r>
          </a:p>
        </p:txBody>
      </p:sp>
      <p:sp>
        <p:nvSpPr>
          <p:cNvPr id="2188" name="Text 41"/>
          <p:cNvSpPr txBox="1"/>
          <p:nvPr/>
        </p:nvSpPr>
        <p:spPr>
          <a:xfrm>
            <a:off x="12725399" y="8558689"/>
            <a:ext cx="4552190" cy="8281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19.2 кг</a:t>
            </a:r>
          </a:p>
        </p:txBody>
      </p:sp>
      <p:sp>
        <p:nvSpPr>
          <p:cNvPr id="2189" name="Text 42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093 / 100</a:t>
            </a:r>
          </a:p>
        </p:txBody>
      </p:sp>
      <p:sp>
        <p:nvSpPr>
          <p:cNvPr id="2190" name="Text 43"/>
          <p:cNvSpPr txBox="1"/>
          <p:nvPr/>
        </p:nvSpPr>
        <p:spPr>
          <a:xfrm>
            <a:off x="15222219" y="9672638"/>
            <a:ext cx="257048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§12 СПЕЦИФИКАЦИИ</a:t>
            </a:r>
          </a:p>
        </p:txBody>
      </p:sp>
    </p:spTree>
  </p:cSld>
  <p:clrMapOvr>
    <a:masterClrMapping/>
  </p:clrMapOvr>
  <p:transition spd="med"/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2" name="Text 0"/>
          <p:cNvSpPr txBox="1"/>
          <p:nvPr/>
        </p:nvSpPr>
        <p:spPr>
          <a:xfrm>
            <a:off x="571499" y="380999"/>
            <a:ext cx="363684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094 §12 СПЕЦИФИКАЦИИ</a:t>
            </a:r>
          </a:p>
        </p:txBody>
      </p:sp>
      <p:sp>
        <p:nvSpPr>
          <p:cNvPr id="2193" name="Text 1"/>
          <p:cNvSpPr txBox="1"/>
          <p:nvPr/>
        </p:nvSpPr>
        <p:spPr>
          <a:xfrm>
            <a:off x="16469360" y="380999"/>
            <a:ext cx="132334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710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ГАБАРИТЫ</a:t>
            </a:r>
          </a:p>
        </p:txBody>
      </p:sp>
      <p:sp>
        <p:nvSpPr>
          <p:cNvPr id="2194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РАЗМЕРЫ И ВЕС</a:t>
            </a:r>
          </a:p>
        </p:txBody>
      </p:sp>
      <p:sp>
        <p:nvSpPr>
          <p:cNvPr id="2195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Размеры и вес всех моделей</a:t>
            </a:r>
          </a:p>
        </p:txBody>
      </p:sp>
      <p:sp>
        <p:nvSpPr>
          <p:cNvPr id="2196" name="Shape 4"/>
          <p:cNvSpPr/>
          <p:nvPr/>
        </p:nvSpPr>
        <p:spPr>
          <a:xfrm>
            <a:off x="1143000" y="2874645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197" name="Text 5"/>
          <p:cNvSpPr txBox="1"/>
          <p:nvPr/>
        </p:nvSpPr>
        <p:spPr>
          <a:xfrm>
            <a:off x="1142999" y="3047682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МОДЕЛЬ</a:t>
            </a:r>
          </a:p>
        </p:txBody>
      </p:sp>
      <p:sp>
        <p:nvSpPr>
          <p:cNvPr id="2198" name="Text 6"/>
          <p:cNvSpPr txBox="1"/>
          <p:nvPr/>
        </p:nvSpPr>
        <p:spPr>
          <a:xfrm>
            <a:off x="7863840" y="3047682"/>
            <a:ext cx="428533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Габариты (Ш×Г×В)</a:t>
            </a:r>
          </a:p>
        </p:txBody>
      </p:sp>
      <p:sp>
        <p:nvSpPr>
          <p:cNvPr id="2199" name="Text 7"/>
          <p:cNvSpPr txBox="1"/>
          <p:nvPr/>
        </p:nvSpPr>
        <p:spPr>
          <a:xfrm>
            <a:off x="12024359" y="3047682"/>
            <a:ext cx="157162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Вес</a:t>
            </a:r>
          </a:p>
        </p:txBody>
      </p:sp>
      <p:sp>
        <p:nvSpPr>
          <p:cNvPr id="2200" name="Text 8"/>
          <p:cNvSpPr txBox="1"/>
          <p:nvPr/>
        </p:nvSpPr>
        <p:spPr>
          <a:xfrm>
            <a:off x="13519785" y="3047682"/>
            <a:ext cx="3733973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Нагрузка на пол</a:t>
            </a:r>
          </a:p>
        </p:txBody>
      </p:sp>
      <p:sp>
        <p:nvSpPr>
          <p:cNvPr id="2201" name="Shape 9"/>
          <p:cNvSpPr/>
          <p:nvPr/>
        </p:nvSpPr>
        <p:spPr>
          <a:xfrm>
            <a:off x="1143000" y="3548856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02" name="Text 10"/>
          <p:cNvSpPr txBox="1"/>
          <p:nvPr/>
        </p:nvSpPr>
        <p:spPr>
          <a:xfrm>
            <a:off x="1142999" y="3721894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HOME</a:t>
            </a:r>
          </a:p>
        </p:txBody>
      </p:sp>
      <p:sp>
        <p:nvSpPr>
          <p:cNvPr id="2203" name="Text 11"/>
          <p:cNvSpPr txBox="1"/>
          <p:nvPr/>
        </p:nvSpPr>
        <p:spPr>
          <a:xfrm>
            <a:off x="7863840" y="3721894"/>
            <a:ext cx="428533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420 × 460 × 500 мм</a:t>
            </a:r>
          </a:p>
        </p:txBody>
      </p:sp>
      <p:sp>
        <p:nvSpPr>
          <p:cNvPr id="2204" name="Text 12"/>
          <p:cNvSpPr txBox="1"/>
          <p:nvPr/>
        </p:nvSpPr>
        <p:spPr>
          <a:xfrm>
            <a:off x="12024359" y="3721894"/>
            <a:ext cx="157162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22.4 кг</a:t>
            </a:r>
          </a:p>
        </p:txBody>
      </p:sp>
      <p:sp>
        <p:nvSpPr>
          <p:cNvPr id="2205" name="Text 13"/>
          <p:cNvSpPr txBox="1"/>
          <p:nvPr/>
        </p:nvSpPr>
        <p:spPr>
          <a:xfrm>
            <a:off x="13519785" y="3721894"/>
            <a:ext cx="3733973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115 Па</a:t>
            </a:r>
          </a:p>
        </p:txBody>
      </p:sp>
      <p:sp>
        <p:nvSpPr>
          <p:cNvPr id="2206" name="Shape 14"/>
          <p:cNvSpPr/>
          <p:nvPr/>
        </p:nvSpPr>
        <p:spPr>
          <a:xfrm>
            <a:off x="1143000" y="422306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07" name="Text 15"/>
          <p:cNvSpPr txBox="1"/>
          <p:nvPr/>
        </p:nvSpPr>
        <p:spPr>
          <a:xfrm>
            <a:off x="1142999" y="4396104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CAR</a:t>
            </a:r>
          </a:p>
        </p:txBody>
      </p:sp>
      <p:sp>
        <p:nvSpPr>
          <p:cNvPr id="2208" name="Text 16"/>
          <p:cNvSpPr txBox="1"/>
          <p:nvPr/>
        </p:nvSpPr>
        <p:spPr>
          <a:xfrm>
            <a:off x="7863840" y="4396104"/>
            <a:ext cx="428533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410 × 410 × 230 мм</a:t>
            </a:r>
          </a:p>
        </p:txBody>
      </p:sp>
      <p:sp>
        <p:nvSpPr>
          <p:cNvPr id="2209" name="Text 17"/>
          <p:cNvSpPr txBox="1"/>
          <p:nvPr/>
        </p:nvSpPr>
        <p:spPr>
          <a:xfrm>
            <a:off x="12024359" y="4396104"/>
            <a:ext cx="157162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14.8 кг</a:t>
            </a:r>
          </a:p>
        </p:txBody>
      </p:sp>
      <p:sp>
        <p:nvSpPr>
          <p:cNvPr id="2210" name="Text 18"/>
          <p:cNvSpPr txBox="1"/>
          <p:nvPr/>
        </p:nvSpPr>
        <p:spPr>
          <a:xfrm>
            <a:off x="13519785" y="4396104"/>
            <a:ext cx="3733973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n/a</a:t>
            </a:r>
          </a:p>
        </p:txBody>
      </p:sp>
      <p:sp>
        <p:nvSpPr>
          <p:cNvPr id="2211" name="Shape 19"/>
          <p:cNvSpPr/>
          <p:nvPr/>
        </p:nvSpPr>
        <p:spPr>
          <a:xfrm>
            <a:off x="1143000" y="4897278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12" name="Text 20"/>
          <p:cNvSpPr txBox="1"/>
          <p:nvPr/>
        </p:nvSpPr>
        <p:spPr>
          <a:xfrm>
            <a:off x="1142999" y="5070316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PA</a:t>
            </a:r>
          </a:p>
        </p:txBody>
      </p:sp>
      <p:sp>
        <p:nvSpPr>
          <p:cNvPr id="2213" name="Text 21"/>
          <p:cNvSpPr txBox="1"/>
          <p:nvPr/>
        </p:nvSpPr>
        <p:spPr>
          <a:xfrm>
            <a:off x="7863840" y="5070316"/>
            <a:ext cx="428533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620 × 620 × 720 мм</a:t>
            </a:r>
          </a:p>
        </p:txBody>
      </p:sp>
      <p:sp>
        <p:nvSpPr>
          <p:cNvPr id="2214" name="Text 22"/>
          <p:cNvSpPr txBox="1"/>
          <p:nvPr/>
        </p:nvSpPr>
        <p:spPr>
          <a:xfrm>
            <a:off x="12024359" y="5070316"/>
            <a:ext cx="157162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42.1 кг</a:t>
            </a:r>
          </a:p>
        </p:txBody>
      </p:sp>
      <p:sp>
        <p:nvSpPr>
          <p:cNvPr id="2215" name="Text 23"/>
          <p:cNvSpPr txBox="1"/>
          <p:nvPr/>
        </p:nvSpPr>
        <p:spPr>
          <a:xfrm>
            <a:off x="13519785" y="5070316"/>
            <a:ext cx="3733973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108 Па</a:t>
            </a:r>
          </a:p>
        </p:txBody>
      </p:sp>
      <p:sp>
        <p:nvSpPr>
          <p:cNvPr id="2216" name="Shape 24"/>
          <p:cNvSpPr/>
          <p:nvPr/>
        </p:nvSpPr>
        <p:spPr>
          <a:xfrm>
            <a:off x="1143000" y="6236175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17" name="Shape 25"/>
          <p:cNvSpPr/>
          <p:nvPr/>
        </p:nvSpPr>
        <p:spPr>
          <a:xfrm>
            <a:off x="1143000" y="5571489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18" name="Text 26"/>
          <p:cNvSpPr txBox="1"/>
          <p:nvPr/>
        </p:nvSpPr>
        <p:spPr>
          <a:xfrm>
            <a:off x="1142999" y="5744526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STUDIO</a:t>
            </a:r>
          </a:p>
        </p:txBody>
      </p:sp>
      <p:sp>
        <p:nvSpPr>
          <p:cNvPr id="2219" name="Text 27"/>
          <p:cNvSpPr txBox="1"/>
          <p:nvPr/>
        </p:nvSpPr>
        <p:spPr>
          <a:xfrm>
            <a:off x="7863840" y="5744526"/>
            <a:ext cx="428533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400 × 400 × 420 мм</a:t>
            </a:r>
          </a:p>
        </p:txBody>
      </p:sp>
      <p:sp>
        <p:nvSpPr>
          <p:cNvPr id="2220" name="Text 28"/>
          <p:cNvSpPr txBox="1"/>
          <p:nvPr/>
        </p:nvSpPr>
        <p:spPr>
          <a:xfrm>
            <a:off x="12024359" y="5744526"/>
            <a:ext cx="157162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19.2 кг</a:t>
            </a:r>
          </a:p>
        </p:txBody>
      </p:sp>
      <p:sp>
        <p:nvSpPr>
          <p:cNvPr id="2221" name="Text 29"/>
          <p:cNvSpPr txBox="1"/>
          <p:nvPr/>
        </p:nvSpPr>
        <p:spPr>
          <a:xfrm>
            <a:off x="13519785" y="5744526"/>
            <a:ext cx="3733973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120 Па</a:t>
            </a:r>
          </a:p>
        </p:txBody>
      </p:sp>
      <p:sp>
        <p:nvSpPr>
          <p:cNvPr id="2222" name="Text 30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094 / 100</a:t>
            </a:r>
          </a:p>
        </p:txBody>
      </p:sp>
      <p:sp>
        <p:nvSpPr>
          <p:cNvPr id="2223" name="Text 31"/>
          <p:cNvSpPr txBox="1"/>
          <p:nvPr/>
        </p:nvSpPr>
        <p:spPr>
          <a:xfrm>
            <a:off x="15222219" y="9672638"/>
            <a:ext cx="257048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§12 СПЕЦИФИКАЦИИ</a:t>
            </a:r>
          </a:p>
        </p:txBody>
      </p:sp>
    </p:spTree>
  </p:cSld>
  <p:clrMapOvr>
    <a:masterClrMapping/>
  </p:clrMapOvr>
  <p:transition spd="med"/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5" name="Text 0"/>
          <p:cNvSpPr txBox="1"/>
          <p:nvPr/>
        </p:nvSpPr>
        <p:spPr>
          <a:xfrm>
            <a:off x="571499" y="380999"/>
            <a:ext cx="3636847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095 §12 СПЕЦИФИКАЦИИ</a:t>
            </a:r>
          </a:p>
        </p:txBody>
      </p:sp>
      <p:sp>
        <p:nvSpPr>
          <p:cNvPr id="2226" name="Text 1"/>
          <p:cNvSpPr txBox="1"/>
          <p:nvPr/>
        </p:nvSpPr>
        <p:spPr>
          <a:xfrm>
            <a:off x="17248823" y="380999"/>
            <a:ext cx="54387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АЧХ</a:t>
            </a:r>
          </a:p>
        </p:txBody>
      </p:sp>
      <p:sp>
        <p:nvSpPr>
          <p:cNvPr id="2227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60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FREQUENCY RESPONSE</a:t>
            </a:r>
          </a:p>
        </p:txBody>
      </p:sp>
      <p:sp>
        <p:nvSpPr>
          <p:cNvPr id="2228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Частотные характеристики</a:t>
            </a:r>
          </a:p>
        </p:txBody>
      </p:sp>
      <p:sp>
        <p:nvSpPr>
          <p:cNvPr id="2229" name="Text 4"/>
          <p:cNvSpPr txBox="1"/>
          <p:nvPr/>
        </p:nvSpPr>
        <p:spPr>
          <a:xfrm>
            <a:off x="1142999" y="2871470"/>
            <a:ext cx="796633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HOME · STUDIO</a:t>
            </a:r>
          </a:p>
        </p:txBody>
      </p:sp>
      <p:sp>
        <p:nvSpPr>
          <p:cNvPr id="2230" name="Shape 5"/>
          <p:cNvSpPr/>
          <p:nvPr/>
        </p:nvSpPr>
        <p:spPr>
          <a:xfrm>
            <a:off x="1143000" y="3333432"/>
            <a:ext cx="7734300" cy="3867151"/>
          </a:xfrm>
          <a:prstGeom prst="rect">
            <a:avLst/>
          </a:prstGeom>
          <a:solidFill>
            <a:srgbClr val="141416"/>
          </a:solidFill>
          <a:ln>
            <a:solidFill>
              <a:srgbClr val="F4F2EE">
                <a:alpha val="18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231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5405" y="3439159"/>
            <a:ext cx="7329490" cy="3655696"/>
          </a:xfrm>
          <a:prstGeom prst="rect">
            <a:avLst/>
          </a:prstGeom>
          <a:ln w="12700">
            <a:miter lim="400000"/>
          </a:ln>
        </p:spPr>
      </p:pic>
      <p:sp>
        <p:nvSpPr>
          <p:cNvPr id="2232" name="Text 6"/>
          <p:cNvSpPr txBox="1"/>
          <p:nvPr/>
        </p:nvSpPr>
        <p:spPr>
          <a:xfrm>
            <a:off x="9410699" y="2871470"/>
            <a:ext cx="796633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PA · CAR</a:t>
            </a:r>
          </a:p>
        </p:txBody>
      </p:sp>
      <p:sp>
        <p:nvSpPr>
          <p:cNvPr id="2233" name="Shape 7"/>
          <p:cNvSpPr/>
          <p:nvPr/>
        </p:nvSpPr>
        <p:spPr>
          <a:xfrm>
            <a:off x="9410700" y="3333432"/>
            <a:ext cx="7734300" cy="3867151"/>
          </a:xfrm>
          <a:prstGeom prst="rect">
            <a:avLst/>
          </a:prstGeom>
          <a:solidFill>
            <a:srgbClr val="141416"/>
          </a:solidFill>
          <a:ln>
            <a:solidFill>
              <a:srgbClr val="F4F2EE">
                <a:alpha val="18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234" name="Image 1" descr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3106" y="3439159"/>
            <a:ext cx="7329489" cy="3655696"/>
          </a:xfrm>
          <a:prstGeom prst="rect">
            <a:avLst/>
          </a:prstGeom>
          <a:ln w="12700">
            <a:miter lim="400000"/>
          </a:ln>
        </p:spPr>
      </p:pic>
      <p:sp>
        <p:nvSpPr>
          <p:cNvPr id="2235" name="Text 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095 / 100</a:t>
            </a:r>
          </a:p>
        </p:txBody>
      </p:sp>
      <p:sp>
        <p:nvSpPr>
          <p:cNvPr id="2236" name="Text 9"/>
          <p:cNvSpPr txBox="1"/>
          <p:nvPr/>
        </p:nvSpPr>
        <p:spPr>
          <a:xfrm>
            <a:off x="15222219" y="9672638"/>
            <a:ext cx="257048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77823">
              <a:defRPr sz="1727" spc="95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§12 СПЕЦИФИКАЦИИ</a:t>
            </a:r>
          </a:p>
        </p:txBody>
      </p:sp>
    </p:spTree>
  </p:cSld>
  <p:clrMapOvr>
    <a:masterClrMapping/>
  </p:clrMapOvr>
  <p:transition spd="med"/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8" name="Text 0"/>
          <p:cNvSpPr txBox="1"/>
          <p:nvPr/>
        </p:nvSpPr>
        <p:spPr>
          <a:xfrm>
            <a:off x="1143000" y="5169217"/>
            <a:ext cx="667131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РАЗДЕЛ 13</a:t>
            </a:r>
          </a:p>
        </p:txBody>
      </p:sp>
      <p:sp>
        <p:nvSpPr>
          <p:cNvPr id="2239" name="Text 1"/>
          <p:cNvSpPr txBox="1"/>
          <p:nvPr/>
        </p:nvSpPr>
        <p:spPr>
          <a:xfrm>
            <a:off x="1143000" y="5707379"/>
            <a:ext cx="6671310" cy="34747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640079">
              <a:lnSpc>
                <a:spcPct val="82000"/>
              </a:lnSpc>
              <a:defRPr sz="23100" spc="-133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13</a:t>
            </a:r>
          </a:p>
        </p:txBody>
      </p:sp>
      <p:sp>
        <p:nvSpPr>
          <p:cNvPr id="2240" name="Text 2"/>
          <p:cNvSpPr txBox="1"/>
          <p:nvPr/>
        </p:nvSpPr>
        <p:spPr>
          <a:xfrm>
            <a:off x="8381999" y="4705984"/>
            <a:ext cx="9025892" cy="758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22959">
              <a:lnSpc>
                <a:spcPct val="104999"/>
              </a:lnSpc>
              <a:defRPr sz="4860" spc="-18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Гарантия и поддержка</a:t>
            </a:r>
          </a:p>
        </p:txBody>
      </p:sp>
      <p:sp>
        <p:nvSpPr>
          <p:cNvPr id="2241" name="Text 3"/>
          <p:cNvSpPr txBox="1"/>
          <p:nvPr/>
        </p:nvSpPr>
        <p:spPr>
          <a:xfrm>
            <a:off x="8382000" y="5730874"/>
            <a:ext cx="6867525" cy="8610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59536">
              <a:lnSpc>
                <a:spcPct val="135000"/>
              </a:lnSpc>
              <a:defRPr sz="2256">
                <a:solidFill>
                  <a:srgbClr val="C7C4B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rPr lang="ru-RU" dirty="0"/>
              <a:t>Четыре</a:t>
            </a:r>
            <a:r>
              <a:rPr dirty="0"/>
              <a:t> </a:t>
            </a:r>
            <a:r>
              <a:rPr lang="ru-RU" dirty="0"/>
              <a:t>самых важных</a:t>
            </a:r>
            <a:r>
              <a:rPr dirty="0"/>
              <a:t> </a:t>
            </a:r>
            <a:r>
              <a:rPr dirty="0" err="1"/>
              <a:t>страниц</a:t>
            </a:r>
            <a:r>
              <a:rPr lang="ru-RU" dirty="0"/>
              <a:t>ы</a:t>
            </a:r>
            <a:r>
              <a:rPr dirty="0"/>
              <a:t>: </a:t>
            </a:r>
            <a:r>
              <a:rPr dirty="0" err="1"/>
              <a:t>регистрация</a:t>
            </a:r>
            <a:r>
              <a:rPr dirty="0"/>
              <a:t>, </a:t>
            </a:r>
            <a:r>
              <a:rPr dirty="0" err="1"/>
              <a:t>условия</a:t>
            </a:r>
            <a:r>
              <a:rPr dirty="0"/>
              <a:t> </a:t>
            </a:r>
            <a:r>
              <a:rPr dirty="0" err="1"/>
              <a:t>гарантии</a:t>
            </a:r>
            <a:r>
              <a:rPr dirty="0"/>
              <a:t>, </a:t>
            </a:r>
            <a:r>
              <a:rPr dirty="0" err="1"/>
              <a:t>контакты</a:t>
            </a:r>
            <a:r>
              <a:rPr dirty="0"/>
              <a:t> и </a:t>
            </a:r>
            <a:r>
              <a:rPr dirty="0" err="1"/>
              <a:t>напутствие</a:t>
            </a:r>
            <a:r>
              <a:rPr dirty="0"/>
              <a:t>.</a:t>
            </a:r>
          </a:p>
        </p:txBody>
      </p:sp>
      <p:sp>
        <p:nvSpPr>
          <p:cNvPr id="2242" name="Shape 4"/>
          <p:cNvSpPr/>
          <p:nvPr/>
        </p:nvSpPr>
        <p:spPr>
          <a:xfrm>
            <a:off x="8382000" y="681894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43" name="Text 5"/>
          <p:cNvSpPr txBox="1"/>
          <p:nvPr/>
        </p:nvSpPr>
        <p:spPr>
          <a:xfrm>
            <a:off x="8382000" y="6990715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097</a:t>
            </a:r>
          </a:p>
        </p:txBody>
      </p:sp>
      <p:sp>
        <p:nvSpPr>
          <p:cNvPr id="2244" name="Text 6"/>
          <p:cNvSpPr txBox="1"/>
          <p:nvPr/>
        </p:nvSpPr>
        <p:spPr>
          <a:xfrm>
            <a:off x="9239249" y="6963409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Регистрация в 30 дней</a:t>
            </a:r>
          </a:p>
        </p:txBody>
      </p:sp>
      <p:sp>
        <p:nvSpPr>
          <p:cNvPr id="2245" name="Shape 7"/>
          <p:cNvSpPr/>
          <p:nvPr/>
        </p:nvSpPr>
        <p:spPr>
          <a:xfrm>
            <a:off x="8382000" y="739743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46" name="Text 8"/>
          <p:cNvSpPr txBox="1"/>
          <p:nvPr/>
        </p:nvSpPr>
        <p:spPr>
          <a:xfrm>
            <a:off x="8382000" y="7569199"/>
            <a:ext cx="933450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098</a:t>
            </a:r>
          </a:p>
        </p:txBody>
      </p:sp>
      <p:sp>
        <p:nvSpPr>
          <p:cNvPr id="2247" name="Text 9"/>
          <p:cNvSpPr txBox="1"/>
          <p:nvPr/>
        </p:nvSpPr>
        <p:spPr>
          <a:xfrm>
            <a:off x="9239249" y="7541894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Условия 5-летней гарантии</a:t>
            </a:r>
          </a:p>
        </p:txBody>
      </p:sp>
      <p:sp>
        <p:nvSpPr>
          <p:cNvPr id="2248" name="Shape 10"/>
          <p:cNvSpPr/>
          <p:nvPr/>
        </p:nvSpPr>
        <p:spPr>
          <a:xfrm>
            <a:off x="8382000" y="797591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49" name="Text 11"/>
          <p:cNvSpPr txBox="1"/>
          <p:nvPr/>
        </p:nvSpPr>
        <p:spPr>
          <a:xfrm>
            <a:off x="8382000" y="8147684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099</a:t>
            </a:r>
          </a:p>
        </p:txBody>
      </p:sp>
      <p:sp>
        <p:nvSpPr>
          <p:cNvPr id="2250" name="Text 12"/>
          <p:cNvSpPr txBox="1"/>
          <p:nvPr/>
        </p:nvSpPr>
        <p:spPr>
          <a:xfrm>
            <a:off x="9239249" y="8120380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Служба поддержки</a:t>
            </a:r>
          </a:p>
        </p:txBody>
      </p:sp>
      <p:sp>
        <p:nvSpPr>
          <p:cNvPr id="2251" name="Shape 13"/>
          <p:cNvSpPr/>
          <p:nvPr/>
        </p:nvSpPr>
        <p:spPr>
          <a:xfrm>
            <a:off x="8382000" y="9132887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52" name="Shape 14"/>
          <p:cNvSpPr/>
          <p:nvPr/>
        </p:nvSpPr>
        <p:spPr>
          <a:xfrm>
            <a:off x="8382000" y="8554402"/>
            <a:ext cx="6858000" cy="12701"/>
          </a:xfrm>
          <a:prstGeom prst="rect">
            <a:avLst/>
          </a:prstGeom>
          <a:solidFill>
            <a:srgbClr val="F4F2EE">
              <a:alpha val="18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53" name="Text 15"/>
          <p:cNvSpPr txBox="1"/>
          <p:nvPr/>
        </p:nvSpPr>
        <p:spPr>
          <a:xfrm>
            <a:off x="8382000" y="8726169"/>
            <a:ext cx="933450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100</a:t>
            </a:r>
          </a:p>
        </p:txBody>
      </p:sp>
      <p:sp>
        <p:nvSpPr>
          <p:cNvPr id="2254" name="Text 16"/>
          <p:cNvSpPr txBox="1"/>
          <p:nvPr/>
        </p:nvSpPr>
        <p:spPr>
          <a:xfrm>
            <a:off x="9239249" y="8698865"/>
            <a:ext cx="6180775" cy="3403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1900" spc="-100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Финал</a:t>
            </a:r>
          </a:p>
        </p:txBody>
      </p:sp>
      <p:sp>
        <p:nvSpPr>
          <p:cNvPr id="2255" name="Text 17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096 / 100</a:t>
            </a:r>
          </a:p>
        </p:txBody>
      </p:sp>
      <p:sp>
        <p:nvSpPr>
          <p:cNvPr id="2256" name="Text 18"/>
          <p:cNvSpPr txBox="1"/>
          <p:nvPr/>
        </p:nvSpPr>
        <p:spPr>
          <a:xfrm>
            <a:off x="15845789" y="9672638"/>
            <a:ext cx="194691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F4F2EE">
                    <a:alpha val="4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§13 ГАРАНТИЯ</a:t>
            </a:r>
          </a:p>
        </p:txBody>
      </p:sp>
    </p:spTree>
  </p:cSld>
  <p:clrMapOvr>
    <a:masterClrMapping/>
  </p:clrMapOvr>
  <p:transition spd="med"/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8" name="Text 0"/>
          <p:cNvSpPr txBox="1"/>
          <p:nvPr/>
        </p:nvSpPr>
        <p:spPr>
          <a:xfrm>
            <a:off x="571500" y="380999"/>
            <a:ext cx="299456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097 §13 ГАРАНТИЯ</a:t>
            </a:r>
          </a:p>
        </p:txBody>
      </p:sp>
      <p:sp>
        <p:nvSpPr>
          <p:cNvPr id="2259" name="Text 1"/>
          <p:cNvSpPr txBox="1"/>
          <p:nvPr/>
        </p:nvSpPr>
        <p:spPr>
          <a:xfrm>
            <a:off x="16001683" y="380999"/>
            <a:ext cx="1791019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68680">
              <a:defRPr sz="1710" spc="95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РЕГИСТРАЦИЯ</a:t>
            </a:r>
          </a:p>
        </p:txBody>
      </p:sp>
      <p:sp>
        <p:nvSpPr>
          <p:cNvPr id="2260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ШАГ 01</a:t>
            </a:r>
          </a:p>
        </p:txBody>
      </p:sp>
      <p:sp>
        <p:nvSpPr>
          <p:cNvPr id="2261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Зарегистрируйте продукт в течение 30 дней</a:t>
            </a:r>
          </a:p>
        </p:txBody>
      </p:sp>
      <p:sp>
        <p:nvSpPr>
          <p:cNvPr id="2262" name="Text 4"/>
          <p:cNvSpPr txBox="1"/>
          <p:nvPr/>
        </p:nvSpPr>
        <p:spPr>
          <a:xfrm>
            <a:off x="1143000" y="6263321"/>
            <a:ext cx="7848600" cy="912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96111">
              <a:lnSpc>
                <a:spcPct val="135000"/>
              </a:lnSpc>
              <a:defRPr sz="2450" spc="-97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Регистрация даёт дополнительные 2 года гарантии поверх базовых трёх.</a:t>
            </a:r>
          </a:p>
        </p:txBody>
      </p:sp>
      <p:sp>
        <p:nvSpPr>
          <p:cNvPr id="2263" name="Text 5"/>
          <p:cNvSpPr txBox="1"/>
          <p:nvPr/>
        </p:nvSpPr>
        <p:spPr>
          <a:xfrm>
            <a:off x="981075" y="7366317"/>
            <a:ext cx="7858125" cy="175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marL="398621" indent="-398621" defTabSz="850391">
              <a:lnSpc>
                <a:spcPct val="150000"/>
              </a:lnSpc>
              <a:buSzPct val="100000"/>
              <a:buAutoNum type="arabicPeriod"/>
              <a:tabLst>
                <a:tab pos="381000" algn="l"/>
              </a:tabLst>
              <a:defRPr sz="2046" spc="-93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Зайдите на resona.audio/register</a:t>
            </a:r>
          </a:p>
          <a:p>
            <a:pPr marL="398621" indent="-398621" defTabSz="850391">
              <a:lnSpc>
                <a:spcPct val="150000"/>
              </a:lnSpc>
              <a:buSzPct val="100000"/>
              <a:buAutoNum type="arabicPeriod" startAt="2"/>
              <a:tabLst>
                <a:tab pos="381000" algn="l"/>
              </a:tabLst>
              <a:defRPr sz="2046" spc="-93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Введите серийный номер</a:t>
            </a:r>
          </a:p>
          <a:p>
            <a:pPr marL="398621" indent="-398621" defTabSz="850391">
              <a:lnSpc>
                <a:spcPct val="150000"/>
              </a:lnSpc>
              <a:buSzPct val="100000"/>
              <a:buAutoNum type="arabicPeriod" startAt="3"/>
              <a:tabLst>
                <a:tab pos="381000" algn="l"/>
              </a:tabLst>
              <a:defRPr sz="2046" spc="-93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Приложите чек покупки</a:t>
            </a:r>
          </a:p>
          <a:p>
            <a:pPr marL="398621" indent="-398621" defTabSz="850391">
              <a:lnSpc>
                <a:spcPct val="150000"/>
              </a:lnSpc>
              <a:buSzPct val="100000"/>
              <a:buAutoNum type="arabicPeriod" startAt="4"/>
              <a:tabLst>
                <a:tab pos="381000" algn="l"/>
              </a:tabLst>
              <a:defRPr sz="2046" spc="-93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Получите подтверждение на e-mail</a:t>
            </a:r>
          </a:p>
        </p:txBody>
      </p:sp>
      <p:sp>
        <p:nvSpPr>
          <p:cNvPr id="2264" name="Shape 6"/>
          <p:cNvSpPr/>
          <p:nvPr/>
        </p:nvSpPr>
        <p:spPr>
          <a:xfrm>
            <a:off x="9525000" y="2719070"/>
            <a:ext cx="7620000" cy="9906001"/>
          </a:xfrm>
          <a:prstGeom prst="rect">
            <a:avLst/>
          </a:prstGeom>
          <a:solidFill>
            <a:srgbClr val="E8E4DD"/>
          </a:solidFill>
          <a:ln>
            <a:solidFill>
              <a:srgbClr val="0B0B0C">
                <a:alpha val="14000"/>
              </a:srgbClr>
            </a:solidFill>
          </a:ln>
        </p:spPr>
        <p:txBody>
          <a:bodyPr lIns="45719" rIns="45719"/>
          <a:lstStyle/>
          <a:p>
            <a:endParaRPr/>
          </a:p>
        </p:txBody>
      </p:sp>
      <p:pic>
        <p:nvPicPr>
          <p:cNvPr id="2265" name="Image 0" descr="Image 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54715" y="4705984"/>
            <a:ext cx="4560571" cy="5932171"/>
          </a:xfrm>
          <a:prstGeom prst="rect">
            <a:avLst/>
          </a:prstGeom>
          <a:ln w="12700">
            <a:miter lim="400000"/>
          </a:ln>
        </p:spPr>
      </p:pic>
      <p:sp>
        <p:nvSpPr>
          <p:cNvPr id="2266" name="Text 7"/>
          <p:cNvSpPr txBox="1"/>
          <p:nvPr/>
        </p:nvSpPr>
        <p:spPr>
          <a:xfrm>
            <a:off x="9763124" y="2919095"/>
            <a:ext cx="2258697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SERIAL STICKER</a:t>
            </a:r>
          </a:p>
        </p:txBody>
      </p:sp>
      <p:sp>
        <p:nvSpPr>
          <p:cNvPr id="2267" name="Text 8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097 / 100</a:t>
            </a:r>
          </a:p>
        </p:txBody>
      </p:sp>
      <p:sp>
        <p:nvSpPr>
          <p:cNvPr id="2268" name="Text 9"/>
          <p:cNvSpPr txBox="1"/>
          <p:nvPr/>
        </p:nvSpPr>
        <p:spPr>
          <a:xfrm>
            <a:off x="15845789" y="9672638"/>
            <a:ext cx="194691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§13 ГАРАНТИЯ</a:t>
            </a:r>
          </a:p>
        </p:txBody>
      </p:sp>
    </p:spTree>
  </p:cSld>
  <p:clrMapOvr>
    <a:masterClrMapping/>
  </p:clrMapOvr>
  <p:transition spd="med"/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0" name="Text 0"/>
          <p:cNvSpPr txBox="1"/>
          <p:nvPr/>
        </p:nvSpPr>
        <p:spPr>
          <a:xfrm>
            <a:off x="571500" y="380999"/>
            <a:ext cx="299456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098 §13 ГАРАНТИЯ</a:t>
            </a:r>
          </a:p>
        </p:txBody>
      </p:sp>
      <p:sp>
        <p:nvSpPr>
          <p:cNvPr id="2271" name="Text 1"/>
          <p:cNvSpPr txBox="1"/>
          <p:nvPr/>
        </p:nvSpPr>
        <p:spPr>
          <a:xfrm>
            <a:off x="16625253" y="380999"/>
            <a:ext cx="116744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41247">
              <a:defRPr sz="1656" spc="91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УСЛОВИЯ</a:t>
            </a:r>
          </a:p>
        </p:txBody>
      </p:sp>
      <p:sp>
        <p:nvSpPr>
          <p:cNvPr id="2272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ПЯТЬ ЛЕТ</a:t>
            </a:r>
          </a:p>
        </p:txBody>
      </p:sp>
      <p:sp>
        <p:nvSpPr>
          <p:cNvPr id="2273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Условия 5-летней гарантии</a:t>
            </a:r>
          </a:p>
        </p:txBody>
      </p:sp>
      <p:sp>
        <p:nvSpPr>
          <p:cNvPr id="2274" name="Shape 4"/>
          <p:cNvSpPr/>
          <p:nvPr/>
        </p:nvSpPr>
        <p:spPr>
          <a:xfrm>
            <a:off x="1143000" y="2874645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75" name="Text 5"/>
          <p:cNvSpPr txBox="1"/>
          <p:nvPr/>
        </p:nvSpPr>
        <p:spPr>
          <a:xfrm>
            <a:off x="1142999" y="3047682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СРОК БАЗОВЫЙ</a:t>
            </a:r>
          </a:p>
        </p:txBody>
      </p:sp>
      <p:sp>
        <p:nvSpPr>
          <p:cNvPr id="2276" name="Text 6"/>
          <p:cNvSpPr txBox="1"/>
          <p:nvPr/>
        </p:nvSpPr>
        <p:spPr>
          <a:xfrm>
            <a:off x="7863840" y="3047682"/>
            <a:ext cx="955959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3 года</a:t>
            </a:r>
          </a:p>
        </p:txBody>
      </p:sp>
      <p:sp>
        <p:nvSpPr>
          <p:cNvPr id="2277" name="Shape 7"/>
          <p:cNvSpPr/>
          <p:nvPr/>
        </p:nvSpPr>
        <p:spPr>
          <a:xfrm>
            <a:off x="1143000" y="3548856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78" name="Text 8"/>
          <p:cNvSpPr txBox="1"/>
          <p:nvPr/>
        </p:nvSpPr>
        <p:spPr>
          <a:xfrm>
            <a:off x="1142999" y="3721894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С РЕГИСТРАЦИЕЙ</a:t>
            </a:r>
          </a:p>
        </p:txBody>
      </p:sp>
      <p:sp>
        <p:nvSpPr>
          <p:cNvPr id="2279" name="Text 9"/>
          <p:cNvSpPr txBox="1"/>
          <p:nvPr/>
        </p:nvSpPr>
        <p:spPr>
          <a:xfrm>
            <a:off x="7863840" y="3721894"/>
            <a:ext cx="955959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+2 года = 5 лет</a:t>
            </a:r>
          </a:p>
        </p:txBody>
      </p:sp>
      <p:sp>
        <p:nvSpPr>
          <p:cNvPr id="2280" name="Shape 10"/>
          <p:cNvSpPr/>
          <p:nvPr/>
        </p:nvSpPr>
        <p:spPr>
          <a:xfrm>
            <a:off x="1143000" y="422306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81" name="Text 11"/>
          <p:cNvSpPr txBox="1"/>
          <p:nvPr/>
        </p:nvSpPr>
        <p:spPr>
          <a:xfrm>
            <a:off x="1142999" y="4396104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ПОКРЫВАЕТСЯ</a:t>
            </a:r>
          </a:p>
        </p:txBody>
      </p:sp>
      <p:sp>
        <p:nvSpPr>
          <p:cNvPr id="2282" name="Text 12"/>
          <p:cNvSpPr txBox="1"/>
          <p:nvPr/>
        </p:nvSpPr>
        <p:spPr>
          <a:xfrm>
            <a:off x="7863840" y="4396104"/>
            <a:ext cx="955959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Заводские дефекты материалов и сборки</a:t>
            </a:r>
          </a:p>
        </p:txBody>
      </p:sp>
      <p:sp>
        <p:nvSpPr>
          <p:cNvPr id="2283" name="Shape 13"/>
          <p:cNvSpPr/>
          <p:nvPr/>
        </p:nvSpPr>
        <p:spPr>
          <a:xfrm>
            <a:off x="1143000" y="4897278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84" name="Text 14"/>
          <p:cNvSpPr txBox="1"/>
          <p:nvPr/>
        </p:nvSpPr>
        <p:spPr>
          <a:xfrm>
            <a:off x="1142999" y="5070316"/>
            <a:ext cx="6922467" cy="69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НЕ ПОКРЫВАЕТСЯ</a:t>
            </a:r>
          </a:p>
        </p:txBody>
      </p:sp>
      <p:sp>
        <p:nvSpPr>
          <p:cNvPr id="2285" name="Text 15"/>
          <p:cNvSpPr txBox="1"/>
          <p:nvPr/>
        </p:nvSpPr>
        <p:spPr>
          <a:xfrm>
            <a:off x="7863840" y="5070316"/>
            <a:ext cx="9559596" cy="6911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Механические повреждения, влага, перенапряжение, самостоятельный ремонт</a:t>
            </a:r>
          </a:p>
        </p:txBody>
      </p:sp>
      <p:sp>
        <p:nvSpPr>
          <p:cNvPr id="2286" name="Shape 16"/>
          <p:cNvSpPr/>
          <p:nvPr/>
        </p:nvSpPr>
        <p:spPr>
          <a:xfrm>
            <a:off x="1143000" y="5893275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87" name="Text 17"/>
          <p:cNvSpPr txBox="1"/>
          <p:nvPr/>
        </p:nvSpPr>
        <p:spPr>
          <a:xfrm>
            <a:off x="1142999" y="6066313"/>
            <a:ext cx="6922467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РЕМОНТ</a:t>
            </a:r>
          </a:p>
        </p:txBody>
      </p:sp>
      <p:sp>
        <p:nvSpPr>
          <p:cNvPr id="2288" name="Text 18"/>
          <p:cNvSpPr txBox="1"/>
          <p:nvPr/>
        </p:nvSpPr>
        <p:spPr>
          <a:xfrm>
            <a:off x="7863840" y="6066313"/>
            <a:ext cx="9559596" cy="3694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Бесплатный в авторизованных центрах</a:t>
            </a:r>
          </a:p>
        </p:txBody>
      </p:sp>
      <p:sp>
        <p:nvSpPr>
          <p:cNvPr id="2289" name="Shape 19"/>
          <p:cNvSpPr/>
          <p:nvPr/>
        </p:nvSpPr>
        <p:spPr>
          <a:xfrm>
            <a:off x="1143000" y="7232173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90" name="Shape 20"/>
          <p:cNvSpPr/>
          <p:nvPr/>
        </p:nvSpPr>
        <p:spPr>
          <a:xfrm>
            <a:off x="1143000" y="6567487"/>
            <a:ext cx="16002000" cy="12701"/>
          </a:xfrm>
          <a:prstGeom prst="rect">
            <a:avLst/>
          </a:prstGeom>
          <a:solidFill>
            <a:srgbClr val="0B0B0C">
              <a:alpha val="14000"/>
            </a:srgbClr>
          </a:solidFill>
          <a:ln w="12700">
            <a:miter lim="400000"/>
          </a:ln>
        </p:spPr>
        <p:txBody>
          <a:bodyPr lIns="45719" rIns="45719"/>
          <a:lstStyle/>
          <a:p>
            <a:endParaRPr/>
          </a:p>
        </p:txBody>
      </p:sp>
      <p:sp>
        <p:nvSpPr>
          <p:cNvPr id="2291" name="Text 21"/>
          <p:cNvSpPr txBox="1"/>
          <p:nvPr/>
        </p:nvSpPr>
        <p:spPr>
          <a:xfrm>
            <a:off x="1142999" y="6740524"/>
            <a:ext cx="6922467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defRPr spc="100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ЗАМЕНА</a:t>
            </a:r>
          </a:p>
        </p:txBody>
      </p:sp>
      <p:sp>
        <p:nvSpPr>
          <p:cNvPr id="2292" name="Text 22"/>
          <p:cNvSpPr txBox="1"/>
          <p:nvPr/>
        </p:nvSpPr>
        <p:spPr>
          <a:xfrm>
            <a:off x="7863840" y="6740524"/>
            <a:ext cx="9559596" cy="36941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>
              <a:defRPr sz="21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Если ремонт невозможен — новое устройство</a:t>
            </a:r>
          </a:p>
        </p:txBody>
      </p:sp>
      <p:sp>
        <p:nvSpPr>
          <p:cNvPr id="2293" name="Text 23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098 / 100</a:t>
            </a:r>
          </a:p>
        </p:txBody>
      </p:sp>
      <p:sp>
        <p:nvSpPr>
          <p:cNvPr id="2294" name="Text 24"/>
          <p:cNvSpPr txBox="1"/>
          <p:nvPr/>
        </p:nvSpPr>
        <p:spPr>
          <a:xfrm>
            <a:off x="15845789" y="9672638"/>
            <a:ext cx="194691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§13 ГАРАНТИЯ</a:t>
            </a:r>
          </a:p>
        </p:txBody>
      </p:sp>
    </p:spTree>
  </p:cSld>
  <p:clrMapOvr>
    <a:masterClrMapping/>
  </p:clrMapOvr>
  <p:transition spd="med"/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2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6" name="Text 0"/>
          <p:cNvSpPr txBox="1"/>
          <p:nvPr/>
        </p:nvSpPr>
        <p:spPr>
          <a:xfrm>
            <a:off x="571500" y="380999"/>
            <a:ext cx="2994568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099 §13 ГАРАНТИЯ</a:t>
            </a:r>
          </a:p>
        </p:txBody>
      </p:sp>
      <p:sp>
        <p:nvSpPr>
          <p:cNvPr id="2297" name="Text 1"/>
          <p:cNvSpPr txBox="1"/>
          <p:nvPr/>
        </p:nvSpPr>
        <p:spPr>
          <a:xfrm>
            <a:off x="16313466" y="380999"/>
            <a:ext cx="1479234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13816">
              <a:defRPr sz="1602" spc="89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ПОДДЕРЖКА</a:t>
            </a:r>
          </a:p>
        </p:txBody>
      </p:sp>
      <p:sp>
        <p:nvSpPr>
          <p:cNvPr id="2298" name="Text 2"/>
          <p:cNvSpPr txBox="1"/>
          <p:nvPr/>
        </p:nvSpPr>
        <p:spPr>
          <a:xfrm>
            <a:off x="1143000" y="952499"/>
            <a:ext cx="16482061" cy="3095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194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КОНТАКТЫ</a:t>
            </a:r>
          </a:p>
        </p:txBody>
      </p:sp>
      <p:sp>
        <p:nvSpPr>
          <p:cNvPr id="2299" name="Text 3"/>
          <p:cNvSpPr txBox="1"/>
          <p:nvPr/>
        </p:nvSpPr>
        <p:spPr>
          <a:xfrm>
            <a:off x="1143000" y="1490662"/>
            <a:ext cx="14716125" cy="73310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 defTabSz="886968">
              <a:lnSpc>
                <a:spcPct val="114010"/>
              </a:lnSpc>
              <a:defRPr sz="4656" spc="-97">
                <a:solidFill>
                  <a:srgbClr val="0B0B0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Свяжитесь со службой поддержки</a:t>
            </a:r>
          </a:p>
        </p:txBody>
      </p:sp>
      <p:sp>
        <p:nvSpPr>
          <p:cNvPr id="2300" name="Text 4"/>
          <p:cNvSpPr txBox="1"/>
          <p:nvPr/>
        </p:nvSpPr>
        <p:spPr>
          <a:xfrm>
            <a:off x="1142999" y="2795270"/>
            <a:ext cx="5127754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ONLINE</a:t>
            </a:r>
          </a:p>
        </p:txBody>
      </p:sp>
      <p:sp>
        <p:nvSpPr>
          <p:cNvPr id="2301" name="Text 5"/>
          <p:cNvSpPr txBox="1"/>
          <p:nvPr/>
        </p:nvSpPr>
        <p:spPr>
          <a:xfrm>
            <a:off x="1142999" y="3257232"/>
            <a:ext cx="5127754" cy="912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z="25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resona.audio/ support</a:t>
            </a:r>
          </a:p>
        </p:txBody>
      </p:sp>
      <p:sp>
        <p:nvSpPr>
          <p:cNvPr id="2302" name="Text 6"/>
          <p:cNvSpPr txBox="1"/>
          <p:nvPr/>
        </p:nvSpPr>
        <p:spPr>
          <a:xfrm>
            <a:off x="1142999" y="4322126"/>
            <a:ext cx="5127754" cy="398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2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Чат · 24/7</a:t>
            </a:r>
          </a:p>
        </p:txBody>
      </p:sp>
      <p:sp>
        <p:nvSpPr>
          <p:cNvPr id="2303" name="Text 7"/>
          <p:cNvSpPr txBox="1"/>
          <p:nvPr/>
        </p:nvSpPr>
        <p:spPr>
          <a:xfrm>
            <a:off x="6654799" y="2795270"/>
            <a:ext cx="5127754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E-MAIL</a:t>
            </a:r>
          </a:p>
        </p:txBody>
      </p:sp>
      <p:sp>
        <p:nvSpPr>
          <p:cNvPr id="2304" name="Text 8"/>
          <p:cNvSpPr txBox="1"/>
          <p:nvPr/>
        </p:nvSpPr>
        <p:spPr>
          <a:xfrm>
            <a:off x="6654799" y="3257232"/>
            <a:ext cx="5127754" cy="912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z="25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help@ resona.audio</a:t>
            </a:r>
          </a:p>
        </p:txBody>
      </p:sp>
      <p:sp>
        <p:nvSpPr>
          <p:cNvPr id="2305" name="Text 9"/>
          <p:cNvSpPr txBox="1"/>
          <p:nvPr/>
        </p:nvSpPr>
        <p:spPr>
          <a:xfrm>
            <a:off x="6654799" y="4322126"/>
            <a:ext cx="5127754" cy="398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2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Ответ в течение 24 ч</a:t>
            </a:r>
          </a:p>
        </p:txBody>
      </p:sp>
      <p:sp>
        <p:nvSpPr>
          <p:cNvPr id="2306" name="Text 10"/>
          <p:cNvSpPr txBox="1"/>
          <p:nvPr/>
        </p:nvSpPr>
        <p:spPr>
          <a:xfrm>
            <a:off x="12166599" y="2795270"/>
            <a:ext cx="5127754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ТЕЛЕФОН</a:t>
            </a:r>
          </a:p>
        </p:txBody>
      </p:sp>
      <p:sp>
        <p:nvSpPr>
          <p:cNvPr id="2307" name="Text 11"/>
          <p:cNvSpPr txBox="1"/>
          <p:nvPr/>
        </p:nvSpPr>
        <p:spPr>
          <a:xfrm>
            <a:off x="12166599" y="3257232"/>
            <a:ext cx="5127754" cy="912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>
              <a:lnSpc>
                <a:spcPct val="135000"/>
              </a:lnSpc>
              <a:defRPr sz="2500" spc="-100">
                <a:solidFill>
                  <a:srgbClr val="1F1F2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8 800 700 00 01</a:t>
            </a:r>
          </a:p>
        </p:txBody>
      </p:sp>
      <p:sp>
        <p:nvSpPr>
          <p:cNvPr id="2308" name="Text 12"/>
          <p:cNvSpPr txBox="1"/>
          <p:nvPr/>
        </p:nvSpPr>
        <p:spPr>
          <a:xfrm>
            <a:off x="12166599" y="4322126"/>
            <a:ext cx="5127754" cy="3981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fontScale="92500" lnSpcReduction="10000"/>
          </a:bodyPr>
          <a:lstStyle>
            <a:lvl1pPr>
              <a:lnSpc>
                <a:spcPct val="135000"/>
              </a:lnSpc>
              <a:defRPr sz="2100">
                <a:solidFill>
                  <a:srgbClr val="8A8A8C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Пн—Пт · 09:00—21:00</a:t>
            </a:r>
          </a:p>
        </p:txBody>
      </p:sp>
      <p:sp>
        <p:nvSpPr>
          <p:cNvPr id="2309" name="Text 13"/>
          <p:cNvSpPr txBox="1"/>
          <p:nvPr/>
        </p:nvSpPr>
        <p:spPr>
          <a:xfrm>
            <a:off x="571499" y="9672638"/>
            <a:ext cx="1479235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099 / 100</a:t>
            </a:r>
          </a:p>
        </p:txBody>
      </p:sp>
      <p:sp>
        <p:nvSpPr>
          <p:cNvPr id="2310" name="Text 14"/>
          <p:cNvSpPr txBox="1"/>
          <p:nvPr/>
        </p:nvSpPr>
        <p:spPr>
          <a:xfrm>
            <a:off x="15845789" y="9672638"/>
            <a:ext cx="1946911" cy="3095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>
            <a:lvl1pPr defTabSz="886968">
              <a:defRPr sz="1746" spc="97">
                <a:solidFill>
                  <a:srgbClr val="8A8A8C"/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§13 ГАРАНТИЯ</a:t>
            </a:r>
          </a:p>
        </p:txBody>
      </p:sp>
    </p:spTree>
  </p:cSld>
  <p:clrMapOvr>
    <a:masterClrMapping/>
  </p:clrMapOvr>
  <p:transition spd="med"/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2" name="Text 0"/>
          <p:cNvSpPr txBox="1"/>
          <p:nvPr/>
        </p:nvSpPr>
        <p:spPr>
          <a:xfrm>
            <a:off x="1333500" y="1339690"/>
            <a:ext cx="2234247" cy="3209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868680">
              <a:defRPr sz="1710" b="1" spc="475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r>
              <a:t>R E S O N A</a:t>
            </a:r>
          </a:p>
        </p:txBody>
      </p:sp>
      <p:sp>
        <p:nvSpPr>
          <p:cNvPr id="2313" name="Text 1"/>
          <p:cNvSpPr txBox="1"/>
          <p:nvPr/>
        </p:nvSpPr>
        <p:spPr>
          <a:xfrm>
            <a:off x="15047594" y="1333500"/>
            <a:ext cx="1983105" cy="346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defRPr sz="1881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SUB-01 · END</a:t>
            </a:r>
          </a:p>
        </p:txBody>
      </p:sp>
      <p:sp>
        <p:nvSpPr>
          <p:cNvPr id="2314" name="Text 2"/>
          <p:cNvSpPr txBox="1"/>
          <p:nvPr/>
        </p:nvSpPr>
        <p:spPr>
          <a:xfrm>
            <a:off x="1333499" y="3439795"/>
            <a:ext cx="16089632" cy="3460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defRPr sz="1881" spc="197">
                <a:solidFill>
                  <a:srgbClr val="F4F2EE">
                    <a:alpha val="60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rPr lang="ru-RU" dirty="0"/>
              <a:t>НАПУТСТВИЕ</a:t>
            </a:r>
            <a:endParaRPr dirty="0"/>
          </a:p>
        </p:txBody>
      </p:sp>
      <p:sp>
        <p:nvSpPr>
          <p:cNvPr id="2315" name="Text 3"/>
          <p:cNvSpPr txBox="1"/>
          <p:nvPr/>
        </p:nvSpPr>
        <p:spPr>
          <a:xfrm>
            <a:off x="1333499" y="4382770"/>
            <a:ext cx="16089632" cy="250253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 lnSpcReduction="10000"/>
          </a:bodyPr>
          <a:lstStyle/>
          <a:p>
            <a:pPr defTabSz="758951">
              <a:lnSpc>
                <a:spcPct val="98005"/>
              </a:lnSpc>
              <a:defRPr sz="8217" spc="-332">
                <a:solidFill>
                  <a:srgbClr val="F4F2EE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Наслаждайтесь басом, который вы </a:t>
            </a:r>
            <a:r>
              <a:rPr i="1"/>
              <a:t>чувствуете</a:t>
            </a:r>
            <a:r>
              <a:t>.</a:t>
            </a:r>
          </a:p>
        </p:txBody>
      </p:sp>
      <p:sp>
        <p:nvSpPr>
          <p:cNvPr id="2316" name="Text 4"/>
          <p:cNvSpPr txBox="1"/>
          <p:nvPr/>
        </p:nvSpPr>
        <p:spPr>
          <a:xfrm>
            <a:off x="1333499" y="8658225"/>
            <a:ext cx="1596392" cy="346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defRPr sz="1881" spc="98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100 / 100</a:t>
            </a:r>
          </a:p>
        </p:txBody>
      </p:sp>
      <p:sp>
        <p:nvSpPr>
          <p:cNvPr id="2317" name="Text 5"/>
          <p:cNvSpPr txBox="1"/>
          <p:nvPr/>
        </p:nvSpPr>
        <p:spPr>
          <a:xfrm>
            <a:off x="14927580" y="8658225"/>
            <a:ext cx="2103121" cy="3460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25400" tIns="25400" rIns="25400" bIns="25400">
            <a:normAutofit/>
          </a:bodyPr>
          <a:lstStyle>
            <a:lvl1pPr defTabSz="905255">
              <a:defRPr sz="1881" spc="98">
                <a:solidFill>
                  <a:srgbClr val="F4F2EE">
                    <a:alpha val="55000"/>
                  </a:srgbClr>
                </a:solidFill>
                <a:latin typeface="JetBrains Mono"/>
                <a:ea typeface="JetBrains Mono"/>
                <a:cs typeface="JetBrains Mono"/>
                <a:sym typeface="JetBrains Mono"/>
              </a:defRPr>
            </a:lvl1pPr>
          </a:lstStyle>
          <a:p>
            <a:r>
              <a:t>RESONA.AUDIO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5668</Words>
  <PresentationFormat>Произвольный</PresentationFormat>
  <Paragraphs>1651</Paragraphs>
  <Slides>100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100</vt:i4>
      </vt:variant>
    </vt:vector>
  </HeadingPairs>
  <TitlesOfParts>
    <vt:vector size="106" baseType="lpstr">
      <vt:lpstr>Arial</vt:lpstr>
      <vt:lpstr>Calibri</vt:lpstr>
      <vt:lpstr>Calibri Light</vt:lpstr>
      <vt:lpstr>Helvetica Neue</vt:lpstr>
      <vt:lpstr>JetBrains Mono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modified xsi:type="dcterms:W3CDTF">2026-04-24T19:00:46Z</dcterms:modified>
</cp:coreProperties>
</file>